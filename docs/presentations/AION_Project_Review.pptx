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20103998" cy="11309299"/>
  <p:notesSz cx="11309299" cy="2010399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325950c3-7378-88a6-7d50-01fae45de3de}">
          <p14:sldIdLst>
            <p14:sldId id="256"/>
          </p14:sldIdLst>
        </p14:section>
        <p14:section name="Introduction" id="{7e7ab72c-2067-0812-5e6d-97a683efcdb9}">
          <p14:sldIdLst>
            <p14:sldId id="257"/>
          </p14:sldIdLst>
        </p14:section>
        <p14:section name="Problem Statement" id="{0179c165-ecff-3921-ada0-daef8ed4190c}">
          <p14:sldIdLst>
            <p14:sldId id="258"/>
          </p14:sldIdLst>
        </p14:section>
        <p14:section name="Motivation" id="{0eddcc64-8298-b3da-d3cf-2a5a21c1e3d9}">
          <p14:sldIdLst>
            <p14:sldId id="259"/>
          </p14:sldIdLst>
        </p14:section>
        <p14:section name="Objectives" id="{227dbc62-fc3d-a89f-d318-ff483750e3cd}">
          <p14:sldIdLst>
            <p14:sldId id="260"/>
          </p14:sldIdLst>
        </p14:section>
        <p14:section name="Literature Review" id="{d6c9f901-f898-c10a-b4d2-b849a0a0684b}">
          <p14:sldIdLst>
            <p14:sldId id="261"/>
            <p14:sldId id="262"/>
            <p14:sldId id="263"/>
            <p14:sldId id="264"/>
          </p14:sldIdLst>
        </p14:section>
        <p14:section name="Feasibility and Scope" id="{03f1d621-fef5-d9a7-9f1f-c46e84420895}">
          <p14:sldIdLst>
            <p14:sldId id="265"/>
            <p14:sldId id="266"/>
          </p14:sldIdLst>
        </p14:section>
        <p14:section name="Requirement Analysis" id="{d7b58928-ea40-5f28-c6e4-dea33e69d9d1}">
          <p14:sldIdLst>
            <p14:sldId id="267"/>
            <p14:sldId id="268"/>
          </p14:sldIdLst>
        </p14:section>
        <p14:section name="Project Design" id="{f8824359-cb80-4bcf-1835-6aa04e805ee4}">
          <p14:sldIdLst>
            <p14:sldId id="269"/>
            <p14:sldId id="270"/>
            <p14:sldId id="271"/>
            <p14:sldId id="272"/>
            <p14:sldId id="273"/>
            <p14:sldId id="274"/>
          </p14:sldIdLst>
        </p14:section>
        <p14:section name="References" id="{aaf9ebf2-a28c-fc1b-fced-c4792d7536a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AION takes a production incident from detection to a validated, human-approved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project exists: incident resolution today is manual and spread across tools. AION connects the steps into one closed loop, with a human approving every production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what AION must do, how, and the safety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125 words. Read the paragraph, then point at the four pressures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one per stage of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references across four research areas. Numbers in brackets match the reference list at the end. The next three slides summarise 18 key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parsing and anomaly detection: these detect that something is wrong but stop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management and root-cause analysis: these diagnose, but do not produce validated code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program repair and LLM agents: they generate fixes, but on benchmarks and without a deployment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feasible on all four counts; the working prototype is the strongest evidence for technical feasibility.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first version covers, and what is deliberately left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is the team’s existing laptops, so the project spends nothing on hardware. Market values are shown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software is free and open source; the only spend is optional Claude API usage, estimated for development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loop: AI investigates and proposes; a human approves before anything reaches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formulas are the ones AION implements: spike detection on signatures, a weighted and explainable suspect score, and the deployment rule that requires validation and a matching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Actors: the engineer, the monitored production service, the LLM provider and the Git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persistent classes from AION’s data model (SQLAlchemy). Incident is the centre; every analysis artefact belongs to one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incident from the first error to the verified fix. Steps 1–8 are automatic; steps 9–12 need the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flow with the three decisions: is there a spike, did validation pass, does the engineer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in table form, numbered as cited in the literature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in table form, numbered as cited in the literature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in table form, numbered as cited in the literature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LLEGE_TITLE">
    <p:bg>
      <p:bgPr>
        <a:solidFill>
          <a:schemeClr val="bg1"/>
        </a:solidFill>
      </p:bgPr>
    </p:bg>
    <p:spTree>
      <p:nvGrpSpPr>
        <p:cNvPr id="1" name=""/>
        <p:cNvGrpSpPr/>
        <p:nvPr/>
      </p:nvGrpSpPr>
      <p:grpSpPr>
        <a:xfrm>
          <a:off x="0" y="0"/>
          <a:ext cx="0" cy="0"/>
          <a:chOff x="0" y="0"/>
          <a:chExt cx="0" cy="0"/>
        </a:xfrm>
      </p:grpSpPr>
      <p:pic>
        <p:nvPicPr>
          <p:cNvPr id="2" name="Image 0" descr="/root/aionppt/title_bg.png">    </p:cNvPr>
          <p:cNvPicPr>
            <a:picLocks noChangeAspect="1"/>
          </p:cNvPicPr>
          <p:nvPr/>
        </p:nvPicPr>
        <p:blipFill>
          <a:blip r:embed="rId1"/>
          <a:stretch>
            <a:fillRect/>
          </a:stretch>
        </p:blipFill>
        <p:spPr>
          <a:xfrm>
            <a:off x="0" y="0"/>
            <a:ext cx="20103998" cy="11309299"/>
          </a:xfrm>
          <a:prstGeom prst="rect">
            <a:avLst/>
          </a:prstGeom>
        </p:spPr>
      </p:pic>
      <p:pic>
        <p:nvPicPr>
          <p:cNvPr id="3" name="Image 1" descr="/root/aionppt/college_header.png">    </p:cNvPr>
          <p:cNvPicPr>
            <a:picLocks noChangeAspect="1"/>
          </p:cNvPicPr>
          <p:nvPr/>
        </p:nvPicPr>
        <p:blipFill>
          <a:blip r:embed="rId2"/>
          <a:stretch>
            <a:fillRect/>
          </a:stretch>
        </p:blipFill>
        <p:spPr>
          <a:xfrm>
            <a:off x="5175504" y="0"/>
            <a:ext cx="9756648" cy="2441448"/>
          </a:xfrm>
          <a:prstGeom prst="rect">
            <a:avLst/>
          </a:prstGeom>
        </p:spPr>
      </p:pic>
      <p:sp>
        <p:nvSpPr>
          <p:cNvPr id="4" name="Text 0"/>
          <p:cNvSpPr/>
          <p:nvPr/>
        </p:nvSpPr>
        <p:spPr>
          <a:xfrm>
            <a:off x="384048" y="274320"/>
            <a:ext cx="2743200" cy="640080"/>
          </a:xfrm>
          <a:prstGeom prst="rect">
            <a:avLst/>
          </a:prstGeom>
          <a:noFill/>
          <a:ln/>
        </p:spPr>
        <p:txBody>
          <a:bodyPr wrap="square" lIns="0" tIns="0" rIns="0" bIns="0" rtlCol="0" anchor="ctr"/>
          <a:lstStyle/>
          <a:p>
            <a:pPr indent="0" marL="0">
              <a:buNone/>
            </a:pPr>
            <a:r>
              <a:rPr lang="en-US" sz="3200" dirty="0">
                <a:solidFill>
                  <a:schemeClr val="tx2"/>
                </a:solidFill>
              </a:rPr>
              <a:t>AION</a:t>
            </a:r>
            <a:endParaRPr lang="en-US" sz="3200" dirty="0"/>
          </a:p>
        </p:txBody>
      </p:sp>
      <p:sp>
        <p:nvSpPr>
          <p:cNvPr id="5" name="Text 1"/>
          <p:cNvSpPr/>
          <p:nvPr>
            <p:ph idx="103" type="title" hasCustomPrompt="1"/>
          </p:nvPr>
        </p:nvSpPr>
        <p:spPr>
          <a:xfrm>
            <a:off x="1371600" y="4251960"/>
            <a:ext cx="17373600" cy="868680"/>
          </a:xfrm>
          <a:prstGeom prst="rect">
            <a:avLst/>
          </a:prstGeom>
          <a:noFill/>
          <a:ln/>
        </p:spPr>
        <p:txBody>
          <a:bodyPr wrap="square" rtlCol="0"/>
          <a:lstStyle>
            <a:lvl1pPr algn="ctr" indent="0" marL="0">
              <a:buNone/>
              <a:defRPr lang="en-US" sz="4000" dirty="0">
                <a:solidFill>
                  <a:schemeClr val="tx2"/>
                </a:solidFill>
              </a:defRPr>
            </a:lvl1pPr>
          </a:lstStyle>
          <a:p>
            <a:pPr algn="ctr"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LLEGE_CONTENT">
    <p:bg>
      <p:bgPr>
        <a:solidFill>
          <a:schemeClr val="bg1"/>
        </a:solidFill>
      </p:bgPr>
    </p:bg>
    <p:spTree>
      <p:nvGrpSpPr>
        <p:cNvPr id="1" name=""/>
        <p:cNvGrpSpPr/>
        <p:nvPr/>
      </p:nvGrpSpPr>
      <p:grpSpPr>
        <a:xfrm>
          <a:off x="0" y="0"/>
          <a:ext cx="0" cy="0"/>
          <a:chOff x="0" y="0"/>
          <a:chExt cx="0" cy="0"/>
        </a:xfrm>
      </p:grpSpPr>
      <p:pic>
        <p:nvPicPr>
          <p:cNvPr id="2" name="Image 0" descr="/root/aionppt/texture.jpg">    </p:cNvPr>
          <p:cNvPicPr>
            <a:picLocks noChangeAspect="1"/>
          </p:cNvPicPr>
          <p:nvPr/>
        </p:nvPicPr>
        <p:blipFill>
          <a:blip r:embed="rId1"/>
          <a:stretch>
            <a:fillRect/>
          </a:stretch>
        </p:blipFill>
        <p:spPr>
          <a:xfrm>
            <a:off x="210312" y="210312"/>
            <a:ext cx="19687032" cy="10890504"/>
          </a:xfrm>
          <a:prstGeom prst="rect">
            <a:avLst/>
          </a:prstGeom>
        </p:spPr>
      </p:pic>
      <p:sp>
        <p:nvSpPr>
          <p:cNvPr id="3" name="Text 0"/>
          <p:cNvSpPr/>
          <p:nvPr/>
        </p:nvSpPr>
        <p:spPr>
          <a:xfrm>
            <a:off x="384048" y="274320"/>
            <a:ext cx="2743200" cy="640080"/>
          </a:xfrm>
          <a:prstGeom prst="rect">
            <a:avLst/>
          </a:prstGeom>
          <a:noFill/>
          <a:ln/>
        </p:spPr>
        <p:txBody>
          <a:bodyPr wrap="square" lIns="0" tIns="0" rIns="0" bIns="0" rtlCol="0" anchor="ctr"/>
          <a:lstStyle/>
          <a:p>
            <a:pPr indent="0" marL="0">
              <a:buNone/>
            </a:pPr>
            <a:r>
              <a:rPr lang="en-US" sz="3200" dirty="0">
                <a:solidFill>
                  <a:schemeClr val="tx2"/>
                </a:solidFill>
              </a:rPr>
              <a:t>AION</a:t>
            </a:r>
            <a:endParaRPr lang="en-US" sz="3200" dirty="0"/>
          </a:p>
        </p:txBody>
      </p:sp>
      <p:sp>
        <p:nvSpPr>
          <p:cNvPr id="4" name="Text 1"/>
          <p:cNvSpPr/>
          <p:nvPr/>
        </p:nvSpPr>
        <p:spPr>
          <a:xfrm>
            <a:off x="420624" y="10625328"/>
            <a:ext cx="10972800" cy="384048"/>
          </a:xfrm>
          <a:prstGeom prst="rect">
            <a:avLst/>
          </a:prstGeom>
          <a:noFill/>
          <a:ln/>
        </p:spPr>
        <p:txBody>
          <a:bodyPr wrap="square" lIns="0" tIns="0" rIns="0" bIns="0" rtlCol="0" anchor="ctr"/>
          <a:lstStyle/>
          <a:p>
            <a:pPr indent="0" marL="0">
              <a:buNone/>
            </a:pPr>
            <a:r>
              <a:rPr lang="en-US" sz="1900" dirty="0">
                <a:solidFill>
                  <a:schemeClr val="tx1"/>
                </a:solidFill>
              </a:rPr>
              <a:t>Department of Computer Engineering | Ajeenkya DY Patil School of Engineering</a:t>
            </a:r>
            <a:endParaRPr lang="en-US" sz="1900" dirty="0"/>
          </a:p>
        </p:txBody>
      </p:sp>
      <p:sp>
        <p:nvSpPr>
          <p:cNvPr id="5" name="Text 2"/>
          <p:cNvSpPr/>
          <p:nvPr/>
        </p:nvSpPr>
        <p:spPr>
          <a:xfrm>
            <a:off x="13624560" y="10607040"/>
            <a:ext cx="4526280" cy="384048"/>
          </a:xfrm>
          <a:prstGeom prst="rect">
            <a:avLst/>
          </a:prstGeom>
          <a:noFill/>
          <a:ln/>
        </p:spPr>
        <p:txBody>
          <a:bodyPr wrap="square" lIns="0" tIns="0" rIns="0" bIns="0" rtlCol="0" anchor="ctr"/>
          <a:lstStyle/>
          <a:p>
            <a:pPr algn="r" indent="0" marL="0">
              <a:buNone/>
            </a:pPr>
            <a:r>
              <a:rPr lang="en-US" sz="1900" b="1" dirty="0">
                <a:solidFill>
                  <a:schemeClr val="tx1"/>
                </a:solidFill>
              </a:rPr>
              <a:t>Academic Year :</a:t>
            </a:r>
            <a:endParaRPr lang="en-US" sz="1900" dirty="0"/>
          </a:p>
        </p:txBody>
      </p:sp>
      <p:sp>
        <p:nvSpPr>
          <p:cNvPr id="6" name="Text 3"/>
          <p:cNvSpPr/>
          <p:nvPr/>
        </p:nvSpPr>
        <p:spPr>
          <a:xfrm>
            <a:off x="18269712" y="10607040"/>
            <a:ext cx="1463040" cy="384048"/>
          </a:xfrm>
          <a:prstGeom prst="rect">
            <a:avLst/>
          </a:prstGeom>
          <a:noFill/>
          <a:ln/>
        </p:spPr>
        <p:txBody>
          <a:bodyPr wrap="square" lIns="0" tIns="0" rIns="0" bIns="0" rtlCol="0" anchor="ctr"/>
          <a:lstStyle/>
          <a:p>
            <a:pPr indent="0" marL="0">
              <a:buNone/>
            </a:pPr>
            <a:r>
              <a:rPr lang="en-US" sz="1900" dirty="0">
                <a:solidFill>
                  <a:schemeClr val="tx1"/>
                </a:solidFill>
              </a:rPr>
              <a:t>2026-2027</a:t>
            </a:r>
            <a:endParaRPr lang="en-US" sz="1900" dirty="0"/>
          </a:p>
        </p:txBody>
      </p:sp>
      <p:sp>
        <p:nvSpPr>
          <p:cNvPr id="7" name="Text 4"/>
          <p:cNvSpPr/>
          <p:nvPr>
            <p:ph idx="105" type="title" hasCustomPrompt="1"/>
          </p:nvPr>
        </p:nvSpPr>
        <p:spPr>
          <a:xfrm>
            <a:off x="1371600" y="658368"/>
            <a:ext cx="17373600" cy="1280160"/>
          </a:xfrm>
          <a:prstGeom prst="rect">
            <a:avLst/>
          </a:prstGeom>
          <a:noFill/>
          <a:ln/>
        </p:spPr>
        <p:txBody>
          <a:bodyPr wrap="square" rtlCol="0"/>
          <a:lstStyle>
            <a:lvl1pPr algn="ctr" indent="0" marL="0">
              <a:buNone/>
              <a:defRPr lang="en-US" sz="6600" dirty="0">
                <a:solidFill>
                  <a:schemeClr val="tx2"/>
                </a:solidFill>
              </a:defRPr>
            </a:lvl1pPr>
          </a:lstStyle>
          <a:p>
            <a:pPr algn="ctr" indent="0" marL="0">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14264640" y="274320"/>
            <a:ext cx="5394960" cy="640080"/>
          </a:xfrm>
          <a:prstGeom prst="rect">
            <a:avLst/>
          </a:prstGeom>
          <a:noFill/>
          <a:ln/>
        </p:spPr>
        <p:txBody>
          <a:bodyPr wrap="square" lIns="0" tIns="0" rIns="0" bIns="0" rtlCol="0" anchor="ctr"/>
          <a:lstStyle/>
          <a:p>
            <a:pPr algn="r" indent="0" marL="0">
              <a:buNone/>
            </a:pPr>
            <a:r>
              <a:rPr lang="en-US" sz="2400" b="1" dirty="0">
                <a:solidFill>
                  <a:schemeClr val="tx1"/>
                </a:solidFill>
              </a:rPr>
              <a:t>Academic Year : </a:t>
            </a:r>
            <a:pPr algn="r" indent="0" marL="0">
              <a:buNone/>
            </a:pPr>
            <a:r>
              <a:rPr lang="en-US" sz="2400" dirty="0">
                <a:solidFill>
                  <a:schemeClr val="tx1"/>
                </a:solidFill>
              </a:rPr>
              <a:t>2026-2027</a:t>
            </a:r>
            <a:endParaRPr lang="en-US" sz="2400" dirty="0"/>
          </a:p>
        </p:txBody>
      </p:sp>
      <p:sp>
        <p:nvSpPr>
          <p:cNvPr id="4" name="Text 1"/>
          <p:cNvSpPr txBox="1"/>
          <p:nvPr/>
        </p:nvSpPr>
        <p:spPr>
          <a:xfrm>
            <a:off x="2743200" y="2788920"/>
            <a:ext cx="14630400" cy="685800"/>
          </a:xfrm>
          <a:prstGeom prst="rect">
            <a:avLst/>
          </a:prstGeom>
          <a:noFill/>
          <a:ln/>
        </p:spPr>
        <p:txBody>
          <a:bodyPr wrap="square" lIns="0" tIns="0" rIns="0" bIns="0" rtlCol="0" anchor="ctr"/>
          <a:lstStyle/>
          <a:p>
            <a:pPr algn="ctr" indent="0" marL="0">
              <a:buNone/>
            </a:pPr>
            <a:r>
              <a:rPr lang="en-US" sz="3200" b="1" dirty="0">
                <a:solidFill>
                  <a:schemeClr val="tx2"/>
                </a:solidFill>
              </a:rPr>
              <a:t>Department of Computer Engineering</a:t>
            </a:r>
            <a:endParaRPr lang="en-US" sz="3200" dirty="0"/>
          </a:p>
        </p:txBody>
      </p:sp>
      <p:sp>
        <p:nvSpPr>
          <p:cNvPr id="5" name="Text 2"/>
          <p:cNvSpPr txBox="1"/>
          <p:nvPr/>
        </p:nvSpPr>
        <p:spPr>
          <a:xfrm>
            <a:off x="2743200" y="3611880"/>
            <a:ext cx="14630400" cy="548640"/>
          </a:xfrm>
          <a:prstGeom prst="rect">
            <a:avLst/>
          </a:prstGeom>
          <a:noFill/>
          <a:ln/>
        </p:spPr>
        <p:txBody>
          <a:bodyPr wrap="square" lIns="0" tIns="0" rIns="0" bIns="0" rtlCol="0" anchor="ctr"/>
          <a:lstStyle/>
          <a:p>
            <a:pPr algn="ctr" indent="0" marL="0">
              <a:buNone/>
            </a:pPr>
            <a:r>
              <a:rPr lang="en-US" sz="2600" dirty="0">
                <a:solidFill>
                  <a:schemeClr val="accent3"/>
                </a:solidFill>
              </a:rPr>
              <a:t>A Project Review Presentation on</a:t>
            </a:r>
            <a:endParaRPr lang="en-US" sz="2600" dirty="0"/>
          </a:p>
        </p:txBody>
      </p:sp>
      <p:sp>
        <p:nvSpPr>
          <p:cNvPr id="6" name="Text 1"/>
          <p:cNvSpPr/>
          <p:nvPr>
            <p:ph idx="103" type="title" hasCustomPrompt="1"/>
          </p:nvPr>
        </p:nvSpPr>
        <p:spPr>
          <a:xfrm>
            <a:off x="1371600" y="4251960"/>
            <a:ext cx="17373600" cy="868680"/>
          </a:xfrm>
          <a:prstGeom prst="rect">
            <a:avLst/>
          </a:prstGeom>
          <a:noFill/>
          <a:ln/>
        </p:spPr>
        <p:txBody>
          <a:bodyPr wrap="square" lIns="0" tIns="0" rIns="0" bIns="0" rtlCol="0" anchor="ctr"/>
          <a:lstStyle/>
          <a:p>
            <a:pPr algn="ctr" indent="0" marL="0">
              <a:buNone/>
            </a:pPr>
            <a:r>
              <a:rPr lang="en-US" sz="4000" b="1" dirty="0">
                <a:solidFill>
                  <a:schemeClr val="tx2"/>
                </a:solidFill>
              </a:rPr>
              <a:t>AION : </a:t>
            </a:r>
            <a:pPr algn="ctr" indent="0" marL="0">
              <a:buNone/>
            </a:pPr>
            <a:r>
              <a:rPr lang="en-US" sz="4000" dirty="0">
                <a:solidFill>
                  <a:schemeClr val="tx2"/>
                </a:solidFill>
              </a:rPr>
              <a:t>Autonomous Incident Observation &amp; Navigation</a:t>
            </a:r>
            <a:endParaRPr lang="en-US" sz="4000" dirty="0"/>
          </a:p>
        </p:txBody>
      </p:sp>
      <p:sp>
        <p:nvSpPr>
          <p:cNvPr id="7" name="Text 4"/>
          <p:cNvSpPr txBox="1"/>
          <p:nvPr/>
        </p:nvSpPr>
        <p:spPr>
          <a:xfrm>
            <a:off x="2286000" y="5349240"/>
            <a:ext cx="15544800" cy="1600200"/>
          </a:xfrm>
          <a:prstGeom prst="rect">
            <a:avLst/>
          </a:prstGeom>
          <a:noFill/>
          <a:ln/>
        </p:spPr>
        <p:txBody>
          <a:bodyPr wrap="square" lIns="0" tIns="0" rIns="0" bIns="0" rtlCol="0" anchor="t"/>
          <a:lstStyle/>
          <a:p>
            <a:pPr algn="ctr" indent="0" marL="0">
              <a:buNone/>
            </a:pPr>
            <a:r>
              <a:rPr lang="en-US" sz="2800" dirty="0">
                <a:solidFill>
                  <a:schemeClr val="tx1"/>
                </a:solidFill>
              </a:rPr>
              <a:t>An AI-Powered Incident Observation and Remediation Platform using Log Analysis, Git Correlation and Large Language Models for Root-Cause Analysis, Validated Code Fixes and Human-Approved Deployment</a:t>
            </a:r>
            <a:endParaRPr lang="en-US" sz="2800" dirty="0"/>
          </a:p>
        </p:txBody>
      </p:sp>
      <p:sp>
        <p:nvSpPr>
          <p:cNvPr id="8" name="Text 5"/>
          <p:cNvSpPr txBox="1"/>
          <p:nvPr/>
        </p:nvSpPr>
        <p:spPr>
          <a:xfrm>
            <a:off x="420624" y="8549640"/>
            <a:ext cx="7315200" cy="2331720"/>
          </a:xfrm>
          <a:prstGeom prst="rect">
            <a:avLst/>
          </a:prstGeom>
          <a:noFill/>
          <a:ln/>
        </p:spPr>
        <p:txBody>
          <a:bodyPr wrap="square" lIns="0" tIns="0" rIns="0" bIns="0" rtlCol="0" anchor="b"/>
          <a:lstStyle/>
          <a:p>
            <a:pPr indent="0" marL="0">
              <a:spcAft>
                <a:spcPts val="400"/>
              </a:spcAft>
              <a:buNone/>
            </a:pPr>
            <a:r>
              <a:rPr lang="en-US" sz="2800" b="1" dirty="0">
                <a:solidFill>
                  <a:schemeClr val="tx1"/>
                </a:solidFill>
              </a:rPr>
              <a:t>Presented by :</a:t>
            </a:r>
            <a:endParaRPr lang="en-US" sz="2800" dirty="0"/>
          </a:p>
          <a:p>
            <a:pPr indent="0" marL="0">
              <a:spcAft>
                <a:spcPts val="400"/>
              </a:spcAft>
              <a:buNone/>
            </a:pPr>
            <a:r>
              <a:rPr lang="en-US" sz="2800" dirty="0">
                <a:solidFill>
                  <a:schemeClr val="tx1"/>
                </a:solidFill>
              </a:rPr>
              <a:t>Aditya Bheke – 330114</a:t>
            </a:r>
            <a:endParaRPr lang="en-US" sz="2800" dirty="0"/>
          </a:p>
          <a:p>
            <a:pPr indent="0" marL="0">
              <a:spcAft>
                <a:spcPts val="400"/>
              </a:spcAft>
              <a:buNone/>
            </a:pPr>
            <a:r>
              <a:rPr lang="en-US" sz="2800" dirty="0">
                <a:solidFill>
                  <a:schemeClr val="tx1"/>
                </a:solidFill>
              </a:rPr>
              <a:t>Harshal Bhogawade – 330115</a:t>
            </a:r>
            <a:endParaRPr lang="en-US" sz="2800" dirty="0"/>
          </a:p>
          <a:p>
            <a:pPr indent="0" marL="0">
              <a:spcAft>
                <a:spcPts val="400"/>
              </a:spcAft>
              <a:buNone/>
            </a:pPr>
            <a:r>
              <a:rPr lang="en-US" sz="2800" dirty="0">
                <a:solidFill>
                  <a:schemeClr val="tx1"/>
                </a:solidFill>
              </a:rPr>
              <a:t>Malhar Bhoi – 330116</a:t>
            </a:r>
            <a:endParaRPr lang="en-US" sz="2800" dirty="0"/>
          </a:p>
        </p:txBody>
      </p:sp>
      <p:sp>
        <p:nvSpPr>
          <p:cNvPr id="9" name="Text 6"/>
          <p:cNvSpPr txBox="1"/>
          <p:nvPr/>
        </p:nvSpPr>
        <p:spPr>
          <a:xfrm>
            <a:off x="10058400" y="10332720"/>
            <a:ext cx="9601200" cy="548640"/>
          </a:xfrm>
          <a:prstGeom prst="rect">
            <a:avLst/>
          </a:prstGeom>
          <a:noFill/>
          <a:ln/>
        </p:spPr>
        <p:txBody>
          <a:bodyPr wrap="square" lIns="0" tIns="0" rIns="0" bIns="0" rtlCol="0" anchor="ctr"/>
          <a:lstStyle/>
          <a:p>
            <a:pPr algn="r" indent="0" marL="0">
              <a:buNone/>
            </a:pPr>
            <a:r>
              <a:rPr lang="en-US" sz="2800" b="1" dirty="0">
                <a:solidFill>
                  <a:schemeClr val="tx1"/>
                </a:solidFill>
              </a:rPr>
              <a:t>Under the guidance of :   </a:t>
            </a:r>
            <a:pPr algn="r" indent="0" marL="0">
              <a:buNone/>
            </a:pPr>
            <a:r>
              <a:rPr lang="en-US" sz="2800" dirty="0">
                <a:solidFill>
                  <a:schemeClr val="tx1"/>
                </a:solidFill>
              </a:rPr>
              <a:t>Dr. Yogesh Bahendwar</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Introduction</a:t>
            </a:r>
            <a:endParaRPr lang="en-US" sz="6600" dirty="0"/>
          </a:p>
        </p:txBody>
      </p:sp>
      <p:sp>
        <p:nvSpPr>
          <p:cNvPr id="4" name="why-card"/>
          <p:cNvSpPr/>
          <p:nvPr/>
        </p:nvSpPr>
        <p:spPr>
          <a:xfrm>
            <a:off x="1097280" y="2148840"/>
            <a:ext cx="17922240" cy="4114800"/>
          </a:xfrm>
          <a:prstGeom prst="roundRect">
            <a:avLst>
              <a:gd name="adj" fmla="val 6667"/>
            </a:avLst>
          </a:prstGeom>
          <a:solidFill>
            <a:schemeClr val="bg1"/>
          </a:solidFill>
          <a:ln/>
        </p:spPr>
      </p:sp>
      <p:sp>
        <p:nvSpPr>
          <p:cNvPr id="5" name="Text 2"/>
          <p:cNvSpPr txBox="1"/>
          <p:nvPr/>
        </p:nvSpPr>
        <p:spPr>
          <a:xfrm>
            <a:off x="1600200" y="2468880"/>
            <a:ext cx="1691640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Why AION?</a:t>
            </a:r>
            <a:endParaRPr lang="en-US" sz="2700" dirty="0"/>
          </a:p>
        </p:txBody>
      </p:sp>
      <p:sp>
        <p:nvSpPr>
          <p:cNvPr id="6" name="Text 3"/>
          <p:cNvSpPr txBox="1"/>
          <p:nvPr/>
        </p:nvSpPr>
        <p:spPr>
          <a:xfrm>
            <a:off x="1600200" y="3154680"/>
            <a:ext cx="16916400" cy="3017520"/>
          </a:xfrm>
          <a:prstGeom prst="rect">
            <a:avLst/>
          </a:prstGeom>
          <a:noFill/>
          <a:ln/>
        </p:spPr>
        <p:txBody>
          <a:bodyPr wrap="square" lIns="0" tIns="0" rIns="0" bIns="0" rtlCol="0" anchor="t"/>
          <a:lstStyle/>
          <a:p>
            <a:pPr marL="381000" indent="-381000">
              <a:lnSpc>
                <a:spcPct val="100000"/>
              </a:lnSpc>
              <a:spcAft>
                <a:spcPts val="1400"/>
              </a:spcAft>
              <a:buSzPct val="100000"/>
              <a:buChar char="•"/>
            </a:pPr>
            <a:r>
              <a:rPr lang="en-US" sz="2600" dirty="0">
                <a:solidFill>
                  <a:schemeClr val="tx1"/>
                </a:solidFill>
              </a:rPr>
              <a:t>In conventional incident management, engineers manually inspect large volumes of logs during an outage.</a:t>
            </a:r>
            <a:endParaRPr lang="en-US" sz="2600" dirty="0"/>
          </a:p>
          <a:p>
            <a:pPr marL="381000" indent="-381000">
              <a:lnSpc>
                <a:spcPct val="100000"/>
              </a:lnSpc>
              <a:spcAft>
                <a:spcPts val="1400"/>
              </a:spcAft>
              <a:buSzPct val="100000"/>
              <a:buChar char="•"/>
            </a:pPr>
            <a:r>
              <a:rPr lang="en-US" sz="2600" dirty="0">
                <a:solidFill>
                  <a:schemeClr val="tx1"/>
                </a:solidFill>
              </a:rPr>
              <a:t>Tracing a failure to the recent code change that caused it is slow and depends on experienced engineers.</a:t>
            </a:r>
            <a:endParaRPr lang="en-US" sz="2600" dirty="0"/>
          </a:p>
          <a:p>
            <a:pPr marL="381000" indent="-381000">
              <a:lnSpc>
                <a:spcPct val="100000"/>
              </a:lnSpc>
              <a:spcAft>
                <a:spcPts val="1400"/>
              </a:spcAft>
              <a:buSzPct val="100000"/>
              <a:buChar char="•"/>
            </a:pPr>
            <a:r>
              <a:rPr lang="en-US" sz="2600" dirty="0">
                <a:solidFill>
                  <a:schemeClr val="tx1"/>
                </a:solidFill>
              </a:rPr>
              <a:t>Observability tools detect errors but stop there; writing, testing and deploying the fix remain separate manual steps.</a:t>
            </a:r>
            <a:endParaRPr lang="en-US" sz="2600" dirty="0"/>
          </a:p>
          <a:p>
            <a:pPr marL="381000" indent="-381000">
              <a:lnSpc>
                <a:spcPct val="100000"/>
              </a:lnSpc>
              <a:spcAft>
                <a:spcPts val="1400"/>
              </a:spcAft>
              <a:buSzPct val="100000"/>
              <a:buChar char="•"/>
            </a:pPr>
            <a:r>
              <a:rPr lang="en-US" sz="2600" dirty="0">
                <a:solidFill>
                  <a:schemeClr val="tx1"/>
                </a:solidFill>
              </a:rPr>
              <a:t>AION connects detection, Git correlation, AI root-cause analysis, patch generation and validation in one auditable workflow, with a human approving every production deployment.</a:t>
            </a:r>
            <a:endParaRPr lang="en-US" sz="2600" dirty="0"/>
          </a:p>
        </p:txBody>
      </p:sp>
      <p:sp>
        <p:nvSpPr>
          <p:cNvPr id="7" name="core-idea-card"/>
          <p:cNvSpPr/>
          <p:nvPr/>
        </p:nvSpPr>
        <p:spPr>
          <a:xfrm>
            <a:off x="1097280" y="6583680"/>
            <a:ext cx="17922240" cy="3611880"/>
          </a:xfrm>
          <a:prstGeom prst="roundRect">
            <a:avLst>
              <a:gd name="adj" fmla="val 7595"/>
            </a:avLst>
          </a:prstGeom>
          <a:solidFill>
            <a:schemeClr val="bg1"/>
          </a:solidFill>
          <a:ln/>
        </p:spPr>
      </p:sp>
      <p:sp>
        <p:nvSpPr>
          <p:cNvPr id="8" name="Text 5"/>
          <p:cNvSpPr txBox="1"/>
          <p:nvPr/>
        </p:nvSpPr>
        <p:spPr>
          <a:xfrm>
            <a:off x="1600200" y="6903720"/>
            <a:ext cx="1691640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Core Idea</a:t>
            </a:r>
            <a:endParaRPr lang="en-US" sz="2700" dirty="0"/>
          </a:p>
        </p:txBody>
      </p:sp>
      <p:sp>
        <p:nvSpPr>
          <p:cNvPr id="9" name="Shape 6"/>
          <p:cNvSpPr/>
          <p:nvPr/>
        </p:nvSpPr>
        <p:spPr>
          <a:xfrm>
            <a:off x="1600200" y="7863840"/>
            <a:ext cx="2743200" cy="1783080"/>
          </a:xfrm>
          <a:prstGeom prst="rect">
            <a:avLst/>
          </a:prstGeom>
          <a:solidFill>
            <a:schemeClr val="accent5"/>
          </a:solidFill>
          <a:ln w="15875">
            <a:solidFill>
              <a:schemeClr val="tx1"/>
            </a:solidFill>
            <a:prstDash val="solid"/>
          </a:ln>
        </p:spPr>
      </p:sp>
      <p:sp>
        <p:nvSpPr>
          <p:cNvPr id="10" name="Text 7"/>
          <p:cNvSpPr txBox="1"/>
          <p:nvPr/>
        </p:nvSpPr>
        <p:spPr>
          <a:xfrm>
            <a:off x="1691640" y="7863840"/>
            <a:ext cx="2560320" cy="1783080"/>
          </a:xfrm>
          <a:prstGeom prst="rect">
            <a:avLst/>
          </a:prstGeom>
          <a:noFill/>
          <a:ln/>
        </p:spPr>
        <p:txBody>
          <a:bodyPr wrap="square" lIns="0" tIns="0" rIns="0" bIns="0" rtlCol="0" anchor="ctr"/>
          <a:lstStyle/>
          <a:p>
            <a:pPr algn="ctr" indent="0" marL="0">
              <a:buNone/>
            </a:pPr>
            <a:r>
              <a:rPr lang="en-US" sz="2200" dirty="0">
                <a:solidFill>
                  <a:schemeClr val="tx1"/>
                </a:solidFill>
                <a:latin typeface="Calibri" pitchFamily="34" charset="0"/>
                <a:ea typeface="Calibri" pitchFamily="34" charset="-122"/>
                <a:cs typeface="Calibri" pitchFamily="34" charset="-120"/>
              </a:rPr>
              <a:t>Production Logs</a:t>
            </a:r>
            <a:endParaRPr lang="en-US" sz="2200" dirty="0"/>
          </a:p>
        </p:txBody>
      </p:sp>
      <p:sp>
        <p:nvSpPr>
          <p:cNvPr id="11" name="Shape 8"/>
          <p:cNvSpPr/>
          <p:nvPr/>
        </p:nvSpPr>
        <p:spPr>
          <a:xfrm>
            <a:off x="4343400" y="8755380"/>
            <a:ext cx="781812" cy="0"/>
          </a:xfrm>
          <a:prstGeom prst="line">
            <a:avLst/>
          </a:prstGeom>
          <a:noFill/>
          <a:ln w="25400">
            <a:solidFill>
              <a:schemeClr val="tx1"/>
            </a:solidFill>
            <a:prstDash val="solid"/>
            <a:tailEnd type="triangle"/>
          </a:ln>
        </p:spPr>
      </p:sp>
      <p:sp>
        <p:nvSpPr>
          <p:cNvPr id="12" name="Shape 9"/>
          <p:cNvSpPr/>
          <p:nvPr/>
        </p:nvSpPr>
        <p:spPr>
          <a:xfrm>
            <a:off x="5143500" y="7863840"/>
            <a:ext cx="2743200" cy="1783080"/>
          </a:xfrm>
          <a:prstGeom prst="rect">
            <a:avLst/>
          </a:prstGeom>
          <a:solidFill>
            <a:schemeClr val="accent5"/>
          </a:solidFill>
          <a:ln w="15875">
            <a:solidFill>
              <a:schemeClr val="tx1"/>
            </a:solidFill>
            <a:prstDash val="solid"/>
          </a:ln>
        </p:spPr>
      </p:sp>
      <p:sp>
        <p:nvSpPr>
          <p:cNvPr id="13" name="Text 10"/>
          <p:cNvSpPr txBox="1"/>
          <p:nvPr/>
        </p:nvSpPr>
        <p:spPr>
          <a:xfrm>
            <a:off x="5234940" y="7863840"/>
            <a:ext cx="2560320" cy="1783080"/>
          </a:xfrm>
          <a:prstGeom prst="rect">
            <a:avLst/>
          </a:prstGeom>
          <a:noFill/>
          <a:ln/>
        </p:spPr>
        <p:txBody>
          <a:bodyPr wrap="square" lIns="0" tIns="0" rIns="0" bIns="0" rtlCol="0" anchor="ctr"/>
          <a:lstStyle/>
          <a:p>
            <a:pPr algn="ctr" indent="0" marL="0">
              <a:buNone/>
            </a:pPr>
            <a:r>
              <a:rPr lang="en-US" sz="2200" dirty="0">
                <a:solidFill>
                  <a:schemeClr val="tx1"/>
                </a:solidFill>
                <a:latin typeface="Calibri" pitchFamily="34" charset="0"/>
                <a:ea typeface="Calibri" pitchFamily="34" charset="-122"/>
                <a:cs typeface="Calibri" pitchFamily="34" charset="-120"/>
              </a:rPr>
              <a:t>Incident Detection</a:t>
            </a:r>
            <a:endParaRPr lang="en-US" sz="2200" dirty="0"/>
          </a:p>
        </p:txBody>
      </p:sp>
      <p:sp>
        <p:nvSpPr>
          <p:cNvPr id="14" name="Shape 11"/>
          <p:cNvSpPr/>
          <p:nvPr/>
        </p:nvSpPr>
        <p:spPr>
          <a:xfrm>
            <a:off x="7886700" y="8755380"/>
            <a:ext cx="781812" cy="0"/>
          </a:xfrm>
          <a:prstGeom prst="line">
            <a:avLst/>
          </a:prstGeom>
          <a:noFill/>
          <a:ln w="25400">
            <a:solidFill>
              <a:schemeClr val="tx1"/>
            </a:solidFill>
            <a:prstDash val="solid"/>
            <a:tailEnd type="triangle"/>
          </a:ln>
        </p:spPr>
      </p:sp>
      <p:sp>
        <p:nvSpPr>
          <p:cNvPr id="15" name="Shape 12"/>
          <p:cNvSpPr/>
          <p:nvPr/>
        </p:nvSpPr>
        <p:spPr>
          <a:xfrm>
            <a:off x="8686800" y="7863840"/>
            <a:ext cx="2743200" cy="1783080"/>
          </a:xfrm>
          <a:prstGeom prst="rect">
            <a:avLst/>
          </a:prstGeom>
          <a:solidFill>
            <a:schemeClr val="accent5"/>
          </a:solidFill>
          <a:ln w="15875">
            <a:solidFill>
              <a:schemeClr val="tx1"/>
            </a:solidFill>
            <a:prstDash val="solid"/>
          </a:ln>
        </p:spPr>
      </p:sp>
      <p:sp>
        <p:nvSpPr>
          <p:cNvPr id="16" name="Text 13"/>
          <p:cNvSpPr txBox="1"/>
          <p:nvPr/>
        </p:nvSpPr>
        <p:spPr>
          <a:xfrm>
            <a:off x="8778240" y="7863840"/>
            <a:ext cx="2560320" cy="1783080"/>
          </a:xfrm>
          <a:prstGeom prst="rect">
            <a:avLst/>
          </a:prstGeom>
          <a:noFill/>
          <a:ln/>
        </p:spPr>
        <p:txBody>
          <a:bodyPr wrap="square" lIns="0" tIns="0" rIns="0" bIns="0" rtlCol="0" anchor="ctr"/>
          <a:lstStyle/>
          <a:p>
            <a:pPr algn="ctr" indent="0" marL="0">
              <a:buNone/>
            </a:pPr>
            <a:r>
              <a:rPr lang="en-US" sz="2200" dirty="0">
                <a:solidFill>
                  <a:schemeClr val="tx1"/>
                </a:solidFill>
                <a:latin typeface="Calibri" pitchFamily="34" charset="0"/>
                <a:ea typeface="Calibri" pitchFamily="34" charset="-122"/>
                <a:cs typeface="Calibri" pitchFamily="34" charset="-120"/>
              </a:rPr>
              <a:t>AI Root-Cause Analysis</a:t>
            </a:r>
            <a:endParaRPr lang="en-US" sz="2200" dirty="0"/>
          </a:p>
        </p:txBody>
      </p:sp>
      <p:sp>
        <p:nvSpPr>
          <p:cNvPr id="17" name="Shape 14"/>
          <p:cNvSpPr/>
          <p:nvPr/>
        </p:nvSpPr>
        <p:spPr>
          <a:xfrm>
            <a:off x="11430000" y="8755380"/>
            <a:ext cx="781812" cy="0"/>
          </a:xfrm>
          <a:prstGeom prst="line">
            <a:avLst/>
          </a:prstGeom>
          <a:noFill/>
          <a:ln w="25400">
            <a:solidFill>
              <a:schemeClr val="tx1"/>
            </a:solidFill>
            <a:prstDash val="solid"/>
            <a:tailEnd type="triangle"/>
          </a:ln>
        </p:spPr>
      </p:sp>
      <p:sp>
        <p:nvSpPr>
          <p:cNvPr id="18" name="Shape 15"/>
          <p:cNvSpPr/>
          <p:nvPr/>
        </p:nvSpPr>
        <p:spPr>
          <a:xfrm>
            <a:off x="12230100" y="7863840"/>
            <a:ext cx="2743200" cy="1783080"/>
          </a:xfrm>
          <a:prstGeom prst="rect">
            <a:avLst/>
          </a:prstGeom>
          <a:solidFill>
            <a:schemeClr val="accent5"/>
          </a:solidFill>
          <a:ln w="15875">
            <a:solidFill>
              <a:schemeClr val="tx1"/>
            </a:solidFill>
            <a:prstDash val="solid"/>
          </a:ln>
        </p:spPr>
      </p:sp>
      <p:sp>
        <p:nvSpPr>
          <p:cNvPr id="19" name="Text 16"/>
          <p:cNvSpPr txBox="1"/>
          <p:nvPr/>
        </p:nvSpPr>
        <p:spPr>
          <a:xfrm>
            <a:off x="12321540" y="7863840"/>
            <a:ext cx="2560320" cy="1783080"/>
          </a:xfrm>
          <a:prstGeom prst="rect">
            <a:avLst/>
          </a:prstGeom>
          <a:noFill/>
          <a:ln/>
        </p:spPr>
        <p:txBody>
          <a:bodyPr wrap="square" lIns="0" tIns="0" rIns="0" bIns="0" rtlCol="0" anchor="ctr"/>
          <a:lstStyle/>
          <a:p>
            <a:pPr algn="ctr" indent="0" marL="0">
              <a:buNone/>
            </a:pPr>
            <a:r>
              <a:rPr lang="en-US" sz="2200" dirty="0">
                <a:solidFill>
                  <a:schemeClr val="tx1"/>
                </a:solidFill>
                <a:latin typeface="Calibri" pitchFamily="34" charset="0"/>
                <a:ea typeface="Calibri" pitchFamily="34" charset="-122"/>
                <a:cs typeface="Calibri" pitchFamily="34" charset="-120"/>
              </a:rPr>
              <a:t>Validated Fix</a:t>
            </a:r>
            <a:endParaRPr lang="en-US" sz="2200" dirty="0"/>
          </a:p>
        </p:txBody>
      </p:sp>
      <p:sp>
        <p:nvSpPr>
          <p:cNvPr id="20" name="Shape 17"/>
          <p:cNvSpPr/>
          <p:nvPr/>
        </p:nvSpPr>
        <p:spPr>
          <a:xfrm>
            <a:off x="14973300" y="8755380"/>
            <a:ext cx="781812" cy="0"/>
          </a:xfrm>
          <a:prstGeom prst="line">
            <a:avLst/>
          </a:prstGeom>
          <a:noFill/>
          <a:ln w="25400">
            <a:solidFill>
              <a:schemeClr val="tx1"/>
            </a:solidFill>
            <a:prstDash val="solid"/>
            <a:tailEnd type="triangle"/>
          </a:ln>
        </p:spPr>
      </p:sp>
      <p:sp>
        <p:nvSpPr>
          <p:cNvPr id="21" name="Shape 18"/>
          <p:cNvSpPr/>
          <p:nvPr/>
        </p:nvSpPr>
        <p:spPr>
          <a:xfrm>
            <a:off x="15773400" y="7863840"/>
            <a:ext cx="2743200" cy="1783080"/>
          </a:xfrm>
          <a:prstGeom prst="rect">
            <a:avLst/>
          </a:prstGeom>
          <a:solidFill>
            <a:schemeClr val="accent5"/>
          </a:solidFill>
          <a:ln w="15875">
            <a:solidFill>
              <a:schemeClr val="tx1"/>
            </a:solidFill>
            <a:prstDash val="solid"/>
          </a:ln>
        </p:spPr>
      </p:sp>
      <p:sp>
        <p:nvSpPr>
          <p:cNvPr id="22" name="Text 19"/>
          <p:cNvSpPr txBox="1"/>
          <p:nvPr/>
        </p:nvSpPr>
        <p:spPr>
          <a:xfrm>
            <a:off x="15864840" y="7863840"/>
            <a:ext cx="2560320" cy="1783080"/>
          </a:xfrm>
          <a:prstGeom prst="rect">
            <a:avLst/>
          </a:prstGeom>
          <a:noFill/>
          <a:ln/>
        </p:spPr>
        <p:txBody>
          <a:bodyPr wrap="square" lIns="0" tIns="0" rIns="0" bIns="0" rtlCol="0" anchor="ctr"/>
          <a:lstStyle/>
          <a:p>
            <a:pPr algn="ctr" indent="0" marL="0">
              <a:buNone/>
            </a:pPr>
            <a:r>
              <a:rPr lang="en-US" sz="2200" dirty="0">
                <a:solidFill>
                  <a:schemeClr val="tx1"/>
                </a:solidFill>
                <a:latin typeface="Calibri" pitchFamily="34" charset="0"/>
                <a:ea typeface="Calibri" pitchFamily="34" charset="-122"/>
                <a:cs typeface="Calibri" pitchFamily="34" charset="-120"/>
              </a:rPr>
              <a:t>Human-Approved Deployment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Problem Statement</a:t>
            </a:r>
            <a:endParaRPr lang="en-US" sz="6600" dirty="0"/>
          </a:p>
        </p:txBody>
      </p:sp>
      <p:sp>
        <p:nvSpPr>
          <p:cNvPr id="4" name="statement-card"/>
          <p:cNvSpPr/>
          <p:nvPr/>
        </p:nvSpPr>
        <p:spPr>
          <a:xfrm>
            <a:off x="1097280" y="2148840"/>
            <a:ext cx="17922240" cy="2743200"/>
          </a:xfrm>
          <a:prstGeom prst="roundRect">
            <a:avLst>
              <a:gd name="adj" fmla="val 10000"/>
            </a:avLst>
          </a:prstGeom>
          <a:solidFill>
            <a:schemeClr val="bg1"/>
          </a:solidFill>
          <a:ln/>
        </p:spPr>
      </p:sp>
      <p:sp>
        <p:nvSpPr>
          <p:cNvPr id="5" name="Text 2"/>
          <p:cNvSpPr txBox="1"/>
          <p:nvPr/>
        </p:nvSpPr>
        <p:spPr>
          <a:xfrm>
            <a:off x="1600200" y="2377440"/>
            <a:ext cx="16916400" cy="2286000"/>
          </a:xfrm>
          <a:prstGeom prst="rect">
            <a:avLst/>
          </a:prstGeom>
          <a:noFill/>
          <a:ln/>
        </p:spPr>
        <p:txBody>
          <a:bodyPr wrap="square" lIns="0" tIns="0" rIns="0" bIns="0" rtlCol="0" anchor="ctr"/>
          <a:lstStyle/>
          <a:p>
            <a:pPr indent="0" marL="0">
              <a:lnSpc>
                <a:spcPct val="105000"/>
              </a:lnSpc>
              <a:buNone/>
            </a:pPr>
            <a:r>
              <a:rPr lang="en-US" sz="3000" dirty="0">
                <a:solidFill>
                  <a:schemeClr val="tx1"/>
                </a:solidFill>
              </a:rPr>
              <a:t>To design and develop an AI-powered platform that detects production incidents from application logs, traces them to the recent code change that caused them, and uses Large Language Models to generate validated code fixes, deploying a fix only after explicit human approval.</a:t>
            </a:r>
            <a:endParaRPr lang="en-US" sz="3000" dirty="0"/>
          </a:p>
        </p:txBody>
      </p:sp>
      <p:sp>
        <p:nvSpPr>
          <p:cNvPr id="6" name="io-card-1"/>
          <p:cNvSpPr/>
          <p:nvPr/>
        </p:nvSpPr>
        <p:spPr>
          <a:xfrm>
            <a:off x="1097280" y="5257800"/>
            <a:ext cx="4937760" cy="4937760"/>
          </a:xfrm>
          <a:prstGeom prst="roundRect">
            <a:avLst>
              <a:gd name="adj" fmla="val 5556"/>
            </a:avLst>
          </a:prstGeom>
          <a:solidFill>
            <a:schemeClr val="bg1"/>
          </a:solidFill>
          <a:ln/>
        </p:spPr>
      </p:sp>
      <p:sp>
        <p:nvSpPr>
          <p:cNvPr id="7" name="Shape 4"/>
          <p:cNvSpPr/>
          <p:nvPr/>
        </p:nvSpPr>
        <p:spPr>
          <a:xfrm>
            <a:off x="1508760" y="5623560"/>
            <a:ext cx="868680" cy="868680"/>
          </a:xfrm>
          <a:prstGeom prst="ellipse">
            <a:avLst/>
          </a:prstGeom>
          <a:solidFill>
            <a:schemeClr val="tx2"/>
          </a:solidFill>
          <a:ln/>
        </p:spPr>
      </p:sp>
      <p:pic>
        <p:nvPicPr>
          <p:cNvPr id="8" name="Image 0" descr="file-input">    </p:cNvPr>
          <p:cNvPicPr>
            <a:picLocks noChangeAspect="1"/>
          </p:cNvPicPr>
          <p:nvPr/>
        </p:nvPicPr>
        <p:blipFill>
          <a:blip r:embed="rId1"/>
          <a:stretch>
            <a:fillRect/>
          </a:stretch>
        </p:blipFill>
        <p:spPr>
          <a:xfrm>
            <a:off x="1699870" y="5814670"/>
            <a:ext cx="486461" cy="486461"/>
          </a:xfrm>
          <a:prstGeom prst="rect">
            <a:avLst/>
          </a:prstGeom>
        </p:spPr>
      </p:pic>
      <p:sp>
        <p:nvSpPr>
          <p:cNvPr id="9" name="Text 5"/>
          <p:cNvSpPr txBox="1"/>
          <p:nvPr/>
        </p:nvSpPr>
        <p:spPr>
          <a:xfrm>
            <a:off x="2606040" y="5779008"/>
            <a:ext cx="31089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Input</a:t>
            </a:r>
            <a:endParaRPr lang="en-US" sz="2700" dirty="0"/>
          </a:p>
        </p:txBody>
      </p:sp>
      <p:sp>
        <p:nvSpPr>
          <p:cNvPr id="10" name="Text 6"/>
          <p:cNvSpPr txBox="1"/>
          <p:nvPr/>
        </p:nvSpPr>
        <p:spPr>
          <a:xfrm>
            <a:off x="1508760" y="6812280"/>
            <a:ext cx="4206240" cy="3200400"/>
          </a:xfrm>
          <a:prstGeom prst="rect">
            <a:avLst/>
          </a:prstGeom>
          <a:noFill/>
          <a:ln/>
        </p:spPr>
        <p:txBody>
          <a:bodyPr wrap="square" lIns="0" tIns="0" rIns="0" bIns="0" rtlCol="0" anchor="t"/>
          <a:lstStyle/>
          <a:p>
            <a:pPr marL="381000" indent="-381000">
              <a:lnSpc>
                <a:spcPct val="100000"/>
              </a:lnSpc>
              <a:spcAft>
                <a:spcPts val="1000"/>
              </a:spcAft>
              <a:buSzPct val="100000"/>
              <a:buChar char="•"/>
            </a:pPr>
            <a:r>
              <a:rPr lang="en-US" sz="2500" dirty="0">
                <a:solidFill>
                  <a:schemeClr val="tx1"/>
                </a:solidFill>
              </a:rPr>
              <a:t>Production application logs</a:t>
            </a:r>
            <a:endParaRPr lang="en-US" sz="2500" dirty="0"/>
          </a:p>
          <a:p>
            <a:pPr marL="381000" indent="-381000">
              <a:lnSpc>
                <a:spcPct val="100000"/>
              </a:lnSpc>
              <a:spcAft>
                <a:spcPts val="1000"/>
              </a:spcAft>
              <a:buSzPct val="100000"/>
              <a:buChar char="•"/>
            </a:pPr>
            <a:r>
              <a:rPr lang="en-US" sz="2500" dirty="0">
                <a:solidFill>
                  <a:schemeClr val="tx1"/>
                </a:solidFill>
              </a:rPr>
              <a:t>Git commit history</a:t>
            </a:r>
            <a:endParaRPr lang="en-US" sz="2500" dirty="0"/>
          </a:p>
          <a:p>
            <a:pPr marL="381000" indent="-381000">
              <a:lnSpc>
                <a:spcPct val="100000"/>
              </a:lnSpc>
              <a:spcAft>
                <a:spcPts val="1000"/>
              </a:spcAft>
              <a:buSzPct val="100000"/>
              <a:buChar char="•"/>
            </a:pPr>
            <a:r>
              <a:rPr lang="en-US" sz="2500" dirty="0">
                <a:solidFill>
                  <a:schemeClr val="tx1"/>
                </a:solidFill>
              </a:rPr>
              <a:t>Deployment records</a:t>
            </a:r>
            <a:endParaRPr lang="en-US" sz="2500" dirty="0"/>
          </a:p>
        </p:txBody>
      </p:sp>
      <p:sp>
        <p:nvSpPr>
          <p:cNvPr id="11" name="Shape 7"/>
          <p:cNvSpPr/>
          <p:nvPr/>
        </p:nvSpPr>
        <p:spPr>
          <a:xfrm>
            <a:off x="6126480" y="7726680"/>
            <a:ext cx="1371600" cy="0"/>
          </a:xfrm>
          <a:prstGeom prst="line">
            <a:avLst/>
          </a:prstGeom>
          <a:noFill/>
          <a:ln w="31750">
            <a:solidFill>
              <a:schemeClr val="tx1"/>
            </a:solidFill>
            <a:prstDash val="solid"/>
            <a:tailEnd type="triangle"/>
          </a:ln>
        </p:spPr>
      </p:sp>
      <p:sp>
        <p:nvSpPr>
          <p:cNvPr id="12" name="io-card-2"/>
          <p:cNvSpPr/>
          <p:nvPr/>
        </p:nvSpPr>
        <p:spPr>
          <a:xfrm>
            <a:off x="7589520" y="5257800"/>
            <a:ext cx="4937760" cy="4937760"/>
          </a:xfrm>
          <a:prstGeom prst="roundRect">
            <a:avLst>
              <a:gd name="adj" fmla="val 5556"/>
            </a:avLst>
          </a:prstGeom>
          <a:solidFill>
            <a:schemeClr val="bg1"/>
          </a:solidFill>
          <a:ln/>
        </p:spPr>
      </p:sp>
      <p:sp>
        <p:nvSpPr>
          <p:cNvPr id="13" name="Shape 9"/>
          <p:cNvSpPr/>
          <p:nvPr/>
        </p:nvSpPr>
        <p:spPr>
          <a:xfrm>
            <a:off x="8001000" y="5623560"/>
            <a:ext cx="868680" cy="868680"/>
          </a:xfrm>
          <a:prstGeom prst="ellipse">
            <a:avLst/>
          </a:prstGeom>
          <a:solidFill>
            <a:schemeClr val="tx2"/>
          </a:solidFill>
          <a:ln/>
        </p:spPr>
      </p:sp>
      <p:pic>
        <p:nvPicPr>
          <p:cNvPr id="14" name="Image 1" descr="cpu">    </p:cNvPr>
          <p:cNvPicPr>
            <a:picLocks noChangeAspect="1"/>
          </p:cNvPicPr>
          <p:nvPr/>
        </p:nvPicPr>
        <p:blipFill>
          <a:blip r:embed="rId2"/>
          <a:stretch>
            <a:fillRect/>
          </a:stretch>
        </p:blipFill>
        <p:spPr>
          <a:xfrm>
            <a:off x="8192110" y="5814670"/>
            <a:ext cx="486461" cy="486461"/>
          </a:xfrm>
          <a:prstGeom prst="rect">
            <a:avLst/>
          </a:prstGeom>
        </p:spPr>
      </p:pic>
      <p:sp>
        <p:nvSpPr>
          <p:cNvPr id="15" name="Text 10"/>
          <p:cNvSpPr txBox="1"/>
          <p:nvPr/>
        </p:nvSpPr>
        <p:spPr>
          <a:xfrm>
            <a:off x="9098280" y="5779008"/>
            <a:ext cx="31089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AION</a:t>
            </a:r>
            <a:endParaRPr lang="en-US" sz="2700" dirty="0"/>
          </a:p>
        </p:txBody>
      </p:sp>
      <p:sp>
        <p:nvSpPr>
          <p:cNvPr id="16" name="Text 11"/>
          <p:cNvSpPr txBox="1"/>
          <p:nvPr/>
        </p:nvSpPr>
        <p:spPr>
          <a:xfrm>
            <a:off x="8001000" y="6812280"/>
            <a:ext cx="4206240" cy="3200400"/>
          </a:xfrm>
          <a:prstGeom prst="rect">
            <a:avLst/>
          </a:prstGeom>
          <a:noFill/>
          <a:ln/>
        </p:spPr>
        <p:txBody>
          <a:bodyPr wrap="square" lIns="0" tIns="0" rIns="0" bIns="0" rtlCol="0" anchor="t"/>
          <a:lstStyle/>
          <a:p>
            <a:pPr marL="381000" indent="-381000">
              <a:lnSpc>
                <a:spcPct val="100000"/>
              </a:lnSpc>
              <a:spcAft>
                <a:spcPts val="1000"/>
              </a:spcAft>
              <a:buSzPct val="100000"/>
              <a:buChar char="•"/>
            </a:pPr>
            <a:r>
              <a:rPr lang="en-US" sz="2500" dirty="0">
                <a:solidFill>
                  <a:schemeClr val="tx1"/>
                </a:solidFill>
              </a:rPr>
              <a:t>Log analysis &amp; incident detection</a:t>
            </a:r>
            <a:endParaRPr lang="en-US" sz="2500" dirty="0"/>
          </a:p>
          <a:p>
            <a:pPr marL="381000" indent="-381000">
              <a:lnSpc>
                <a:spcPct val="100000"/>
              </a:lnSpc>
              <a:spcAft>
                <a:spcPts val="1000"/>
              </a:spcAft>
              <a:buSzPct val="100000"/>
              <a:buChar char="•"/>
            </a:pPr>
            <a:r>
              <a:rPr lang="en-US" sz="2500" dirty="0">
                <a:solidFill>
                  <a:schemeClr val="tx1"/>
                </a:solidFill>
              </a:rPr>
              <a:t>Git &amp; deployment correlation</a:t>
            </a:r>
            <a:endParaRPr lang="en-US" sz="2500" dirty="0"/>
          </a:p>
          <a:p>
            <a:pPr marL="381000" indent="-381000">
              <a:lnSpc>
                <a:spcPct val="100000"/>
              </a:lnSpc>
              <a:spcAft>
                <a:spcPts val="1000"/>
              </a:spcAft>
              <a:buSzPct val="100000"/>
              <a:buChar char="•"/>
            </a:pPr>
            <a:r>
              <a:rPr lang="en-US" sz="2500" dirty="0">
                <a:solidFill>
                  <a:schemeClr val="tx1"/>
                </a:solidFill>
              </a:rPr>
              <a:t>LLM root-cause analysis</a:t>
            </a:r>
            <a:endParaRPr lang="en-US" sz="2500" dirty="0"/>
          </a:p>
          <a:p>
            <a:pPr marL="381000" indent="-381000">
              <a:lnSpc>
                <a:spcPct val="100000"/>
              </a:lnSpc>
              <a:spcAft>
                <a:spcPts val="1000"/>
              </a:spcAft>
              <a:buSzPct val="100000"/>
              <a:buChar char="•"/>
            </a:pPr>
            <a:r>
              <a:rPr lang="en-US" sz="2500" dirty="0">
                <a:solidFill>
                  <a:schemeClr val="tx1"/>
                </a:solidFill>
              </a:rPr>
              <a:t>Patch generation &amp; validation</a:t>
            </a:r>
            <a:endParaRPr lang="en-US" sz="2500" dirty="0"/>
          </a:p>
        </p:txBody>
      </p:sp>
      <p:sp>
        <p:nvSpPr>
          <p:cNvPr id="17" name="Shape 12"/>
          <p:cNvSpPr/>
          <p:nvPr/>
        </p:nvSpPr>
        <p:spPr>
          <a:xfrm>
            <a:off x="12618720" y="7726680"/>
            <a:ext cx="1371600" cy="0"/>
          </a:xfrm>
          <a:prstGeom prst="line">
            <a:avLst/>
          </a:prstGeom>
          <a:noFill/>
          <a:ln w="31750">
            <a:solidFill>
              <a:schemeClr val="tx1"/>
            </a:solidFill>
            <a:prstDash val="solid"/>
            <a:tailEnd type="triangle"/>
          </a:ln>
        </p:spPr>
      </p:sp>
      <p:sp>
        <p:nvSpPr>
          <p:cNvPr id="18" name="io-card-3"/>
          <p:cNvSpPr/>
          <p:nvPr/>
        </p:nvSpPr>
        <p:spPr>
          <a:xfrm>
            <a:off x="14081760" y="5257800"/>
            <a:ext cx="4937760" cy="4937760"/>
          </a:xfrm>
          <a:prstGeom prst="roundRect">
            <a:avLst>
              <a:gd name="adj" fmla="val 5556"/>
            </a:avLst>
          </a:prstGeom>
          <a:solidFill>
            <a:schemeClr val="bg1"/>
          </a:solidFill>
          <a:ln/>
        </p:spPr>
      </p:sp>
      <p:sp>
        <p:nvSpPr>
          <p:cNvPr id="19" name="Shape 14"/>
          <p:cNvSpPr/>
          <p:nvPr/>
        </p:nvSpPr>
        <p:spPr>
          <a:xfrm>
            <a:off x="14493240" y="5623560"/>
            <a:ext cx="868680" cy="868680"/>
          </a:xfrm>
          <a:prstGeom prst="ellipse">
            <a:avLst/>
          </a:prstGeom>
          <a:solidFill>
            <a:schemeClr val="tx2"/>
          </a:solidFill>
          <a:ln/>
        </p:spPr>
      </p:sp>
      <p:pic>
        <p:nvPicPr>
          <p:cNvPr id="20" name="Image 2" descr="file-output">    </p:cNvPr>
          <p:cNvPicPr>
            <a:picLocks noChangeAspect="1"/>
          </p:cNvPicPr>
          <p:nvPr/>
        </p:nvPicPr>
        <p:blipFill>
          <a:blip r:embed="rId3"/>
          <a:stretch>
            <a:fillRect/>
          </a:stretch>
        </p:blipFill>
        <p:spPr>
          <a:xfrm>
            <a:off x="14684350" y="5814670"/>
            <a:ext cx="486461" cy="486461"/>
          </a:xfrm>
          <a:prstGeom prst="rect">
            <a:avLst/>
          </a:prstGeom>
        </p:spPr>
      </p:pic>
      <p:sp>
        <p:nvSpPr>
          <p:cNvPr id="21" name="Text 15"/>
          <p:cNvSpPr txBox="1"/>
          <p:nvPr/>
        </p:nvSpPr>
        <p:spPr>
          <a:xfrm>
            <a:off x="15590520" y="5779008"/>
            <a:ext cx="31089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Output</a:t>
            </a:r>
            <a:endParaRPr lang="en-US" sz="2700" dirty="0"/>
          </a:p>
        </p:txBody>
      </p:sp>
      <p:sp>
        <p:nvSpPr>
          <p:cNvPr id="22" name="Text 16"/>
          <p:cNvSpPr txBox="1"/>
          <p:nvPr/>
        </p:nvSpPr>
        <p:spPr>
          <a:xfrm>
            <a:off x="14493240" y="6812280"/>
            <a:ext cx="4206240" cy="3200400"/>
          </a:xfrm>
          <a:prstGeom prst="rect">
            <a:avLst/>
          </a:prstGeom>
          <a:noFill/>
          <a:ln/>
        </p:spPr>
        <p:txBody>
          <a:bodyPr wrap="square" lIns="0" tIns="0" rIns="0" bIns="0" rtlCol="0" anchor="t"/>
          <a:lstStyle/>
          <a:p>
            <a:pPr marL="381000" indent="-381000">
              <a:lnSpc>
                <a:spcPct val="100000"/>
              </a:lnSpc>
              <a:spcAft>
                <a:spcPts val="1000"/>
              </a:spcAft>
              <a:buSzPct val="100000"/>
              <a:buChar char="•"/>
            </a:pPr>
            <a:r>
              <a:rPr lang="en-US" sz="2500" dirty="0">
                <a:solidFill>
                  <a:schemeClr val="tx1"/>
                </a:solidFill>
              </a:rPr>
              <a:t>Incident report &amp; RCA</a:t>
            </a:r>
            <a:endParaRPr lang="en-US" sz="2500" dirty="0"/>
          </a:p>
          <a:p>
            <a:pPr marL="381000" indent="-381000">
              <a:lnSpc>
                <a:spcPct val="100000"/>
              </a:lnSpc>
              <a:spcAft>
                <a:spcPts val="1000"/>
              </a:spcAft>
              <a:buSzPct val="100000"/>
              <a:buChar char="•"/>
            </a:pPr>
            <a:r>
              <a:rPr lang="en-US" sz="2500" dirty="0">
                <a:solidFill>
                  <a:schemeClr val="tx1"/>
                </a:solidFill>
              </a:rPr>
              <a:t>Ranked suspect commits</a:t>
            </a:r>
            <a:endParaRPr lang="en-US" sz="2500" dirty="0"/>
          </a:p>
          <a:p>
            <a:pPr marL="381000" indent="-381000">
              <a:lnSpc>
                <a:spcPct val="100000"/>
              </a:lnSpc>
              <a:spcAft>
                <a:spcPts val="1000"/>
              </a:spcAft>
              <a:buSzPct val="100000"/>
              <a:buChar char="•"/>
            </a:pPr>
            <a:r>
              <a:rPr lang="en-US" sz="2500" dirty="0">
                <a:solidFill>
                  <a:schemeClr val="tx1"/>
                </a:solidFill>
              </a:rPr>
              <a:t>Validated code patch</a:t>
            </a:r>
            <a:endParaRPr lang="en-US" sz="2500" dirty="0"/>
          </a:p>
          <a:p>
            <a:pPr marL="381000" indent="-381000">
              <a:lnSpc>
                <a:spcPct val="100000"/>
              </a:lnSpc>
              <a:spcAft>
                <a:spcPts val="1000"/>
              </a:spcAft>
              <a:buSzPct val="100000"/>
              <a:buChar char="•"/>
            </a:pPr>
            <a:r>
              <a:rPr lang="en-US" sz="2500" dirty="0">
                <a:solidFill>
                  <a:schemeClr val="tx1"/>
                </a:solidFill>
              </a:rPr>
              <a:t>Human-approved, verified deployment</a:t>
            </a:r>
            <a:endParaRPr lang="en-US"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Motivation</a:t>
            </a:r>
            <a:endParaRPr lang="en-US" sz="6600" dirty="0"/>
          </a:p>
        </p:txBody>
      </p:sp>
      <p:sp>
        <p:nvSpPr>
          <p:cNvPr id="4" name="motivation-text-card"/>
          <p:cNvSpPr/>
          <p:nvPr/>
        </p:nvSpPr>
        <p:spPr>
          <a:xfrm>
            <a:off x="1097280" y="2148840"/>
            <a:ext cx="11521440" cy="8046720"/>
          </a:xfrm>
          <a:prstGeom prst="roundRect">
            <a:avLst>
              <a:gd name="adj" fmla="val 3409"/>
            </a:avLst>
          </a:prstGeom>
          <a:solidFill>
            <a:schemeClr val="bg1"/>
          </a:solidFill>
          <a:ln/>
        </p:spPr>
      </p:sp>
      <p:sp>
        <p:nvSpPr>
          <p:cNvPr id="5" name="Text 2"/>
          <p:cNvSpPr txBox="1"/>
          <p:nvPr/>
        </p:nvSpPr>
        <p:spPr>
          <a:xfrm>
            <a:off x="1645920" y="2606040"/>
            <a:ext cx="10424160" cy="7223760"/>
          </a:xfrm>
          <a:prstGeom prst="rect">
            <a:avLst/>
          </a:prstGeom>
          <a:noFill/>
          <a:ln/>
        </p:spPr>
        <p:txBody>
          <a:bodyPr wrap="square" lIns="0" tIns="0" rIns="0" bIns="0" rtlCol="0" anchor="ctr"/>
          <a:lstStyle/>
          <a:p>
            <a:pPr algn="just" indent="0" marL="0">
              <a:lnSpc>
                <a:spcPct val="112000"/>
              </a:lnSpc>
              <a:buNone/>
            </a:pPr>
            <a:r>
              <a:rPr lang="en-US" sz="2700" dirty="0">
                <a:solidFill>
                  <a:schemeClr val="tx1"/>
                </a:solidFill>
              </a:rPr>
              <a:t>Production incidents are among the most expensive moments in software engineering. When a service fails, engineers must search through thousands of log lines, work out which recent change caused the failure, write and test a fix, and push it through the deployment pipeline, often under severe time pressure. The tools for these steps are scattered: observability platforms stop at detection, while code repair and deployment remain manual. Recent advances in Large Language Models show that AI can explain failures and propose code fixes, but letting AI change production unchecked is unsafe. AION is motivated by the gap between these two worlds: automating the slow, repetitive investigation work while keeping deterministic validation and a human decision in front of every production deployment.</a:t>
            </a:r>
            <a:endParaRPr lang="en-US" sz="2700" dirty="0"/>
          </a:p>
        </p:txBody>
      </p:sp>
      <p:sp>
        <p:nvSpPr>
          <p:cNvPr id="6" name="motivation-point-1"/>
          <p:cNvSpPr/>
          <p:nvPr/>
        </p:nvSpPr>
        <p:spPr>
          <a:xfrm>
            <a:off x="13075920" y="2148840"/>
            <a:ext cx="5943600" cy="1783080"/>
          </a:xfrm>
          <a:prstGeom prst="roundRect">
            <a:avLst>
              <a:gd name="adj" fmla="val 15385"/>
            </a:avLst>
          </a:prstGeom>
          <a:solidFill>
            <a:schemeClr val="bg1"/>
          </a:solidFill>
          <a:ln/>
        </p:spPr>
      </p:sp>
      <p:sp>
        <p:nvSpPr>
          <p:cNvPr id="7" name="Shape 4"/>
          <p:cNvSpPr/>
          <p:nvPr/>
        </p:nvSpPr>
        <p:spPr>
          <a:xfrm>
            <a:off x="13487400" y="2560320"/>
            <a:ext cx="960120" cy="960120"/>
          </a:xfrm>
          <a:prstGeom prst="ellipse">
            <a:avLst/>
          </a:prstGeom>
          <a:solidFill>
            <a:schemeClr val="tx2"/>
          </a:solidFill>
          <a:ln/>
        </p:spPr>
      </p:sp>
      <p:pic>
        <p:nvPicPr>
          <p:cNvPr id="8" name="Image 0" descr="timer">    </p:cNvPr>
          <p:cNvPicPr>
            <a:picLocks noChangeAspect="1"/>
          </p:cNvPicPr>
          <p:nvPr/>
        </p:nvPicPr>
        <p:blipFill>
          <a:blip r:embed="rId1"/>
          <a:stretch>
            <a:fillRect/>
          </a:stretch>
        </p:blipFill>
        <p:spPr>
          <a:xfrm>
            <a:off x="13698626" y="2771546"/>
            <a:ext cx="537667" cy="537667"/>
          </a:xfrm>
          <a:prstGeom prst="rect">
            <a:avLst/>
          </a:prstGeom>
        </p:spPr>
      </p:pic>
      <p:sp>
        <p:nvSpPr>
          <p:cNvPr id="9" name="Text 5"/>
          <p:cNvSpPr txBox="1"/>
          <p:nvPr/>
        </p:nvSpPr>
        <p:spPr>
          <a:xfrm>
            <a:off x="14721840" y="2606040"/>
            <a:ext cx="4114800" cy="86868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Slow, manual resolution</a:t>
            </a:r>
            <a:endParaRPr lang="en-US" sz="2700" dirty="0"/>
          </a:p>
        </p:txBody>
      </p:sp>
      <p:sp>
        <p:nvSpPr>
          <p:cNvPr id="10" name="motivation-point-2"/>
          <p:cNvSpPr/>
          <p:nvPr/>
        </p:nvSpPr>
        <p:spPr>
          <a:xfrm>
            <a:off x="13075920" y="4206240"/>
            <a:ext cx="5943600" cy="1783080"/>
          </a:xfrm>
          <a:prstGeom prst="roundRect">
            <a:avLst>
              <a:gd name="adj" fmla="val 15385"/>
            </a:avLst>
          </a:prstGeom>
          <a:solidFill>
            <a:schemeClr val="bg1"/>
          </a:solidFill>
          <a:ln/>
        </p:spPr>
      </p:sp>
      <p:sp>
        <p:nvSpPr>
          <p:cNvPr id="11" name="Shape 7"/>
          <p:cNvSpPr/>
          <p:nvPr/>
        </p:nvSpPr>
        <p:spPr>
          <a:xfrm>
            <a:off x="13487400" y="4617720"/>
            <a:ext cx="960120" cy="960120"/>
          </a:xfrm>
          <a:prstGeom prst="ellipse">
            <a:avLst/>
          </a:prstGeom>
          <a:solidFill>
            <a:schemeClr val="tx2"/>
          </a:solidFill>
          <a:ln/>
        </p:spPr>
      </p:sp>
      <p:pic>
        <p:nvPicPr>
          <p:cNvPr id="12" name="Image 1" descr="bell-ring">    </p:cNvPr>
          <p:cNvPicPr>
            <a:picLocks noChangeAspect="1"/>
          </p:cNvPicPr>
          <p:nvPr/>
        </p:nvPicPr>
        <p:blipFill>
          <a:blip r:embed="rId2"/>
          <a:stretch>
            <a:fillRect/>
          </a:stretch>
        </p:blipFill>
        <p:spPr>
          <a:xfrm>
            <a:off x="13698626" y="4828946"/>
            <a:ext cx="537667" cy="537667"/>
          </a:xfrm>
          <a:prstGeom prst="rect">
            <a:avLst/>
          </a:prstGeom>
        </p:spPr>
      </p:pic>
      <p:sp>
        <p:nvSpPr>
          <p:cNvPr id="13" name="Text 8"/>
          <p:cNvSpPr txBox="1"/>
          <p:nvPr/>
        </p:nvSpPr>
        <p:spPr>
          <a:xfrm>
            <a:off x="14721840" y="4663440"/>
            <a:ext cx="4114800" cy="86868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Log and alert overload</a:t>
            </a:r>
            <a:endParaRPr lang="en-US" sz="2700" dirty="0"/>
          </a:p>
        </p:txBody>
      </p:sp>
      <p:sp>
        <p:nvSpPr>
          <p:cNvPr id="14" name="motivation-point-3"/>
          <p:cNvSpPr/>
          <p:nvPr/>
        </p:nvSpPr>
        <p:spPr>
          <a:xfrm>
            <a:off x="13075920" y="6263640"/>
            <a:ext cx="5943600" cy="1783080"/>
          </a:xfrm>
          <a:prstGeom prst="roundRect">
            <a:avLst>
              <a:gd name="adj" fmla="val 15385"/>
            </a:avLst>
          </a:prstGeom>
          <a:solidFill>
            <a:schemeClr val="bg1"/>
          </a:solidFill>
          <a:ln/>
        </p:spPr>
      </p:sp>
      <p:sp>
        <p:nvSpPr>
          <p:cNvPr id="15" name="Shape 10"/>
          <p:cNvSpPr/>
          <p:nvPr/>
        </p:nvSpPr>
        <p:spPr>
          <a:xfrm>
            <a:off x="13487400" y="6675120"/>
            <a:ext cx="960120" cy="960120"/>
          </a:xfrm>
          <a:prstGeom prst="ellipse">
            <a:avLst/>
          </a:prstGeom>
          <a:solidFill>
            <a:schemeClr val="tx2"/>
          </a:solidFill>
          <a:ln/>
        </p:spPr>
      </p:sp>
      <p:pic>
        <p:nvPicPr>
          <p:cNvPr id="16" name="Image 2" descr="unplug">    </p:cNvPr>
          <p:cNvPicPr>
            <a:picLocks noChangeAspect="1"/>
          </p:cNvPicPr>
          <p:nvPr/>
        </p:nvPicPr>
        <p:blipFill>
          <a:blip r:embed="rId3"/>
          <a:stretch>
            <a:fillRect/>
          </a:stretch>
        </p:blipFill>
        <p:spPr>
          <a:xfrm>
            <a:off x="13698626" y="6886346"/>
            <a:ext cx="537667" cy="537667"/>
          </a:xfrm>
          <a:prstGeom prst="rect">
            <a:avLst/>
          </a:prstGeom>
        </p:spPr>
      </p:pic>
      <p:sp>
        <p:nvSpPr>
          <p:cNvPr id="17" name="Text 11"/>
          <p:cNvSpPr txBox="1"/>
          <p:nvPr/>
        </p:nvSpPr>
        <p:spPr>
          <a:xfrm>
            <a:off x="14721840" y="6720840"/>
            <a:ext cx="4114800" cy="86868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Fragmented tooling</a:t>
            </a:r>
            <a:endParaRPr lang="en-US" sz="2700" dirty="0"/>
          </a:p>
        </p:txBody>
      </p:sp>
      <p:sp>
        <p:nvSpPr>
          <p:cNvPr id="18" name="motivation-point-4"/>
          <p:cNvSpPr/>
          <p:nvPr/>
        </p:nvSpPr>
        <p:spPr>
          <a:xfrm>
            <a:off x="13075920" y="8321040"/>
            <a:ext cx="5943600" cy="1783080"/>
          </a:xfrm>
          <a:prstGeom prst="roundRect">
            <a:avLst>
              <a:gd name="adj" fmla="val 15385"/>
            </a:avLst>
          </a:prstGeom>
          <a:solidFill>
            <a:schemeClr val="bg1"/>
          </a:solidFill>
          <a:ln/>
        </p:spPr>
      </p:sp>
      <p:sp>
        <p:nvSpPr>
          <p:cNvPr id="19" name="Shape 13"/>
          <p:cNvSpPr/>
          <p:nvPr/>
        </p:nvSpPr>
        <p:spPr>
          <a:xfrm>
            <a:off x="13487400" y="8732520"/>
            <a:ext cx="960120" cy="960120"/>
          </a:xfrm>
          <a:prstGeom prst="ellipse">
            <a:avLst/>
          </a:prstGeom>
          <a:solidFill>
            <a:schemeClr val="tx2"/>
          </a:solidFill>
          <a:ln/>
        </p:spPr>
      </p:sp>
      <p:pic>
        <p:nvPicPr>
          <p:cNvPr id="20" name="Image 3" descr="shield-alert">    </p:cNvPr>
          <p:cNvPicPr>
            <a:picLocks noChangeAspect="1"/>
          </p:cNvPicPr>
          <p:nvPr/>
        </p:nvPicPr>
        <p:blipFill>
          <a:blip r:embed="rId4"/>
          <a:stretch>
            <a:fillRect/>
          </a:stretch>
        </p:blipFill>
        <p:spPr>
          <a:xfrm>
            <a:off x="13698626" y="8943746"/>
            <a:ext cx="537667" cy="537667"/>
          </a:xfrm>
          <a:prstGeom prst="rect">
            <a:avLst/>
          </a:prstGeom>
        </p:spPr>
      </p:pic>
      <p:sp>
        <p:nvSpPr>
          <p:cNvPr id="21" name="Text 14"/>
          <p:cNvSpPr txBox="1"/>
          <p:nvPr/>
        </p:nvSpPr>
        <p:spPr>
          <a:xfrm>
            <a:off x="14721840" y="8778240"/>
            <a:ext cx="4114800" cy="86868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Unsafe automation</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Objectives of the Project</a:t>
            </a:r>
            <a:endParaRPr lang="en-US" sz="6600" dirty="0"/>
          </a:p>
        </p:txBody>
      </p:sp>
      <p:sp>
        <p:nvSpPr>
          <p:cNvPr id="4" name="objective-1"/>
          <p:cNvSpPr/>
          <p:nvPr/>
        </p:nvSpPr>
        <p:spPr>
          <a:xfrm>
            <a:off x="1463040" y="2194560"/>
            <a:ext cx="17190720" cy="1371600"/>
          </a:xfrm>
          <a:prstGeom prst="roundRect">
            <a:avLst>
              <a:gd name="adj" fmla="val 20000"/>
            </a:avLst>
          </a:prstGeom>
          <a:solidFill>
            <a:schemeClr val="bg1"/>
          </a:solidFill>
          <a:ln/>
        </p:spPr>
      </p:sp>
      <p:sp>
        <p:nvSpPr>
          <p:cNvPr id="5" name="Shape 2"/>
          <p:cNvSpPr/>
          <p:nvPr/>
        </p:nvSpPr>
        <p:spPr>
          <a:xfrm>
            <a:off x="1828800" y="2423160"/>
            <a:ext cx="914400" cy="914400"/>
          </a:xfrm>
          <a:prstGeom prst="ellipse">
            <a:avLst/>
          </a:prstGeom>
          <a:solidFill>
            <a:schemeClr val="tx2"/>
          </a:solidFill>
          <a:ln/>
        </p:spPr>
      </p:sp>
      <p:sp>
        <p:nvSpPr>
          <p:cNvPr id="6" name="Text 3"/>
          <p:cNvSpPr txBox="1"/>
          <p:nvPr/>
        </p:nvSpPr>
        <p:spPr>
          <a:xfrm>
            <a:off x="1828800" y="2423160"/>
            <a:ext cx="91440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alibri" pitchFamily="34" charset="0"/>
                <a:ea typeface="Calibri" pitchFamily="34" charset="-122"/>
                <a:cs typeface="Calibri" pitchFamily="34" charset="-120"/>
              </a:rPr>
              <a:t>1</a:t>
            </a:r>
            <a:endParaRPr lang="en-US" sz="3000" dirty="0"/>
          </a:p>
        </p:txBody>
      </p:sp>
      <p:sp>
        <p:nvSpPr>
          <p:cNvPr id="7" name="Text 4"/>
          <p:cNvSpPr txBox="1"/>
          <p:nvPr/>
        </p:nvSpPr>
        <p:spPr>
          <a:xfrm>
            <a:off x="3108960" y="2194560"/>
            <a:ext cx="15179040" cy="1371600"/>
          </a:xfrm>
          <a:prstGeom prst="rect">
            <a:avLst/>
          </a:prstGeom>
          <a:noFill/>
          <a:ln/>
        </p:spPr>
        <p:txBody>
          <a:bodyPr wrap="square" lIns="0" tIns="0" rIns="0" bIns="0" rtlCol="0" anchor="ctr"/>
          <a:lstStyle/>
          <a:p>
            <a:pPr indent="0" marL="0">
              <a:buNone/>
            </a:pPr>
            <a:r>
              <a:rPr lang="en-US" sz="2700" dirty="0">
                <a:solidFill>
                  <a:schemeClr val="tx1"/>
                </a:solidFill>
              </a:rPr>
              <a:t>To detect production incidents automatically by collecting, normalizing and deduplicating application logs and flagging error spikes.</a:t>
            </a:r>
            <a:endParaRPr lang="en-US" sz="2700" dirty="0"/>
          </a:p>
        </p:txBody>
      </p:sp>
      <p:sp>
        <p:nvSpPr>
          <p:cNvPr id="8" name="objective-2"/>
          <p:cNvSpPr/>
          <p:nvPr/>
        </p:nvSpPr>
        <p:spPr>
          <a:xfrm>
            <a:off x="1463040" y="3794760"/>
            <a:ext cx="17190720" cy="1371600"/>
          </a:xfrm>
          <a:prstGeom prst="roundRect">
            <a:avLst>
              <a:gd name="adj" fmla="val 20000"/>
            </a:avLst>
          </a:prstGeom>
          <a:solidFill>
            <a:schemeClr val="bg1"/>
          </a:solidFill>
          <a:ln/>
        </p:spPr>
      </p:sp>
      <p:sp>
        <p:nvSpPr>
          <p:cNvPr id="9" name="Shape 6"/>
          <p:cNvSpPr/>
          <p:nvPr/>
        </p:nvSpPr>
        <p:spPr>
          <a:xfrm>
            <a:off x="1828800" y="4023360"/>
            <a:ext cx="914400" cy="914400"/>
          </a:xfrm>
          <a:prstGeom prst="ellipse">
            <a:avLst/>
          </a:prstGeom>
          <a:solidFill>
            <a:schemeClr val="tx2"/>
          </a:solidFill>
          <a:ln/>
        </p:spPr>
      </p:sp>
      <p:sp>
        <p:nvSpPr>
          <p:cNvPr id="10" name="Text 7"/>
          <p:cNvSpPr txBox="1"/>
          <p:nvPr/>
        </p:nvSpPr>
        <p:spPr>
          <a:xfrm>
            <a:off x="1828800" y="4023360"/>
            <a:ext cx="91440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alibri" pitchFamily="34" charset="0"/>
                <a:ea typeface="Calibri" pitchFamily="34" charset="-122"/>
                <a:cs typeface="Calibri" pitchFamily="34" charset="-120"/>
              </a:rPr>
              <a:t>2</a:t>
            </a:r>
            <a:endParaRPr lang="en-US" sz="3000" dirty="0"/>
          </a:p>
        </p:txBody>
      </p:sp>
      <p:sp>
        <p:nvSpPr>
          <p:cNvPr id="11" name="Text 8"/>
          <p:cNvSpPr txBox="1"/>
          <p:nvPr/>
        </p:nvSpPr>
        <p:spPr>
          <a:xfrm>
            <a:off x="3108960" y="3794760"/>
            <a:ext cx="15179040" cy="1371600"/>
          </a:xfrm>
          <a:prstGeom prst="rect">
            <a:avLst/>
          </a:prstGeom>
          <a:noFill/>
          <a:ln/>
        </p:spPr>
        <p:txBody>
          <a:bodyPr wrap="square" lIns="0" tIns="0" rIns="0" bIns="0" rtlCol="0" anchor="ctr"/>
          <a:lstStyle/>
          <a:p>
            <a:pPr indent="0" marL="0">
              <a:buNone/>
            </a:pPr>
            <a:r>
              <a:rPr lang="en-US" sz="2700" dirty="0">
                <a:solidFill>
                  <a:schemeClr val="tx1"/>
                </a:solidFill>
              </a:rPr>
              <a:t>To identify the probable cause of each incident by correlating it with Git commits and deployment history.</a:t>
            </a:r>
            <a:endParaRPr lang="en-US" sz="2700" dirty="0"/>
          </a:p>
        </p:txBody>
      </p:sp>
      <p:sp>
        <p:nvSpPr>
          <p:cNvPr id="12" name="objective-3"/>
          <p:cNvSpPr/>
          <p:nvPr/>
        </p:nvSpPr>
        <p:spPr>
          <a:xfrm>
            <a:off x="1463040" y="5394960"/>
            <a:ext cx="17190720" cy="1371600"/>
          </a:xfrm>
          <a:prstGeom prst="roundRect">
            <a:avLst>
              <a:gd name="adj" fmla="val 20000"/>
            </a:avLst>
          </a:prstGeom>
          <a:solidFill>
            <a:schemeClr val="bg1"/>
          </a:solidFill>
          <a:ln/>
        </p:spPr>
      </p:sp>
      <p:sp>
        <p:nvSpPr>
          <p:cNvPr id="13" name="Shape 10"/>
          <p:cNvSpPr/>
          <p:nvPr/>
        </p:nvSpPr>
        <p:spPr>
          <a:xfrm>
            <a:off x="1828800" y="5623560"/>
            <a:ext cx="914400" cy="914400"/>
          </a:xfrm>
          <a:prstGeom prst="ellipse">
            <a:avLst/>
          </a:prstGeom>
          <a:solidFill>
            <a:schemeClr val="tx2"/>
          </a:solidFill>
          <a:ln/>
        </p:spPr>
      </p:sp>
      <p:sp>
        <p:nvSpPr>
          <p:cNvPr id="14" name="Text 11"/>
          <p:cNvSpPr txBox="1"/>
          <p:nvPr/>
        </p:nvSpPr>
        <p:spPr>
          <a:xfrm>
            <a:off x="1828800" y="5623560"/>
            <a:ext cx="91440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alibri" pitchFamily="34" charset="0"/>
                <a:ea typeface="Calibri" pitchFamily="34" charset="-122"/>
                <a:cs typeface="Calibri" pitchFamily="34" charset="-120"/>
              </a:rPr>
              <a:t>3</a:t>
            </a:r>
            <a:endParaRPr lang="en-US" sz="3000" dirty="0"/>
          </a:p>
        </p:txBody>
      </p:sp>
      <p:sp>
        <p:nvSpPr>
          <p:cNvPr id="15" name="Text 12"/>
          <p:cNvSpPr txBox="1"/>
          <p:nvPr/>
        </p:nvSpPr>
        <p:spPr>
          <a:xfrm>
            <a:off x="3108960" y="5394960"/>
            <a:ext cx="15179040" cy="1371600"/>
          </a:xfrm>
          <a:prstGeom prst="rect">
            <a:avLst/>
          </a:prstGeom>
          <a:noFill/>
          <a:ln/>
        </p:spPr>
        <p:txBody>
          <a:bodyPr wrap="square" lIns="0" tIns="0" rIns="0" bIns="0" rtlCol="0" anchor="ctr"/>
          <a:lstStyle/>
          <a:p>
            <a:pPr indent="0" marL="0">
              <a:buNone/>
            </a:pPr>
            <a:r>
              <a:rPr lang="en-US" sz="2700" dirty="0">
                <a:solidFill>
                  <a:schemeClr val="tx1"/>
                </a:solidFill>
              </a:rPr>
              <a:t>To perform evidence-based root-cause analysis and generate candidate code patches using Large Language Models.</a:t>
            </a:r>
            <a:endParaRPr lang="en-US" sz="2700" dirty="0"/>
          </a:p>
        </p:txBody>
      </p:sp>
      <p:sp>
        <p:nvSpPr>
          <p:cNvPr id="16" name="objective-4"/>
          <p:cNvSpPr/>
          <p:nvPr/>
        </p:nvSpPr>
        <p:spPr>
          <a:xfrm>
            <a:off x="1463040" y="6995160"/>
            <a:ext cx="17190720" cy="1371600"/>
          </a:xfrm>
          <a:prstGeom prst="roundRect">
            <a:avLst>
              <a:gd name="adj" fmla="val 20000"/>
            </a:avLst>
          </a:prstGeom>
          <a:solidFill>
            <a:schemeClr val="bg1"/>
          </a:solidFill>
          <a:ln/>
        </p:spPr>
      </p:sp>
      <p:sp>
        <p:nvSpPr>
          <p:cNvPr id="17" name="Shape 14"/>
          <p:cNvSpPr/>
          <p:nvPr/>
        </p:nvSpPr>
        <p:spPr>
          <a:xfrm>
            <a:off x="1828800" y="7223760"/>
            <a:ext cx="914400" cy="914400"/>
          </a:xfrm>
          <a:prstGeom prst="ellipse">
            <a:avLst/>
          </a:prstGeom>
          <a:solidFill>
            <a:schemeClr val="tx2"/>
          </a:solidFill>
          <a:ln/>
        </p:spPr>
      </p:sp>
      <p:sp>
        <p:nvSpPr>
          <p:cNvPr id="18" name="Text 15"/>
          <p:cNvSpPr txBox="1"/>
          <p:nvPr/>
        </p:nvSpPr>
        <p:spPr>
          <a:xfrm>
            <a:off x="1828800" y="7223760"/>
            <a:ext cx="91440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alibri" pitchFamily="34" charset="0"/>
                <a:ea typeface="Calibri" pitchFamily="34" charset="-122"/>
                <a:cs typeface="Calibri" pitchFamily="34" charset="-120"/>
              </a:rPr>
              <a:t>4</a:t>
            </a:r>
            <a:endParaRPr lang="en-US" sz="3000" dirty="0"/>
          </a:p>
        </p:txBody>
      </p:sp>
      <p:sp>
        <p:nvSpPr>
          <p:cNvPr id="19" name="Text 16"/>
          <p:cNvSpPr txBox="1"/>
          <p:nvPr/>
        </p:nvSpPr>
        <p:spPr>
          <a:xfrm>
            <a:off x="3108960" y="6995160"/>
            <a:ext cx="15179040" cy="1371600"/>
          </a:xfrm>
          <a:prstGeom prst="rect">
            <a:avLst/>
          </a:prstGeom>
          <a:noFill/>
          <a:ln/>
        </p:spPr>
        <p:txBody>
          <a:bodyPr wrap="square" lIns="0" tIns="0" rIns="0" bIns="0" rtlCol="0" anchor="ctr"/>
          <a:lstStyle/>
          <a:p>
            <a:pPr indent="0" marL="0">
              <a:buNone/>
            </a:pPr>
            <a:r>
              <a:rPr lang="en-US" sz="2700" dirty="0">
                <a:solidFill>
                  <a:schemeClr val="tx1"/>
                </a:solidFill>
              </a:rPr>
              <a:t>To validate every candidate patch through automated tests, staging deployment and replay of the failing requests.</a:t>
            </a:r>
            <a:endParaRPr lang="en-US" sz="2700" dirty="0"/>
          </a:p>
        </p:txBody>
      </p:sp>
      <p:sp>
        <p:nvSpPr>
          <p:cNvPr id="20" name="objective-5"/>
          <p:cNvSpPr/>
          <p:nvPr/>
        </p:nvSpPr>
        <p:spPr>
          <a:xfrm>
            <a:off x="1463040" y="8595360"/>
            <a:ext cx="17190720" cy="1371600"/>
          </a:xfrm>
          <a:prstGeom prst="roundRect">
            <a:avLst>
              <a:gd name="adj" fmla="val 20000"/>
            </a:avLst>
          </a:prstGeom>
          <a:solidFill>
            <a:schemeClr val="bg1"/>
          </a:solidFill>
          <a:ln/>
        </p:spPr>
      </p:sp>
      <p:sp>
        <p:nvSpPr>
          <p:cNvPr id="21" name="Shape 18"/>
          <p:cNvSpPr/>
          <p:nvPr/>
        </p:nvSpPr>
        <p:spPr>
          <a:xfrm>
            <a:off x="1828800" y="8823960"/>
            <a:ext cx="914400" cy="914400"/>
          </a:xfrm>
          <a:prstGeom prst="ellipse">
            <a:avLst/>
          </a:prstGeom>
          <a:solidFill>
            <a:schemeClr val="tx2"/>
          </a:solidFill>
          <a:ln/>
        </p:spPr>
      </p:sp>
      <p:sp>
        <p:nvSpPr>
          <p:cNvPr id="22" name="Text 19"/>
          <p:cNvSpPr txBox="1"/>
          <p:nvPr/>
        </p:nvSpPr>
        <p:spPr>
          <a:xfrm>
            <a:off x="1828800" y="8823960"/>
            <a:ext cx="91440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alibri" pitchFamily="34" charset="0"/>
                <a:ea typeface="Calibri" pitchFamily="34" charset="-122"/>
                <a:cs typeface="Calibri" pitchFamily="34" charset="-120"/>
              </a:rPr>
              <a:t>5</a:t>
            </a:r>
            <a:endParaRPr lang="en-US" sz="3000" dirty="0"/>
          </a:p>
        </p:txBody>
      </p:sp>
      <p:sp>
        <p:nvSpPr>
          <p:cNvPr id="23" name="Text 20"/>
          <p:cNvSpPr txBox="1"/>
          <p:nvPr/>
        </p:nvSpPr>
        <p:spPr>
          <a:xfrm>
            <a:off x="3108960" y="8595360"/>
            <a:ext cx="15179040" cy="1371600"/>
          </a:xfrm>
          <a:prstGeom prst="rect">
            <a:avLst/>
          </a:prstGeom>
          <a:noFill/>
          <a:ln/>
        </p:spPr>
        <p:txBody>
          <a:bodyPr wrap="square" lIns="0" tIns="0" rIns="0" bIns="0" rtlCol="0" anchor="ctr"/>
          <a:lstStyle/>
          <a:p>
            <a:pPr indent="0" marL="0">
              <a:buNone/>
            </a:pPr>
            <a:r>
              <a:rPr lang="en-US" sz="2700" dirty="0">
                <a:solidFill>
                  <a:schemeClr val="tx1"/>
                </a:solidFill>
              </a:rPr>
              <a:t>To deploy a fix only after human approval of the exact validated commit, keeping a complete audit trail.</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Literature Review</a:t>
            </a:r>
            <a:endParaRPr lang="en-US" sz="6600" dirty="0"/>
          </a:p>
        </p:txBody>
      </p:sp>
      <p:sp>
        <p:nvSpPr>
          <p:cNvPr id="4" name="Text 1"/>
          <p:cNvSpPr txBox="1"/>
          <p:nvPr/>
        </p:nvSpPr>
        <p:spPr>
          <a:xfrm>
            <a:off x="1828800" y="2011680"/>
            <a:ext cx="16459200" cy="731520"/>
          </a:xfrm>
          <a:prstGeom prst="rect">
            <a:avLst/>
          </a:prstGeom>
          <a:noFill/>
          <a:ln/>
        </p:spPr>
        <p:txBody>
          <a:bodyPr wrap="square" lIns="0" tIns="0" rIns="0" bIns="0" rtlCol="0" anchor="ctr"/>
          <a:lstStyle/>
          <a:p>
            <a:pPr algn="ctr" indent="0" marL="0">
              <a:buNone/>
            </a:pPr>
            <a:r>
              <a:rPr lang="en-US" sz="2600" dirty="0">
                <a:solidFill>
                  <a:schemeClr val="tx1"/>
                </a:solidFill>
              </a:rPr>
              <a:t>We reviewed 33 publications across the four research areas that AION brings together:</a:t>
            </a:r>
            <a:endParaRPr lang="en-US" sz="2600" dirty="0"/>
          </a:p>
        </p:txBody>
      </p:sp>
      <p:sp>
        <p:nvSpPr>
          <p:cNvPr id="5" name="lit-area-1"/>
          <p:cNvSpPr/>
          <p:nvPr/>
        </p:nvSpPr>
        <p:spPr>
          <a:xfrm>
            <a:off x="1097280" y="2880360"/>
            <a:ext cx="8732520" cy="2743200"/>
          </a:xfrm>
          <a:prstGeom prst="roundRect">
            <a:avLst>
              <a:gd name="adj" fmla="val 10000"/>
            </a:avLst>
          </a:prstGeom>
          <a:solidFill>
            <a:schemeClr val="bg1"/>
          </a:solidFill>
          <a:ln/>
        </p:spPr>
      </p:sp>
      <p:sp>
        <p:nvSpPr>
          <p:cNvPr id="6" name="Shape 3"/>
          <p:cNvSpPr/>
          <p:nvPr/>
        </p:nvSpPr>
        <p:spPr>
          <a:xfrm>
            <a:off x="1508760" y="3246120"/>
            <a:ext cx="868680" cy="868680"/>
          </a:xfrm>
          <a:prstGeom prst="ellipse">
            <a:avLst/>
          </a:prstGeom>
          <a:solidFill>
            <a:schemeClr val="tx2"/>
          </a:solidFill>
          <a:ln/>
        </p:spPr>
      </p:sp>
      <p:pic>
        <p:nvPicPr>
          <p:cNvPr id="7" name="Image 0" descr="scan-search">    </p:cNvPr>
          <p:cNvPicPr>
            <a:picLocks noChangeAspect="1"/>
          </p:cNvPicPr>
          <p:nvPr/>
        </p:nvPicPr>
        <p:blipFill>
          <a:blip r:embed="rId1"/>
          <a:stretch>
            <a:fillRect/>
          </a:stretch>
        </p:blipFill>
        <p:spPr>
          <a:xfrm>
            <a:off x="1699870" y="3437230"/>
            <a:ext cx="486461" cy="486461"/>
          </a:xfrm>
          <a:prstGeom prst="rect">
            <a:avLst/>
          </a:prstGeom>
        </p:spPr>
      </p:pic>
      <p:sp>
        <p:nvSpPr>
          <p:cNvPr id="8" name="Text 4"/>
          <p:cNvSpPr txBox="1"/>
          <p:nvPr/>
        </p:nvSpPr>
        <p:spPr>
          <a:xfrm>
            <a:off x="2560320" y="3319272"/>
            <a:ext cx="7040880" cy="548640"/>
          </a:xfrm>
          <a:prstGeom prst="rect">
            <a:avLst/>
          </a:prstGeom>
          <a:noFill/>
          <a:ln/>
        </p:spPr>
        <p:txBody>
          <a:bodyPr wrap="square" lIns="0" tIns="0" rIns="0" bIns="0" rtlCol="0" anchor="ctr"/>
          <a:lstStyle/>
          <a:p>
            <a:pPr indent="0" marL="0">
              <a:buNone/>
            </a:pPr>
            <a:r>
              <a:rPr lang="en-US" sz="2500" b="1" dirty="0">
                <a:solidFill>
                  <a:srgbClr val="1A1A1A"/>
                </a:solidFill>
                <a:latin typeface="Calibri" pitchFamily="34" charset="0"/>
                <a:ea typeface="Calibri" pitchFamily="34" charset="-122"/>
                <a:cs typeface="Calibri" pitchFamily="34" charset="-120"/>
              </a:rPr>
              <a:t>Log Parsing &amp; Anomaly Detection</a:t>
            </a:r>
            <a:endParaRPr lang="en-US" sz="2500" dirty="0"/>
          </a:p>
        </p:txBody>
      </p:sp>
      <p:sp>
        <p:nvSpPr>
          <p:cNvPr id="9" name="Text 5"/>
          <p:cNvSpPr txBox="1"/>
          <p:nvPr/>
        </p:nvSpPr>
        <p:spPr>
          <a:xfrm>
            <a:off x="1508760" y="4251960"/>
            <a:ext cx="7955280" cy="640080"/>
          </a:xfrm>
          <a:prstGeom prst="rect">
            <a:avLst/>
          </a:prstGeom>
          <a:noFill/>
          <a:ln/>
        </p:spPr>
        <p:txBody>
          <a:bodyPr wrap="square" lIns="0" tIns="0" rIns="0" bIns="0" rtlCol="0" anchor="ctr"/>
          <a:lstStyle/>
          <a:p>
            <a:pPr indent="0" marL="0">
              <a:buNone/>
            </a:pPr>
            <a:r>
              <a:rPr lang="en-US" sz="2300" dirty="0">
                <a:solidFill>
                  <a:schemeClr val="tx1"/>
                </a:solidFill>
              </a:rPr>
              <a:t>Turn raw logs into structured events and flag abnormal behaviour.</a:t>
            </a:r>
            <a:endParaRPr lang="en-US" sz="2300" dirty="0"/>
          </a:p>
        </p:txBody>
      </p:sp>
      <p:sp>
        <p:nvSpPr>
          <p:cNvPr id="10" name="Text 6"/>
          <p:cNvSpPr txBox="1"/>
          <p:nvPr/>
        </p:nvSpPr>
        <p:spPr>
          <a:xfrm>
            <a:off x="1508760" y="4892040"/>
            <a:ext cx="7955280" cy="548640"/>
          </a:xfrm>
          <a:prstGeom prst="rect">
            <a:avLst/>
          </a:prstGeom>
          <a:noFill/>
          <a:ln/>
        </p:spPr>
        <p:txBody>
          <a:bodyPr wrap="square" lIns="0" tIns="0" rIns="0" bIns="0" rtlCol="0" anchor="ctr"/>
          <a:lstStyle/>
          <a:p>
            <a:pPr indent="0" marL="0">
              <a:buNone/>
            </a:pPr>
            <a:r>
              <a:rPr lang="en-US" sz="1900" b="1" dirty="0">
                <a:solidFill>
                  <a:schemeClr val="accent1"/>
                </a:solidFill>
                <a:latin typeface="Calibri" pitchFamily="34" charset="0"/>
                <a:ea typeface="Calibri" pitchFamily="34" charset="-122"/>
                <a:cs typeface="Calibri" pitchFamily="34" charset="-120"/>
              </a:rPr>
              <a:t>References: [2], [3], [4], [13], [14], [16], [17], [18], [19], [20], [21]</a:t>
            </a:r>
            <a:endParaRPr lang="en-US" sz="1900" dirty="0"/>
          </a:p>
        </p:txBody>
      </p:sp>
      <p:sp>
        <p:nvSpPr>
          <p:cNvPr id="11" name="lit-area-2"/>
          <p:cNvSpPr/>
          <p:nvPr/>
        </p:nvSpPr>
        <p:spPr>
          <a:xfrm>
            <a:off x="10287000" y="2880360"/>
            <a:ext cx="8732520" cy="2743200"/>
          </a:xfrm>
          <a:prstGeom prst="roundRect">
            <a:avLst>
              <a:gd name="adj" fmla="val 10000"/>
            </a:avLst>
          </a:prstGeom>
          <a:solidFill>
            <a:schemeClr val="bg1"/>
          </a:solidFill>
          <a:ln/>
        </p:spPr>
      </p:sp>
      <p:sp>
        <p:nvSpPr>
          <p:cNvPr id="12" name="Shape 8"/>
          <p:cNvSpPr/>
          <p:nvPr/>
        </p:nvSpPr>
        <p:spPr>
          <a:xfrm>
            <a:off x="10698480" y="3246120"/>
            <a:ext cx="868680" cy="868680"/>
          </a:xfrm>
          <a:prstGeom prst="ellipse">
            <a:avLst/>
          </a:prstGeom>
          <a:solidFill>
            <a:schemeClr val="tx2"/>
          </a:solidFill>
          <a:ln/>
        </p:spPr>
      </p:sp>
      <p:pic>
        <p:nvPicPr>
          <p:cNvPr id="13" name="Image 1" descr="clipboard-list">    </p:cNvPr>
          <p:cNvPicPr>
            <a:picLocks noChangeAspect="1"/>
          </p:cNvPicPr>
          <p:nvPr/>
        </p:nvPicPr>
        <p:blipFill>
          <a:blip r:embed="rId2"/>
          <a:stretch>
            <a:fillRect/>
          </a:stretch>
        </p:blipFill>
        <p:spPr>
          <a:xfrm>
            <a:off x="10889590" y="3437230"/>
            <a:ext cx="486461" cy="486461"/>
          </a:xfrm>
          <a:prstGeom prst="rect">
            <a:avLst/>
          </a:prstGeom>
        </p:spPr>
      </p:pic>
      <p:sp>
        <p:nvSpPr>
          <p:cNvPr id="14" name="Text 9"/>
          <p:cNvSpPr txBox="1"/>
          <p:nvPr/>
        </p:nvSpPr>
        <p:spPr>
          <a:xfrm>
            <a:off x="11750040" y="3319272"/>
            <a:ext cx="7040880" cy="548640"/>
          </a:xfrm>
          <a:prstGeom prst="rect">
            <a:avLst/>
          </a:prstGeom>
          <a:noFill/>
          <a:ln/>
        </p:spPr>
        <p:txBody>
          <a:bodyPr wrap="square" lIns="0" tIns="0" rIns="0" bIns="0" rtlCol="0" anchor="ctr"/>
          <a:lstStyle/>
          <a:p>
            <a:pPr indent="0" marL="0">
              <a:buNone/>
            </a:pPr>
            <a:r>
              <a:rPr lang="en-US" sz="2500" b="1" dirty="0">
                <a:solidFill>
                  <a:srgbClr val="1A1A1A"/>
                </a:solidFill>
                <a:latin typeface="Calibri" pitchFamily="34" charset="0"/>
                <a:ea typeface="Calibri" pitchFamily="34" charset="-122"/>
                <a:cs typeface="Calibri" pitchFamily="34" charset="-120"/>
              </a:rPr>
              <a:t>AIOps &amp; Incident Management</a:t>
            </a:r>
            <a:endParaRPr lang="en-US" sz="2500" dirty="0"/>
          </a:p>
        </p:txBody>
      </p:sp>
      <p:sp>
        <p:nvSpPr>
          <p:cNvPr id="15" name="Text 10"/>
          <p:cNvSpPr txBox="1"/>
          <p:nvPr/>
        </p:nvSpPr>
        <p:spPr>
          <a:xfrm>
            <a:off x="10698480" y="4251960"/>
            <a:ext cx="7955280" cy="640080"/>
          </a:xfrm>
          <a:prstGeom prst="rect">
            <a:avLst/>
          </a:prstGeom>
          <a:noFill/>
          <a:ln/>
        </p:spPr>
        <p:txBody>
          <a:bodyPr wrap="square" lIns="0" tIns="0" rIns="0" bIns="0" rtlCol="0" anchor="ctr"/>
          <a:lstStyle/>
          <a:p>
            <a:pPr indent="0" marL="0">
              <a:buNone/>
            </a:pPr>
            <a:r>
              <a:rPr lang="en-US" sz="2300" dirty="0">
                <a:solidFill>
                  <a:schemeClr val="tx1"/>
                </a:solidFill>
              </a:rPr>
              <a:t>Use AI and LLMs to diagnose and manage cloud incidents.</a:t>
            </a:r>
            <a:endParaRPr lang="en-US" sz="2300" dirty="0"/>
          </a:p>
        </p:txBody>
      </p:sp>
      <p:sp>
        <p:nvSpPr>
          <p:cNvPr id="16" name="Text 11"/>
          <p:cNvSpPr txBox="1"/>
          <p:nvPr/>
        </p:nvSpPr>
        <p:spPr>
          <a:xfrm>
            <a:off x="10698480" y="4892040"/>
            <a:ext cx="7955280" cy="548640"/>
          </a:xfrm>
          <a:prstGeom prst="rect">
            <a:avLst/>
          </a:prstGeom>
          <a:noFill/>
          <a:ln/>
        </p:spPr>
        <p:txBody>
          <a:bodyPr wrap="square" lIns="0" tIns="0" rIns="0" bIns="0" rtlCol="0" anchor="ctr"/>
          <a:lstStyle/>
          <a:p>
            <a:pPr indent="0" marL="0">
              <a:buNone/>
            </a:pPr>
            <a:r>
              <a:rPr lang="en-US" sz="1900" b="1" dirty="0">
                <a:solidFill>
                  <a:schemeClr val="accent1"/>
                </a:solidFill>
                <a:latin typeface="Calibri" pitchFamily="34" charset="0"/>
                <a:ea typeface="Calibri" pitchFamily="34" charset="-122"/>
                <a:cs typeface="Calibri" pitchFamily="34" charset="-120"/>
              </a:rPr>
              <a:t>References: [1], [7], [10], [12], [15], [22], [23]</a:t>
            </a:r>
            <a:endParaRPr lang="en-US" sz="1900" dirty="0"/>
          </a:p>
        </p:txBody>
      </p:sp>
      <p:sp>
        <p:nvSpPr>
          <p:cNvPr id="17" name="lit-area-3"/>
          <p:cNvSpPr/>
          <p:nvPr/>
        </p:nvSpPr>
        <p:spPr>
          <a:xfrm>
            <a:off x="1097280" y="5897880"/>
            <a:ext cx="8732520" cy="2743200"/>
          </a:xfrm>
          <a:prstGeom prst="roundRect">
            <a:avLst>
              <a:gd name="adj" fmla="val 10000"/>
            </a:avLst>
          </a:prstGeom>
          <a:solidFill>
            <a:schemeClr val="bg1"/>
          </a:solidFill>
          <a:ln/>
        </p:spPr>
      </p:sp>
      <p:sp>
        <p:nvSpPr>
          <p:cNvPr id="18" name="Shape 13"/>
          <p:cNvSpPr/>
          <p:nvPr/>
        </p:nvSpPr>
        <p:spPr>
          <a:xfrm>
            <a:off x="1508760" y="6263640"/>
            <a:ext cx="868680" cy="868680"/>
          </a:xfrm>
          <a:prstGeom prst="ellipse">
            <a:avLst/>
          </a:prstGeom>
          <a:solidFill>
            <a:schemeClr val="tx2"/>
          </a:solidFill>
          <a:ln/>
        </p:spPr>
      </p:sp>
      <p:pic>
        <p:nvPicPr>
          <p:cNvPr id="19" name="Image 2" descr="git-branch">    </p:cNvPr>
          <p:cNvPicPr>
            <a:picLocks noChangeAspect="1"/>
          </p:cNvPicPr>
          <p:nvPr/>
        </p:nvPicPr>
        <p:blipFill>
          <a:blip r:embed="rId3"/>
          <a:stretch>
            <a:fillRect/>
          </a:stretch>
        </p:blipFill>
        <p:spPr>
          <a:xfrm>
            <a:off x="1699870" y="6454750"/>
            <a:ext cx="486461" cy="486461"/>
          </a:xfrm>
          <a:prstGeom prst="rect">
            <a:avLst/>
          </a:prstGeom>
        </p:spPr>
      </p:pic>
      <p:sp>
        <p:nvSpPr>
          <p:cNvPr id="20" name="Text 14"/>
          <p:cNvSpPr txBox="1"/>
          <p:nvPr/>
        </p:nvSpPr>
        <p:spPr>
          <a:xfrm>
            <a:off x="2560320" y="6336792"/>
            <a:ext cx="7040880" cy="548640"/>
          </a:xfrm>
          <a:prstGeom prst="rect">
            <a:avLst/>
          </a:prstGeom>
          <a:noFill/>
          <a:ln/>
        </p:spPr>
        <p:txBody>
          <a:bodyPr wrap="square" lIns="0" tIns="0" rIns="0" bIns="0" rtlCol="0" anchor="ctr"/>
          <a:lstStyle/>
          <a:p>
            <a:pPr indent="0" marL="0">
              <a:buNone/>
            </a:pPr>
            <a:r>
              <a:rPr lang="en-US" sz="2500" b="1" dirty="0">
                <a:solidFill>
                  <a:srgbClr val="1A1A1A"/>
                </a:solidFill>
                <a:latin typeface="Calibri" pitchFamily="34" charset="0"/>
                <a:ea typeface="Calibri" pitchFamily="34" charset="-122"/>
                <a:cs typeface="Calibri" pitchFamily="34" charset="-120"/>
              </a:rPr>
              <a:t>Root-Cause Localisation &amp; Change Analysis</a:t>
            </a:r>
            <a:endParaRPr lang="en-US" sz="2500" dirty="0"/>
          </a:p>
        </p:txBody>
      </p:sp>
      <p:sp>
        <p:nvSpPr>
          <p:cNvPr id="21" name="Text 15"/>
          <p:cNvSpPr txBox="1"/>
          <p:nvPr/>
        </p:nvSpPr>
        <p:spPr>
          <a:xfrm>
            <a:off x="1508760" y="7269480"/>
            <a:ext cx="7955280" cy="640080"/>
          </a:xfrm>
          <a:prstGeom prst="rect">
            <a:avLst/>
          </a:prstGeom>
          <a:noFill/>
          <a:ln/>
        </p:spPr>
        <p:txBody>
          <a:bodyPr wrap="square" lIns="0" tIns="0" rIns="0" bIns="0" rtlCol="0" anchor="ctr"/>
          <a:lstStyle/>
          <a:p>
            <a:pPr indent="0" marL="0">
              <a:buNone/>
            </a:pPr>
            <a:r>
              <a:rPr lang="en-US" sz="2300" dirty="0">
                <a:solidFill>
                  <a:schemeClr val="tx1"/>
                </a:solidFill>
              </a:rPr>
              <a:t>Locate the faulty service or the change that introduced a failure.</a:t>
            </a:r>
            <a:endParaRPr lang="en-US" sz="2300" dirty="0"/>
          </a:p>
        </p:txBody>
      </p:sp>
      <p:sp>
        <p:nvSpPr>
          <p:cNvPr id="22" name="Text 16"/>
          <p:cNvSpPr txBox="1"/>
          <p:nvPr/>
        </p:nvSpPr>
        <p:spPr>
          <a:xfrm>
            <a:off x="1508760" y="7909560"/>
            <a:ext cx="7955280" cy="548640"/>
          </a:xfrm>
          <a:prstGeom prst="rect">
            <a:avLst/>
          </a:prstGeom>
          <a:noFill/>
          <a:ln/>
        </p:spPr>
        <p:txBody>
          <a:bodyPr wrap="square" lIns="0" tIns="0" rIns="0" bIns="0" rtlCol="0" anchor="ctr"/>
          <a:lstStyle/>
          <a:p>
            <a:pPr indent="0" marL="0">
              <a:buNone/>
            </a:pPr>
            <a:r>
              <a:rPr lang="en-US" sz="1900" b="1" dirty="0">
                <a:solidFill>
                  <a:schemeClr val="accent1"/>
                </a:solidFill>
                <a:latin typeface="Calibri" pitchFamily="34" charset="0"/>
                <a:ea typeface="Calibri" pitchFamily="34" charset="-122"/>
                <a:cs typeface="Calibri" pitchFamily="34" charset="-120"/>
              </a:rPr>
              <a:t>References: [5], [6], [24], [25], [26]</a:t>
            </a:r>
            <a:endParaRPr lang="en-US" sz="1900" dirty="0"/>
          </a:p>
        </p:txBody>
      </p:sp>
      <p:sp>
        <p:nvSpPr>
          <p:cNvPr id="23" name="lit-area-4"/>
          <p:cNvSpPr/>
          <p:nvPr/>
        </p:nvSpPr>
        <p:spPr>
          <a:xfrm>
            <a:off x="10287000" y="5897880"/>
            <a:ext cx="8732520" cy="2743200"/>
          </a:xfrm>
          <a:prstGeom prst="roundRect">
            <a:avLst>
              <a:gd name="adj" fmla="val 10000"/>
            </a:avLst>
          </a:prstGeom>
          <a:solidFill>
            <a:schemeClr val="bg1"/>
          </a:solidFill>
          <a:ln/>
        </p:spPr>
      </p:sp>
      <p:sp>
        <p:nvSpPr>
          <p:cNvPr id="24" name="Shape 18"/>
          <p:cNvSpPr/>
          <p:nvPr/>
        </p:nvSpPr>
        <p:spPr>
          <a:xfrm>
            <a:off x="10698480" y="6263640"/>
            <a:ext cx="868680" cy="868680"/>
          </a:xfrm>
          <a:prstGeom prst="ellipse">
            <a:avLst/>
          </a:prstGeom>
          <a:solidFill>
            <a:schemeClr val="tx2"/>
          </a:solidFill>
          <a:ln/>
        </p:spPr>
      </p:sp>
      <p:pic>
        <p:nvPicPr>
          <p:cNvPr id="25" name="Image 3" descr="file-code-2">    </p:cNvPr>
          <p:cNvPicPr>
            <a:picLocks noChangeAspect="1"/>
          </p:cNvPicPr>
          <p:nvPr/>
        </p:nvPicPr>
        <p:blipFill>
          <a:blip r:embed="rId4"/>
          <a:stretch>
            <a:fillRect/>
          </a:stretch>
        </p:blipFill>
        <p:spPr>
          <a:xfrm>
            <a:off x="10889590" y="6454750"/>
            <a:ext cx="486461" cy="486461"/>
          </a:xfrm>
          <a:prstGeom prst="rect">
            <a:avLst/>
          </a:prstGeom>
        </p:spPr>
      </p:pic>
      <p:sp>
        <p:nvSpPr>
          <p:cNvPr id="26" name="Text 19"/>
          <p:cNvSpPr txBox="1"/>
          <p:nvPr/>
        </p:nvSpPr>
        <p:spPr>
          <a:xfrm>
            <a:off x="11750040" y="6336792"/>
            <a:ext cx="7040880" cy="548640"/>
          </a:xfrm>
          <a:prstGeom prst="rect">
            <a:avLst/>
          </a:prstGeom>
          <a:noFill/>
          <a:ln/>
        </p:spPr>
        <p:txBody>
          <a:bodyPr wrap="square" lIns="0" tIns="0" rIns="0" bIns="0" rtlCol="0" anchor="ctr"/>
          <a:lstStyle/>
          <a:p>
            <a:pPr indent="0" marL="0">
              <a:buNone/>
            </a:pPr>
            <a:r>
              <a:rPr lang="en-US" sz="2500" b="1" dirty="0">
                <a:solidFill>
                  <a:srgbClr val="1A1A1A"/>
                </a:solidFill>
                <a:latin typeface="Calibri" pitchFamily="34" charset="0"/>
                <a:ea typeface="Calibri" pitchFamily="34" charset="-122"/>
                <a:cs typeface="Calibri" pitchFamily="34" charset="-120"/>
              </a:rPr>
              <a:t>Automated Program Repair &amp; LLM Agents</a:t>
            </a:r>
            <a:endParaRPr lang="en-US" sz="2500" dirty="0"/>
          </a:p>
        </p:txBody>
      </p:sp>
      <p:sp>
        <p:nvSpPr>
          <p:cNvPr id="27" name="Text 20"/>
          <p:cNvSpPr txBox="1"/>
          <p:nvPr/>
        </p:nvSpPr>
        <p:spPr>
          <a:xfrm>
            <a:off x="10698480" y="7269480"/>
            <a:ext cx="7955280" cy="640080"/>
          </a:xfrm>
          <a:prstGeom prst="rect">
            <a:avLst/>
          </a:prstGeom>
          <a:noFill/>
          <a:ln/>
        </p:spPr>
        <p:txBody>
          <a:bodyPr wrap="square" lIns="0" tIns="0" rIns="0" bIns="0" rtlCol="0" anchor="ctr"/>
          <a:lstStyle/>
          <a:p>
            <a:pPr indent="0" marL="0">
              <a:buNone/>
            </a:pPr>
            <a:r>
              <a:rPr lang="en-US" sz="2300" dirty="0">
                <a:solidFill>
                  <a:schemeClr val="tx1"/>
                </a:solidFill>
              </a:rPr>
              <a:t>Generate and validate code fixes with learned models and LLM agents.</a:t>
            </a:r>
            <a:endParaRPr lang="en-US" sz="2300" dirty="0"/>
          </a:p>
        </p:txBody>
      </p:sp>
      <p:sp>
        <p:nvSpPr>
          <p:cNvPr id="28" name="Text 21"/>
          <p:cNvSpPr txBox="1"/>
          <p:nvPr/>
        </p:nvSpPr>
        <p:spPr>
          <a:xfrm>
            <a:off x="10698480" y="7909560"/>
            <a:ext cx="7955280" cy="548640"/>
          </a:xfrm>
          <a:prstGeom prst="rect">
            <a:avLst/>
          </a:prstGeom>
          <a:noFill/>
          <a:ln/>
        </p:spPr>
        <p:txBody>
          <a:bodyPr wrap="square" lIns="0" tIns="0" rIns="0" bIns="0" rtlCol="0" anchor="ctr"/>
          <a:lstStyle/>
          <a:p>
            <a:pPr indent="0" marL="0">
              <a:buNone/>
            </a:pPr>
            <a:r>
              <a:rPr lang="en-US" sz="1900" b="1" dirty="0">
                <a:solidFill>
                  <a:schemeClr val="accent1"/>
                </a:solidFill>
                <a:latin typeface="Calibri" pitchFamily="34" charset="0"/>
                <a:ea typeface="Calibri" pitchFamily="34" charset="-122"/>
                <a:cs typeface="Calibri" pitchFamily="34" charset="-120"/>
              </a:rPr>
              <a:t>References: [8], [9], [11], [27], [28], [29], [30], [31], [32], [33]</a:t>
            </a:r>
            <a:endParaRPr lang="en-US" sz="1900" dirty="0"/>
          </a:p>
        </p:txBody>
      </p:sp>
      <p:sp>
        <p:nvSpPr>
          <p:cNvPr id="29" name="lit-gap"/>
          <p:cNvSpPr/>
          <p:nvPr/>
        </p:nvSpPr>
        <p:spPr>
          <a:xfrm>
            <a:off x="1097280" y="9006840"/>
            <a:ext cx="17922240" cy="1188720"/>
          </a:xfrm>
          <a:prstGeom prst="roundRect">
            <a:avLst>
              <a:gd name="adj" fmla="val 23077"/>
            </a:avLst>
          </a:prstGeom>
          <a:solidFill>
            <a:schemeClr val="bg1"/>
          </a:solidFill>
          <a:ln/>
        </p:spPr>
      </p:sp>
      <p:sp>
        <p:nvSpPr>
          <p:cNvPr id="30" name="Text 23"/>
          <p:cNvSpPr txBox="1"/>
          <p:nvPr/>
        </p:nvSpPr>
        <p:spPr>
          <a:xfrm>
            <a:off x="1554480" y="9006840"/>
            <a:ext cx="17007840" cy="1188720"/>
          </a:xfrm>
          <a:prstGeom prst="rect">
            <a:avLst/>
          </a:prstGeom>
          <a:noFill/>
          <a:ln/>
        </p:spPr>
        <p:txBody>
          <a:bodyPr wrap="square" lIns="0" tIns="0" rIns="0" bIns="0" rtlCol="0" anchor="ctr"/>
          <a:lstStyle/>
          <a:p>
            <a:pPr indent="0" marL="0">
              <a:buNone/>
            </a:pPr>
            <a:r>
              <a:rPr lang="en-US" sz="2300" b="1" dirty="0">
                <a:solidFill>
                  <a:schemeClr val="tx1"/>
                </a:solidFill>
              </a:rPr>
              <a:t>Research gap: </a:t>
            </a:r>
            <a:pPr indent="0" marL="0">
              <a:buNone/>
            </a:pPr>
            <a:r>
              <a:rPr lang="en-US" sz="2300" dirty="0">
                <a:solidFill>
                  <a:schemeClr val="tx1"/>
                </a:solidFill>
              </a:rPr>
              <a:t>each area solves one stage in isolation. No reviewed work connects live log detection, change correlation, LLM diagnosis, validated repair and human-approved deployment in one workflow.</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Literature Review: Log Analysis</a:t>
            </a:r>
            <a:endParaRPr lang="en-US" sz="6600" dirty="0"/>
          </a:p>
        </p:txBody>
      </p:sp>
      <p:sp>
        <p:nvSpPr>
          <p:cNvPr id="4" name="lit-card"/>
          <p:cNvSpPr/>
          <p:nvPr/>
        </p:nvSpPr>
        <p:spPr>
          <a:xfrm>
            <a:off x="1097280" y="2103120"/>
            <a:ext cx="17922240" cy="8183880"/>
          </a:xfrm>
          <a:prstGeom prst="roundRect">
            <a:avLst>
              <a:gd name="adj" fmla="val 5028"/>
            </a:avLst>
          </a:prstGeom>
          <a:solidFill>
            <a:schemeClr val="bg1"/>
          </a:solidFill>
          <a:ln w="15875">
            <a:solidFill>
              <a:srgbClr val="333333"/>
            </a:solidFill>
            <a:prstDash val="solid"/>
          </a:ln>
        </p:spPr>
      </p:sp>
      <p:graphicFrame>
        <p:nvGraphicFramePr>
          <p:cNvPr id="8" name="lit-table"/>
          <p:cNvGraphicFramePr>
            <a:graphicFrameLocks noGrp="1"/>
          </p:cNvGraphicFramePr>
          <p:nvPr>
            <p:extLst>
              <p:ext uri="{D42A27DB-BD31-4B8C-83A1-F6EECF244321}">
                <p14:modId xmlns:p14="http://schemas.microsoft.com/office/powerpoint/2010/main" val="1579011935"/>
              </p:ext>
            </p:extLst>
          </p:nvPr>
        </p:nvGraphicFramePr>
        <p:xfrm>
          <a:off x="1325880" y="2240280"/>
          <a:ext cx="17465040" cy="914400"/>
        </p:xfrm>
        <a:graphic>
          <a:graphicData uri="http://schemas.openxmlformats.org/drawingml/2006/table">
            <a:tbl>
              <a:tblPr/>
              <a:tblGrid>
                <a:gridCol w="914400"/>
                <a:gridCol w="4754880"/>
                <a:gridCol w="2377440"/>
                <a:gridCol w="5029200"/>
                <a:gridCol w="4389120"/>
              </a:tblGrid>
              <a:tr h="685800">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Ref.</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Paper &amp; Authors</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Venue (Year)</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Contribution</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Gap w.r.t. AION</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Drain: Online Log Parsing with Fixed Depth Tree (P. He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IEEE ICWS (2017)</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Online parser that groups log lines into templates using a fixed-depth tree.</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Parsing only; no diagnosis or fix.</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[3]</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DeepLog: Anomaly Detection from System Logs (M. Du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ACM CCS (2017)</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LSTM learns normal log sequences and flags deviations.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Detection only; needs training on normal logs.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[17]</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 Survey on Automated Log Analysis for Reliability Engineering (S. He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ACM CSUR (2021)</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Reviews 158 papers across logging, parsing, anomaly detection and diagnosis.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Survey; remediation out of scope.</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[18]</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Log-based Anomaly Detection Without Log Parsing (V.-H. Le, H. Zhang)</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IEEE/ACM ASE (2021)</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NeuralLog: semantic vectors + Transformer, F1 &gt; 0.95 on public datasets.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Detection only; no root cause.</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[21]</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LILAC: Log Parsing using LLMs with Adaptive Parsing Cache (Z. Jiang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ACM FSE (2024)</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LLM parsing with a template cache; large accuracy gain, far fewer LLM queries.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Parsing only.</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[14]</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Log Anomaly Detection in AIOps using LLMs (M. De la Cruz Cabello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Systems &amp; Soft Computing (2026)</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Locally run LogBERT detects anomalous syslog sequences in real time.</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No root cause or fix.</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Literature Review: AIOps &amp; Root Cause</a:t>
            </a:r>
            <a:endParaRPr lang="en-US" sz="6600" dirty="0"/>
          </a:p>
        </p:txBody>
      </p:sp>
      <p:sp>
        <p:nvSpPr>
          <p:cNvPr id="4" name="lit-card"/>
          <p:cNvSpPr/>
          <p:nvPr/>
        </p:nvSpPr>
        <p:spPr>
          <a:xfrm>
            <a:off x="1097280" y="2103120"/>
            <a:ext cx="17922240" cy="8183880"/>
          </a:xfrm>
          <a:prstGeom prst="roundRect">
            <a:avLst>
              <a:gd name="adj" fmla="val 5028"/>
            </a:avLst>
          </a:prstGeom>
          <a:solidFill>
            <a:schemeClr val="bg1"/>
          </a:solidFill>
          <a:ln w="15875">
            <a:solidFill>
              <a:srgbClr val="333333"/>
            </a:solidFill>
            <a:prstDash val="solid"/>
          </a:ln>
        </p:spPr>
      </p:sp>
      <p:graphicFrame>
        <p:nvGraphicFramePr>
          <p:cNvPr id="9" name="lit-table"/>
          <p:cNvGraphicFramePr>
            <a:graphicFrameLocks noGrp="1"/>
          </p:cNvGraphicFramePr>
          <p:nvPr>
            <p:extLst>
              <p:ext uri="{D42A27DB-BD31-4B8C-83A1-F6EECF244321}">
                <p14:modId xmlns:p14="http://schemas.microsoft.com/office/powerpoint/2010/main" val="1579011935"/>
              </p:ext>
            </p:extLst>
          </p:nvPr>
        </p:nvGraphicFramePr>
        <p:xfrm>
          <a:off x="1325880" y="2240280"/>
          <a:ext cx="17465040" cy="914400"/>
        </p:xfrm>
        <a:graphic>
          <a:graphicData uri="http://schemas.openxmlformats.org/drawingml/2006/table">
            <a:tbl>
              <a:tblPr/>
              <a:tblGrid>
                <a:gridCol w="914400"/>
                <a:gridCol w="4754880"/>
                <a:gridCol w="2377440"/>
                <a:gridCol w="5029200"/>
                <a:gridCol w="4389120"/>
              </a:tblGrid>
              <a:tr h="685800">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Ref.</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Paper &amp; Authors</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Venue (Year)</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Contribution</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Gap w.r.t. AION</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[1]</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 Survey of AIOps Methods for Failure Management (P. Notaro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ACM TIST (2021)</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Taxonomy of AIOps methods for failure prevention, detection, RCA and remediation.</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Survey; stages studied separately.</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[22]</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Towards Intelligent Incident Management (Z. Chen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ESEC/FSE (2020)</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Two-year study of Microsoft incident management; IcM BRAIN framework.</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Proprietary; no code repair.</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[23]</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Recommending Root-Cause and Mitigation Steps using LLMs (T. Ahmed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ICSE (2023)</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Evaluates GPT-3.x on 40,000+ Microsoft incidents.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Uses incident text only; no validated fix.</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[7]</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Automatic Root Cause Analysis via LLMs for Cloud Incidents (Y. Chen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EuroSys (2024)</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LLM-based root-cause analysis for cloud incidents.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Diagnosis only.</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[24]</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Anomaly Detection and Failure RCA in (Micro)Service Applications (J. Soldani, A. Brogi)</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ACM CSUR (2022)</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Survey of anomaly detection and RCA in multi-service apps.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Survey; no remediation.</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[26]</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When Do Changes Induce Fixes? (J. Śliwerski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MSR (2005)</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Links version history to bug reports to find fix-inducing changes.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Offline, after the fact.</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Literature Review: Program Repair</a:t>
            </a:r>
            <a:endParaRPr lang="en-US" sz="6600" dirty="0"/>
          </a:p>
        </p:txBody>
      </p:sp>
      <p:sp>
        <p:nvSpPr>
          <p:cNvPr id="4" name="lit-card"/>
          <p:cNvSpPr/>
          <p:nvPr/>
        </p:nvSpPr>
        <p:spPr>
          <a:xfrm>
            <a:off x="1097280" y="2103120"/>
            <a:ext cx="17922240" cy="8183880"/>
          </a:xfrm>
          <a:prstGeom prst="roundRect">
            <a:avLst>
              <a:gd name="adj" fmla="val 5028"/>
            </a:avLst>
          </a:prstGeom>
          <a:solidFill>
            <a:schemeClr val="bg1"/>
          </a:solidFill>
          <a:ln w="15875">
            <a:solidFill>
              <a:srgbClr val="333333"/>
            </a:solidFill>
            <a:prstDash val="solid"/>
          </a:ln>
        </p:spPr>
      </p:sp>
      <p:graphicFrame>
        <p:nvGraphicFramePr>
          <p:cNvPr id="10" name="lit-table"/>
          <p:cNvGraphicFramePr>
            <a:graphicFrameLocks noGrp="1"/>
          </p:cNvGraphicFramePr>
          <p:nvPr>
            <p:extLst>
              <p:ext uri="{D42A27DB-BD31-4B8C-83A1-F6EECF244321}">
                <p14:modId xmlns:p14="http://schemas.microsoft.com/office/powerpoint/2010/main" val="1579011935"/>
              </p:ext>
            </p:extLst>
          </p:nvPr>
        </p:nvGraphicFramePr>
        <p:xfrm>
          <a:off x="1325880" y="2240280"/>
          <a:ext cx="17465040" cy="914400"/>
        </p:xfrm>
        <a:graphic>
          <a:graphicData uri="http://schemas.openxmlformats.org/drawingml/2006/table">
            <a:tbl>
              <a:tblPr/>
              <a:tblGrid>
                <a:gridCol w="914400"/>
                <a:gridCol w="4754880"/>
                <a:gridCol w="2377440"/>
                <a:gridCol w="5029200"/>
                <a:gridCol w="4389120"/>
              </a:tblGrid>
              <a:tr h="685800">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Ref.</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Paper &amp; Authors</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Venue (Year)</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Contribution</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c>
                  <a:txBody>
                    <a:bodyPr/>
                    <a:lstStyle/>
                    <a:p>
                      <a:pPr algn="ctr" indent="0" marL="0">
                        <a:buNone/>
                      </a:pPr>
                      <a:r>
                        <a:rPr lang="en-US" sz="2100" b="1" dirty="0">
                          <a:solidFill>
                            <a:schemeClr val="tx1"/>
                          </a:solidFill>
                          <a:latin typeface="Calibri" pitchFamily="34" charset="0"/>
                          <a:ea typeface="Calibri" pitchFamily="34" charset="-122"/>
                          <a:cs typeface="Calibri" pitchFamily="34" charset="-120"/>
                        </a:rPr>
                        <a:t>Gap w.r.t. AION</a:t>
                      </a:r>
                      <a:endParaRPr lang="en-US" sz="2100" dirty="0">
                        <a:latin typeface="Calibri" charset="0"/>
                        <a:ea typeface="Calibri" charset="0"/>
                        <a:cs typeface="Calibri"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333333"/>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[27]</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Automated Program Repair (C. Le Goues, M. Pradel, A. Roychoudhury)</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Comm. ACM (2019)</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Review of search-, semantics- and learning-based repair.</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Overview; no live telemetry.</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[29]</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Automated Program Repair in the Era of Large Pre-trained LMs (C. S. Xia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ICSE (2023)</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Studies 9 models (125M–20B) on 5 datasets; LLMs beat earlier APR tools.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Benchmark bugs only.</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[8]</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RepairAgent: An Autonomous, LLM-Based Agent for Program Repair (I. Bouzenia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ICSE (2025)</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Agent fixes 164 Defects4J bugs using tools and tests.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~270K tokens per bug; benchmark bugs.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[30]</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SWE-bench: Can LMs Resolve Real-World GitHub Issues? (C. E. Jimenez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ICLR (2024)</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Benchmark of 2,294 real GitHub issues from 12 Python repos.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Issue-driven; no production signal.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[32]</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AutoCodeRover: Autonomous Program Improvement (Y. Zhang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ISSTA (2024)</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AST-aware code search + LLM; 19% on SWE-bench lite at ~$0.43 per issue.</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No deployment or approval gate.</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r h="1207008">
                <a:tc>
                  <a:txBody>
                    <a:bodyPr/>
                    <a:lstStyle/>
                    <a:p>
                      <a:pPr algn="ctr" indent="0" marL="0">
                        <a:buNone/>
                      </a:pPr>
                      <a:r>
                        <a:rPr lang="en-US" sz="1800" b="1" dirty="0">
                          <a:solidFill>
                            <a:schemeClr val="tx1"/>
                          </a:solidFill>
                          <a:latin typeface="Cambria" pitchFamily="34" charset="0"/>
                          <a:ea typeface="Cambria" pitchFamily="34" charset="-122"/>
                          <a:cs typeface="Cambria" pitchFamily="34" charset="-120"/>
                        </a:rPr>
                        <a:t>[11]</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LLM for Automated Vulnerability Repair (U. Kulsum et al.)</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algn="ctr" indent="0" marL="0">
                        <a:buNone/>
                      </a:pPr>
                      <a:r>
                        <a:rPr lang="en-US" sz="1800" dirty="0">
                          <a:solidFill>
                            <a:schemeClr val="tx1"/>
                          </a:solidFill>
                          <a:latin typeface="Cambria" pitchFamily="34" charset="0"/>
                          <a:ea typeface="Cambria" pitchFamily="34" charset="-122"/>
                          <a:cs typeface="Cambria" pitchFamily="34" charset="-120"/>
                        </a:rPr>
                        <a:t>ACM AIware (2024)</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Reasoning and patch-validation feedback improve LLM fixes.</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c>
                  <a:txBody>
                    <a:bodyPr/>
                    <a:lstStyle/>
                    <a:p>
                      <a:pPr indent="0" marL="0">
                        <a:buNone/>
                      </a:pPr>
                      <a:r>
                        <a:rPr lang="en-US" sz="1800" dirty="0">
                          <a:solidFill>
                            <a:schemeClr val="tx1"/>
                          </a:solidFill>
                          <a:latin typeface="Cambria" pitchFamily="34" charset="0"/>
                          <a:ea typeface="Cambria" pitchFamily="34" charset="-122"/>
                          <a:cs typeface="Cambria" pitchFamily="34" charset="-120"/>
                        </a:rPr>
                        <a:t>Vulnerabilities only; no deployment.</a:t>
                      </a:r>
                      <a:endParaRPr lang="en-US" sz="1800" dirty="0">
                        <a:latin typeface="Cambria" charset="0"/>
                        <a:ea typeface="Cambria" charset="0"/>
                        <a:cs typeface="Cambria"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6CCB6"/>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Feasibility Study</a:t>
            </a:r>
            <a:endParaRPr lang="en-US" sz="6600" dirty="0"/>
          </a:p>
        </p:txBody>
      </p:sp>
      <p:sp>
        <p:nvSpPr>
          <p:cNvPr id="4" name="feasibility-1"/>
          <p:cNvSpPr/>
          <p:nvPr/>
        </p:nvSpPr>
        <p:spPr>
          <a:xfrm>
            <a:off x="1097280" y="2194560"/>
            <a:ext cx="8732520" cy="3840480"/>
          </a:xfrm>
          <a:prstGeom prst="roundRect">
            <a:avLst>
              <a:gd name="adj" fmla="val 7143"/>
            </a:avLst>
          </a:prstGeom>
          <a:solidFill>
            <a:schemeClr val="bg1"/>
          </a:solidFill>
          <a:ln/>
        </p:spPr>
      </p:sp>
      <p:sp>
        <p:nvSpPr>
          <p:cNvPr id="5" name="Shape 2"/>
          <p:cNvSpPr/>
          <p:nvPr/>
        </p:nvSpPr>
        <p:spPr>
          <a:xfrm>
            <a:off x="1554480" y="2560320"/>
            <a:ext cx="868680" cy="868680"/>
          </a:xfrm>
          <a:prstGeom prst="ellipse">
            <a:avLst/>
          </a:prstGeom>
          <a:solidFill>
            <a:schemeClr val="tx2"/>
          </a:solidFill>
          <a:ln/>
        </p:spPr>
      </p:sp>
      <p:pic>
        <p:nvPicPr>
          <p:cNvPr id="6" name="Image 0" descr="cpu">    </p:cNvPr>
          <p:cNvPicPr>
            <a:picLocks noChangeAspect="1"/>
          </p:cNvPicPr>
          <p:nvPr/>
        </p:nvPicPr>
        <p:blipFill>
          <a:blip r:embed="rId1"/>
          <a:stretch>
            <a:fillRect/>
          </a:stretch>
        </p:blipFill>
        <p:spPr>
          <a:xfrm>
            <a:off x="1745590" y="2751430"/>
            <a:ext cx="486461" cy="486461"/>
          </a:xfrm>
          <a:prstGeom prst="rect">
            <a:avLst/>
          </a:prstGeom>
        </p:spPr>
      </p:pic>
      <p:sp>
        <p:nvSpPr>
          <p:cNvPr id="7" name="Text 3"/>
          <p:cNvSpPr txBox="1"/>
          <p:nvPr/>
        </p:nvSpPr>
        <p:spPr>
          <a:xfrm>
            <a:off x="2651760" y="2715768"/>
            <a:ext cx="67665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Technical Feasibility</a:t>
            </a:r>
            <a:endParaRPr lang="en-US" sz="2700" dirty="0"/>
          </a:p>
        </p:txBody>
      </p:sp>
      <p:sp>
        <p:nvSpPr>
          <p:cNvPr id="8" name="Text 4"/>
          <p:cNvSpPr txBox="1"/>
          <p:nvPr/>
        </p:nvSpPr>
        <p:spPr>
          <a:xfrm>
            <a:off x="1554480" y="3611880"/>
            <a:ext cx="7818120" cy="2286000"/>
          </a:xfrm>
          <a:prstGeom prst="rect">
            <a:avLst/>
          </a:prstGeom>
          <a:noFill/>
          <a:ln/>
        </p:spPr>
        <p:txBody>
          <a:bodyPr wrap="square" lIns="0" tIns="0" rIns="0" bIns="0" rtlCol="0" anchor="t"/>
          <a:lstStyle/>
          <a:p>
            <a:pPr marL="381000" indent="-381000">
              <a:lnSpc>
                <a:spcPct val="100000"/>
              </a:lnSpc>
              <a:spcAft>
                <a:spcPts val="800"/>
              </a:spcAft>
              <a:buSzPct val="100000"/>
              <a:buChar char="•"/>
            </a:pPr>
            <a:r>
              <a:rPr lang="en-US" sz="2300" dirty="0">
                <a:solidFill>
                  <a:schemeClr val="tx1"/>
                </a:solidFill>
              </a:rPr>
              <a:t>Built on mature open-source tools: Python, FastAPI, SQLite, React and Git.</a:t>
            </a:r>
            <a:endParaRPr lang="en-US" sz="2300" dirty="0"/>
          </a:p>
          <a:p>
            <a:pPr marL="381000" indent="-381000">
              <a:lnSpc>
                <a:spcPct val="100000"/>
              </a:lnSpc>
              <a:spcAft>
                <a:spcPts val="800"/>
              </a:spcAft>
              <a:buSzPct val="100000"/>
              <a:buChar char="•"/>
            </a:pPr>
            <a:r>
              <a:rPr lang="en-US" sz="2300" dirty="0">
                <a:solidFill>
                  <a:schemeClr val="tx1"/>
                </a:solidFill>
              </a:rPr>
              <a:t>A working prototype already runs the full loop end to end, with 44 automated tests.</a:t>
            </a:r>
            <a:endParaRPr lang="en-US" sz="2300" dirty="0"/>
          </a:p>
          <a:p>
            <a:pPr marL="381000" indent="-381000">
              <a:lnSpc>
                <a:spcPct val="100000"/>
              </a:lnSpc>
              <a:spcAft>
                <a:spcPts val="800"/>
              </a:spcAft>
              <a:buSzPct val="100000"/>
              <a:buChar char="•"/>
            </a:pPr>
            <a:r>
              <a:rPr lang="en-US" sz="2300" dirty="0">
                <a:solidFill>
                  <a:schemeClr val="tx1"/>
                </a:solidFill>
              </a:rPr>
              <a:t>LLM can be the Claude API or a local model via Ollama.</a:t>
            </a:r>
            <a:endParaRPr lang="en-US" sz="2300" dirty="0"/>
          </a:p>
        </p:txBody>
      </p:sp>
      <p:sp>
        <p:nvSpPr>
          <p:cNvPr id="9" name="feasibility-2"/>
          <p:cNvSpPr/>
          <p:nvPr/>
        </p:nvSpPr>
        <p:spPr>
          <a:xfrm>
            <a:off x="10287000" y="2194560"/>
            <a:ext cx="8732520" cy="3840480"/>
          </a:xfrm>
          <a:prstGeom prst="roundRect">
            <a:avLst>
              <a:gd name="adj" fmla="val 7143"/>
            </a:avLst>
          </a:prstGeom>
          <a:solidFill>
            <a:schemeClr val="bg1"/>
          </a:solidFill>
          <a:ln/>
        </p:spPr>
      </p:sp>
      <p:sp>
        <p:nvSpPr>
          <p:cNvPr id="10" name="Shape 6"/>
          <p:cNvSpPr/>
          <p:nvPr/>
        </p:nvSpPr>
        <p:spPr>
          <a:xfrm>
            <a:off x="10744200" y="2560320"/>
            <a:ext cx="868680" cy="868680"/>
          </a:xfrm>
          <a:prstGeom prst="ellipse">
            <a:avLst/>
          </a:prstGeom>
          <a:solidFill>
            <a:schemeClr val="tx2"/>
          </a:solidFill>
          <a:ln/>
        </p:spPr>
      </p:sp>
      <p:pic>
        <p:nvPicPr>
          <p:cNvPr id="11" name="Image 1" descr="target">    </p:cNvPr>
          <p:cNvPicPr>
            <a:picLocks noChangeAspect="1"/>
          </p:cNvPicPr>
          <p:nvPr/>
        </p:nvPicPr>
        <p:blipFill>
          <a:blip r:embed="rId2"/>
          <a:stretch>
            <a:fillRect/>
          </a:stretch>
        </p:blipFill>
        <p:spPr>
          <a:xfrm>
            <a:off x="10935310" y="2751430"/>
            <a:ext cx="486461" cy="486461"/>
          </a:xfrm>
          <a:prstGeom prst="rect">
            <a:avLst/>
          </a:prstGeom>
        </p:spPr>
      </p:pic>
      <p:sp>
        <p:nvSpPr>
          <p:cNvPr id="12" name="Text 7"/>
          <p:cNvSpPr txBox="1"/>
          <p:nvPr/>
        </p:nvSpPr>
        <p:spPr>
          <a:xfrm>
            <a:off x="11841480" y="2715768"/>
            <a:ext cx="67665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Economic Feasibility</a:t>
            </a:r>
            <a:endParaRPr lang="en-US" sz="2700" dirty="0"/>
          </a:p>
        </p:txBody>
      </p:sp>
      <p:sp>
        <p:nvSpPr>
          <p:cNvPr id="13" name="Text 8"/>
          <p:cNvSpPr txBox="1"/>
          <p:nvPr/>
        </p:nvSpPr>
        <p:spPr>
          <a:xfrm>
            <a:off x="10744200" y="3611880"/>
            <a:ext cx="7818120" cy="2286000"/>
          </a:xfrm>
          <a:prstGeom prst="rect">
            <a:avLst/>
          </a:prstGeom>
          <a:noFill/>
          <a:ln/>
        </p:spPr>
        <p:txBody>
          <a:bodyPr wrap="square" lIns="0" tIns="0" rIns="0" bIns="0" rtlCol="0" anchor="t"/>
          <a:lstStyle/>
          <a:p>
            <a:pPr marL="381000" indent="-381000">
              <a:lnSpc>
                <a:spcPct val="100000"/>
              </a:lnSpc>
              <a:spcAft>
                <a:spcPts val="800"/>
              </a:spcAft>
              <a:buSzPct val="100000"/>
              <a:buChar char="•"/>
            </a:pPr>
            <a:r>
              <a:rPr lang="en-US" sz="2300" dirty="0">
                <a:solidFill>
                  <a:schemeClr val="tx1"/>
                </a:solidFill>
              </a:rPr>
              <a:t>Runs on the team’s existing laptops; no servers to buy.</a:t>
            </a:r>
            <a:endParaRPr lang="en-US" sz="2300" dirty="0"/>
          </a:p>
          <a:p>
            <a:pPr marL="381000" indent="-381000">
              <a:lnSpc>
                <a:spcPct val="100000"/>
              </a:lnSpc>
              <a:spcAft>
                <a:spcPts val="800"/>
              </a:spcAft>
              <a:buSzPct val="100000"/>
              <a:buChar char="•"/>
            </a:pPr>
            <a:r>
              <a:rPr lang="en-US" sz="2300" dirty="0">
                <a:solidFill>
                  <a:schemeClr val="tx1"/>
                </a:solidFill>
              </a:rPr>
              <a:t>All software used is free and open source.</a:t>
            </a:r>
            <a:endParaRPr lang="en-US" sz="2300" dirty="0"/>
          </a:p>
          <a:p>
            <a:pPr marL="381000" indent="-381000">
              <a:lnSpc>
                <a:spcPct val="100000"/>
              </a:lnSpc>
              <a:spcAft>
                <a:spcPts val="800"/>
              </a:spcAft>
              <a:buSzPct val="100000"/>
              <a:buChar char="•"/>
            </a:pPr>
            <a:r>
              <a:rPr lang="en-US" sz="2300" dirty="0">
                <a:solidFill>
                  <a:schemeClr val="tx1"/>
                </a:solidFill>
              </a:rPr>
              <a:t>Only optional cost: Claude API usage (about ₹2,500 budgeted).</a:t>
            </a:r>
            <a:endParaRPr lang="en-US" sz="2300" dirty="0"/>
          </a:p>
        </p:txBody>
      </p:sp>
      <p:sp>
        <p:nvSpPr>
          <p:cNvPr id="14" name="feasibility-3"/>
          <p:cNvSpPr/>
          <p:nvPr/>
        </p:nvSpPr>
        <p:spPr>
          <a:xfrm>
            <a:off x="1097280" y="6355080"/>
            <a:ext cx="8732520" cy="3840480"/>
          </a:xfrm>
          <a:prstGeom prst="roundRect">
            <a:avLst>
              <a:gd name="adj" fmla="val 7143"/>
            </a:avLst>
          </a:prstGeom>
          <a:solidFill>
            <a:schemeClr val="bg1"/>
          </a:solidFill>
          <a:ln/>
        </p:spPr>
      </p:sp>
      <p:sp>
        <p:nvSpPr>
          <p:cNvPr id="15" name="Shape 10"/>
          <p:cNvSpPr/>
          <p:nvPr/>
        </p:nvSpPr>
        <p:spPr>
          <a:xfrm>
            <a:off x="1554480" y="6720840"/>
            <a:ext cx="868680" cy="868680"/>
          </a:xfrm>
          <a:prstGeom prst="ellipse">
            <a:avLst/>
          </a:prstGeom>
          <a:solidFill>
            <a:schemeClr val="tx2"/>
          </a:solidFill>
          <a:ln/>
        </p:spPr>
      </p:sp>
      <p:pic>
        <p:nvPicPr>
          <p:cNvPr id="16" name="Image 2" descr="users">    </p:cNvPr>
          <p:cNvPicPr>
            <a:picLocks noChangeAspect="1"/>
          </p:cNvPicPr>
          <p:nvPr/>
        </p:nvPicPr>
        <p:blipFill>
          <a:blip r:embed="rId3"/>
          <a:stretch>
            <a:fillRect/>
          </a:stretch>
        </p:blipFill>
        <p:spPr>
          <a:xfrm>
            <a:off x="1745590" y="6911950"/>
            <a:ext cx="486461" cy="486461"/>
          </a:xfrm>
          <a:prstGeom prst="rect">
            <a:avLst/>
          </a:prstGeom>
        </p:spPr>
      </p:pic>
      <p:sp>
        <p:nvSpPr>
          <p:cNvPr id="17" name="Text 11"/>
          <p:cNvSpPr txBox="1"/>
          <p:nvPr/>
        </p:nvSpPr>
        <p:spPr>
          <a:xfrm>
            <a:off x="2651760" y="6876288"/>
            <a:ext cx="67665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Operational Feasibility</a:t>
            </a:r>
            <a:endParaRPr lang="en-US" sz="2700" dirty="0"/>
          </a:p>
        </p:txBody>
      </p:sp>
      <p:sp>
        <p:nvSpPr>
          <p:cNvPr id="18" name="Text 12"/>
          <p:cNvSpPr txBox="1"/>
          <p:nvPr/>
        </p:nvSpPr>
        <p:spPr>
          <a:xfrm>
            <a:off x="1554480" y="7772400"/>
            <a:ext cx="7818120" cy="2286000"/>
          </a:xfrm>
          <a:prstGeom prst="rect">
            <a:avLst/>
          </a:prstGeom>
          <a:noFill/>
          <a:ln/>
        </p:spPr>
        <p:txBody>
          <a:bodyPr wrap="square" lIns="0" tIns="0" rIns="0" bIns="0" rtlCol="0" anchor="t"/>
          <a:lstStyle/>
          <a:p>
            <a:pPr marL="381000" indent="-381000">
              <a:lnSpc>
                <a:spcPct val="100000"/>
              </a:lnSpc>
              <a:spcAft>
                <a:spcPts val="800"/>
              </a:spcAft>
              <a:buSzPct val="100000"/>
              <a:buChar char="•"/>
            </a:pPr>
            <a:r>
              <a:rPr lang="en-US" sz="2300" dirty="0">
                <a:solidFill>
                  <a:schemeClr val="tx1"/>
                </a:solidFill>
              </a:rPr>
              <a:t>Fits the existing Git workflow: fixes are normal commits on branches.</a:t>
            </a:r>
            <a:endParaRPr lang="en-US" sz="2300" dirty="0"/>
          </a:p>
          <a:p>
            <a:pPr marL="381000" indent="-381000">
              <a:lnSpc>
                <a:spcPct val="100000"/>
              </a:lnSpc>
              <a:spcAft>
                <a:spcPts val="800"/>
              </a:spcAft>
              <a:buSzPct val="100000"/>
              <a:buChar char="•"/>
            </a:pPr>
            <a:r>
              <a:rPr lang="en-US" sz="2300" dirty="0">
                <a:solidFill>
                  <a:schemeClr val="tx1"/>
                </a:solidFill>
              </a:rPr>
              <a:t>Engineers stay in control through the approval gate and dashboard.</a:t>
            </a:r>
            <a:endParaRPr lang="en-US" sz="2300" dirty="0"/>
          </a:p>
          <a:p>
            <a:pPr marL="381000" indent="-381000">
              <a:lnSpc>
                <a:spcPct val="100000"/>
              </a:lnSpc>
              <a:spcAft>
                <a:spcPts val="800"/>
              </a:spcAft>
              <a:buSzPct val="100000"/>
              <a:buChar char="•"/>
            </a:pPr>
            <a:r>
              <a:rPr lang="en-US" sz="2300" dirty="0">
                <a:solidFill>
                  <a:schemeClr val="tx1"/>
                </a:solidFill>
              </a:rPr>
              <a:t>Every action is recorded in an audit trail.</a:t>
            </a:r>
            <a:endParaRPr lang="en-US" sz="2300" dirty="0"/>
          </a:p>
        </p:txBody>
      </p:sp>
      <p:sp>
        <p:nvSpPr>
          <p:cNvPr id="19" name="feasibility-4"/>
          <p:cNvSpPr/>
          <p:nvPr/>
        </p:nvSpPr>
        <p:spPr>
          <a:xfrm>
            <a:off x="10287000" y="6355080"/>
            <a:ext cx="8732520" cy="3840480"/>
          </a:xfrm>
          <a:prstGeom prst="roundRect">
            <a:avLst>
              <a:gd name="adj" fmla="val 7143"/>
            </a:avLst>
          </a:prstGeom>
          <a:solidFill>
            <a:schemeClr val="bg1"/>
          </a:solidFill>
          <a:ln/>
        </p:spPr>
      </p:sp>
      <p:sp>
        <p:nvSpPr>
          <p:cNvPr id="20" name="Shape 14"/>
          <p:cNvSpPr/>
          <p:nvPr/>
        </p:nvSpPr>
        <p:spPr>
          <a:xfrm>
            <a:off x="10744200" y="6720840"/>
            <a:ext cx="868680" cy="868680"/>
          </a:xfrm>
          <a:prstGeom prst="ellipse">
            <a:avLst/>
          </a:prstGeom>
          <a:solidFill>
            <a:schemeClr val="tx2"/>
          </a:solidFill>
          <a:ln/>
        </p:spPr>
      </p:sp>
      <p:pic>
        <p:nvPicPr>
          <p:cNvPr id="21" name="Image 3" descr="timer">    </p:cNvPr>
          <p:cNvPicPr>
            <a:picLocks noChangeAspect="1"/>
          </p:cNvPicPr>
          <p:nvPr/>
        </p:nvPicPr>
        <p:blipFill>
          <a:blip r:embed="rId4"/>
          <a:stretch>
            <a:fillRect/>
          </a:stretch>
        </p:blipFill>
        <p:spPr>
          <a:xfrm>
            <a:off x="10935310" y="6911950"/>
            <a:ext cx="486461" cy="486461"/>
          </a:xfrm>
          <a:prstGeom prst="rect">
            <a:avLst/>
          </a:prstGeom>
        </p:spPr>
      </p:pic>
      <p:sp>
        <p:nvSpPr>
          <p:cNvPr id="22" name="Text 15"/>
          <p:cNvSpPr txBox="1"/>
          <p:nvPr/>
        </p:nvSpPr>
        <p:spPr>
          <a:xfrm>
            <a:off x="11841480" y="6876288"/>
            <a:ext cx="67665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Schedule Feasibility</a:t>
            </a:r>
            <a:endParaRPr lang="en-US" sz="2700" dirty="0"/>
          </a:p>
        </p:txBody>
      </p:sp>
      <p:sp>
        <p:nvSpPr>
          <p:cNvPr id="23" name="Text 16"/>
          <p:cNvSpPr txBox="1"/>
          <p:nvPr/>
        </p:nvSpPr>
        <p:spPr>
          <a:xfrm>
            <a:off x="10744200" y="7772400"/>
            <a:ext cx="7818120" cy="2286000"/>
          </a:xfrm>
          <a:prstGeom prst="rect">
            <a:avLst/>
          </a:prstGeom>
          <a:noFill/>
          <a:ln/>
        </p:spPr>
        <p:txBody>
          <a:bodyPr wrap="square" lIns="0" tIns="0" rIns="0" bIns="0" rtlCol="0" anchor="t"/>
          <a:lstStyle/>
          <a:p>
            <a:pPr marL="381000" indent="-381000">
              <a:lnSpc>
                <a:spcPct val="100000"/>
              </a:lnSpc>
              <a:spcAft>
                <a:spcPts val="800"/>
              </a:spcAft>
              <a:buSzPct val="100000"/>
              <a:buChar char="•"/>
            </a:pPr>
            <a:r>
              <a:rPr lang="en-US" sz="2300" dirty="0">
                <a:solidFill>
                  <a:schemeClr val="tx1"/>
                </a:solidFill>
              </a:rPr>
              <a:t>Phased plan within AY 2026–27: design, build, integrate, evaluate, document.</a:t>
            </a:r>
            <a:endParaRPr lang="en-US" sz="2300" dirty="0"/>
          </a:p>
          <a:p>
            <a:pPr marL="381000" indent="-381000">
              <a:lnSpc>
                <a:spcPct val="100000"/>
              </a:lnSpc>
              <a:spcAft>
                <a:spcPts val="800"/>
              </a:spcAft>
              <a:buSzPct val="100000"/>
              <a:buChar char="•"/>
            </a:pPr>
            <a:r>
              <a:rPr lang="en-US" sz="2300" dirty="0">
                <a:solidFill>
                  <a:schemeClr val="tx1"/>
                </a:solidFill>
              </a:rPr>
              <a:t>Core pipeline already complete; remaining work is hardening and evaluation.</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Scope of the Project</a:t>
            </a:r>
            <a:endParaRPr lang="en-US" sz="6600" dirty="0"/>
          </a:p>
        </p:txBody>
      </p:sp>
      <p:sp>
        <p:nvSpPr>
          <p:cNvPr id="4" name="scope-1"/>
          <p:cNvSpPr/>
          <p:nvPr/>
        </p:nvSpPr>
        <p:spPr>
          <a:xfrm>
            <a:off x="1097280" y="2148840"/>
            <a:ext cx="8732520" cy="8046720"/>
          </a:xfrm>
          <a:prstGeom prst="roundRect">
            <a:avLst>
              <a:gd name="adj" fmla="val 3409"/>
            </a:avLst>
          </a:prstGeom>
          <a:solidFill>
            <a:schemeClr val="bg1"/>
          </a:solidFill>
          <a:ln/>
        </p:spPr>
      </p:sp>
      <p:sp>
        <p:nvSpPr>
          <p:cNvPr id="5" name="Shape 2"/>
          <p:cNvSpPr/>
          <p:nvPr/>
        </p:nvSpPr>
        <p:spPr>
          <a:xfrm>
            <a:off x="1554480" y="2514600"/>
            <a:ext cx="868680" cy="868680"/>
          </a:xfrm>
          <a:prstGeom prst="ellipse">
            <a:avLst/>
          </a:prstGeom>
          <a:solidFill>
            <a:schemeClr val="tx2"/>
          </a:solidFill>
          <a:ln/>
        </p:spPr>
      </p:sp>
      <p:pic>
        <p:nvPicPr>
          <p:cNvPr id="6" name="Image 0" descr="badge-check">    </p:cNvPr>
          <p:cNvPicPr>
            <a:picLocks noChangeAspect="1"/>
          </p:cNvPicPr>
          <p:nvPr/>
        </p:nvPicPr>
        <p:blipFill>
          <a:blip r:embed="rId1"/>
          <a:stretch>
            <a:fillRect/>
          </a:stretch>
        </p:blipFill>
        <p:spPr>
          <a:xfrm>
            <a:off x="1745590" y="2705710"/>
            <a:ext cx="486461" cy="486461"/>
          </a:xfrm>
          <a:prstGeom prst="rect">
            <a:avLst/>
          </a:prstGeom>
        </p:spPr>
      </p:pic>
      <p:sp>
        <p:nvSpPr>
          <p:cNvPr id="7" name="Text 3"/>
          <p:cNvSpPr txBox="1"/>
          <p:nvPr/>
        </p:nvSpPr>
        <p:spPr>
          <a:xfrm>
            <a:off x="2651760" y="2670048"/>
            <a:ext cx="67665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In Scope</a:t>
            </a:r>
            <a:endParaRPr lang="en-US" sz="2700" dirty="0"/>
          </a:p>
        </p:txBody>
      </p:sp>
      <p:sp>
        <p:nvSpPr>
          <p:cNvPr id="8" name="Text 4"/>
          <p:cNvSpPr txBox="1"/>
          <p:nvPr/>
        </p:nvSpPr>
        <p:spPr>
          <a:xfrm>
            <a:off x="1554480" y="3703320"/>
            <a:ext cx="7818120" cy="6309360"/>
          </a:xfrm>
          <a:prstGeom prst="rect">
            <a:avLst/>
          </a:prstGeom>
          <a:noFill/>
          <a:ln/>
        </p:spPr>
        <p:txBody>
          <a:bodyPr wrap="square" lIns="0" tIns="0" rIns="0" bIns="0" rtlCol="0" anchor="t"/>
          <a:lstStyle/>
          <a:p>
            <a:pPr marL="381000" indent="-381000">
              <a:lnSpc>
                <a:spcPct val="100000"/>
              </a:lnSpc>
              <a:spcAft>
                <a:spcPts val="1600"/>
              </a:spcAft>
              <a:buSzPct val="100000"/>
              <a:buChar char="•"/>
            </a:pPr>
            <a:r>
              <a:rPr lang="en-US" sz="2400" b="1" dirty="0">
                <a:solidFill>
                  <a:schemeClr val="tx1"/>
                </a:solidFill>
              </a:rPr>
              <a:t>Log ingestion: </a:t>
            </a:r>
            <a:pPr indent="0" marL="0">
              <a:lnSpc>
                <a:spcPct val="100000"/>
              </a:lnSpc>
              <a:buNone/>
            </a:pPr>
            <a:r>
              <a:rPr lang="en-US" sz="2400" dirty="0">
                <a:solidFill>
                  <a:schemeClr val="tx1"/>
                </a:solidFill>
              </a:rPr>
              <a:t>file tailing and HTTP API for structured JSON logs</a:t>
            </a:r>
            <a:endParaRPr lang="en-US" sz="2400" dirty="0"/>
          </a:p>
          <a:p>
            <a:pPr marL="381000" indent="-381000">
              <a:lnSpc>
                <a:spcPct val="100000"/>
              </a:lnSpc>
              <a:spcAft>
                <a:spcPts val="1600"/>
              </a:spcAft>
              <a:buSzPct val="100000"/>
              <a:buChar char="•"/>
            </a:pPr>
            <a:r>
              <a:rPr lang="en-US" sz="2400" b="1" dirty="0">
                <a:solidFill>
                  <a:schemeClr val="tx1"/>
                </a:solidFill>
              </a:rPr>
              <a:t>Incident detection: </a:t>
            </a:r>
            <a:pPr indent="0" marL="0">
              <a:lnSpc>
                <a:spcPct val="100000"/>
              </a:lnSpc>
              <a:buNone/>
            </a:pPr>
            <a:r>
              <a:rPr lang="en-US" sz="2400" dirty="0">
                <a:solidFill>
                  <a:schemeClr val="tx1"/>
                </a:solidFill>
              </a:rPr>
              <a:t>signatures and error-spike detection</a:t>
            </a:r>
            <a:endParaRPr lang="en-US" sz="2400" dirty="0"/>
          </a:p>
          <a:p>
            <a:pPr marL="381000" indent="-381000">
              <a:lnSpc>
                <a:spcPct val="100000"/>
              </a:lnSpc>
              <a:spcAft>
                <a:spcPts val="1600"/>
              </a:spcAft>
              <a:buSzPct val="100000"/>
              <a:buChar char="•"/>
            </a:pPr>
            <a:r>
              <a:rPr lang="en-US" sz="2400" b="1" dirty="0">
                <a:solidFill>
                  <a:schemeClr val="tx1"/>
                </a:solidFill>
              </a:rPr>
              <a:t>Change correlation: </a:t>
            </a:r>
            <a:pPr indent="0" marL="0">
              <a:lnSpc>
                <a:spcPct val="100000"/>
              </a:lnSpc>
              <a:buNone/>
            </a:pPr>
            <a:r>
              <a:rPr lang="en-US" sz="2400" dirty="0">
                <a:solidFill>
                  <a:schemeClr val="tx1"/>
                </a:solidFill>
              </a:rPr>
              <a:t>ranking suspect commits from Git and deployments</a:t>
            </a:r>
            <a:endParaRPr lang="en-US" sz="2400" dirty="0"/>
          </a:p>
          <a:p>
            <a:pPr marL="381000" indent="-381000">
              <a:lnSpc>
                <a:spcPct val="100000"/>
              </a:lnSpc>
              <a:spcAft>
                <a:spcPts val="1600"/>
              </a:spcAft>
              <a:buSzPct val="100000"/>
              <a:buChar char="•"/>
            </a:pPr>
            <a:r>
              <a:rPr lang="en-US" sz="2400" b="1" dirty="0">
                <a:solidFill>
                  <a:schemeClr val="tx1"/>
                </a:solidFill>
              </a:rPr>
              <a:t>Root-cause analysis: </a:t>
            </a:r>
            <a:pPr indent="0" marL="0">
              <a:lnSpc>
                <a:spcPct val="100000"/>
              </a:lnSpc>
              <a:buNone/>
            </a:pPr>
            <a:r>
              <a:rPr lang="en-US" sz="2400" dirty="0">
                <a:solidFill>
                  <a:schemeClr val="tx1"/>
                </a:solidFill>
              </a:rPr>
              <a:t>evidence-cited LLM diagnosis and incident report</a:t>
            </a:r>
            <a:endParaRPr lang="en-US" sz="2400" dirty="0"/>
          </a:p>
          <a:p>
            <a:pPr marL="381000" indent="-381000">
              <a:lnSpc>
                <a:spcPct val="100000"/>
              </a:lnSpc>
              <a:spcAft>
                <a:spcPts val="1600"/>
              </a:spcAft>
              <a:buSzPct val="100000"/>
              <a:buChar char="•"/>
            </a:pPr>
            <a:r>
              <a:rPr lang="en-US" sz="2400" b="1" dirty="0">
                <a:solidFill>
                  <a:schemeClr val="tx1"/>
                </a:solidFill>
              </a:rPr>
              <a:t>Patch generation &amp; validation: </a:t>
            </a:r>
            <a:pPr indent="0" marL="0">
              <a:lnSpc>
                <a:spcPct val="100000"/>
              </a:lnSpc>
              <a:buNone/>
            </a:pPr>
            <a:r>
              <a:rPr lang="en-US" sz="2400" dirty="0">
                <a:solidFill>
                  <a:schemeClr val="tx1"/>
                </a:solidFill>
              </a:rPr>
              <a:t>tests, staging and request replay</a:t>
            </a:r>
            <a:endParaRPr lang="en-US" sz="2400" dirty="0"/>
          </a:p>
          <a:p>
            <a:pPr marL="381000" indent="-381000">
              <a:lnSpc>
                <a:spcPct val="100000"/>
              </a:lnSpc>
              <a:spcAft>
                <a:spcPts val="1600"/>
              </a:spcAft>
              <a:buSzPct val="100000"/>
              <a:buChar char="•"/>
            </a:pPr>
            <a:r>
              <a:rPr lang="en-US" sz="2400" b="1" dirty="0">
                <a:solidFill>
                  <a:schemeClr val="tx1"/>
                </a:solidFill>
              </a:rPr>
              <a:t>Human approval, deployment &amp; audit: </a:t>
            </a:r>
            <a:pPr indent="0" marL="0">
              <a:lnSpc>
                <a:spcPct val="100000"/>
              </a:lnSpc>
              <a:buNone/>
            </a:pPr>
            <a:r>
              <a:rPr lang="en-US" sz="2400" dirty="0">
                <a:solidFill>
                  <a:schemeClr val="tx1"/>
                </a:solidFill>
              </a:rPr>
              <a:t>via a web dashboard</a:t>
            </a:r>
            <a:endParaRPr lang="en-US" sz="2400" dirty="0"/>
          </a:p>
        </p:txBody>
      </p:sp>
      <p:sp>
        <p:nvSpPr>
          <p:cNvPr id="9" name="scope-2"/>
          <p:cNvSpPr/>
          <p:nvPr/>
        </p:nvSpPr>
        <p:spPr>
          <a:xfrm>
            <a:off x="10287000" y="2148840"/>
            <a:ext cx="8732520" cy="8046720"/>
          </a:xfrm>
          <a:prstGeom prst="roundRect">
            <a:avLst>
              <a:gd name="adj" fmla="val 3409"/>
            </a:avLst>
          </a:prstGeom>
          <a:solidFill>
            <a:schemeClr val="bg1"/>
          </a:solidFill>
          <a:ln/>
        </p:spPr>
      </p:sp>
      <p:sp>
        <p:nvSpPr>
          <p:cNvPr id="10" name="Shape 6"/>
          <p:cNvSpPr/>
          <p:nvPr/>
        </p:nvSpPr>
        <p:spPr>
          <a:xfrm>
            <a:off x="10744200" y="2514600"/>
            <a:ext cx="868680" cy="868680"/>
          </a:xfrm>
          <a:prstGeom prst="ellipse">
            <a:avLst/>
          </a:prstGeom>
          <a:solidFill>
            <a:schemeClr val="accent3"/>
          </a:solidFill>
          <a:ln/>
        </p:spPr>
      </p:sp>
      <p:pic>
        <p:nvPicPr>
          <p:cNvPr id="11" name="Image 1" descr="circle-alert">    </p:cNvPr>
          <p:cNvPicPr>
            <a:picLocks noChangeAspect="1"/>
          </p:cNvPicPr>
          <p:nvPr/>
        </p:nvPicPr>
        <p:blipFill>
          <a:blip r:embed="rId2"/>
          <a:stretch>
            <a:fillRect/>
          </a:stretch>
        </p:blipFill>
        <p:spPr>
          <a:xfrm>
            <a:off x="10935310" y="2705710"/>
            <a:ext cx="486461" cy="486461"/>
          </a:xfrm>
          <a:prstGeom prst="rect">
            <a:avLst/>
          </a:prstGeom>
        </p:spPr>
      </p:pic>
      <p:sp>
        <p:nvSpPr>
          <p:cNvPr id="12" name="Text 7"/>
          <p:cNvSpPr txBox="1"/>
          <p:nvPr/>
        </p:nvSpPr>
        <p:spPr>
          <a:xfrm>
            <a:off x="11841480" y="2670048"/>
            <a:ext cx="676656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Out of Scope (Future Work)</a:t>
            </a:r>
            <a:endParaRPr lang="en-US" sz="2700" dirty="0"/>
          </a:p>
        </p:txBody>
      </p:sp>
      <p:sp>
        <p:nvSpPr>
          <p:cNvPr id="13" name="Text 8"/>
          <p:cNvSpPr txBox="1"/>
          <p:nvPr/>
        </p:nvSpPr>
        <p:spPr>
          <a:xfrm>
            <a:off x="10744200" y="3703320"/>
            <a:ext cx="7818120" cy="6309360"/>
          </a:xfrm>
          <a:prstGeom prst="rect">
            <a:avLst/>
          </a:prstGeom>
          <a:noFill/>
          <a:ln/>
        </p:spPr>
        <p:txBody>
          <a:bodyPr wrap="square" lIns="0" tIns="0" rIns="0" bIns="0" rtlCol="0" anchor="t"/>
          <a:lstStyle/>
          <a:p>
            <a:pPr marL="381000" indent="-381000">
              <a:lnSpc>
                <a:spcPct val="100000"/>
              </a:lnSpc>
              <a:spcAft>
                <a:spcPts val="1600"/>
              </a:spcAft>
              <a:buSzPct val="100000"/>
              <a:buChar char="•"/>
            </a:pPr>
            <a:r>
              <a:rPr lang="en-US" sz="2400" dirty="0">
                <a:solidFill>
                  <a:schemeClr val="tx1"/>
                </a:solidFill>
              </a:rPr>
              <a:t>Languages other than Python (Java, Node.js)</a:t>
            </a:r>
            <a:endParaRPr lang="en-US" sz="2400" dirty="0"/>
          </a:p>
          <a:p>
            <a:pPr marL="381000" indent="-381000">
              <a:lnSpc>
                <a:spcPct val="100000"/>
              </a:lnSpc>
              <a:spcAft>
                <a:spcPts val="1600"/>
              </a:spcAft>
              <a:buSzPct val="100000"/>
              <a:buChar char="•"/>
            </a:pPr>
            <a:r>
              <a:rPr lang="en-US" sz="2400" dirty="0">
                <a:solidFill>
                  <a:schemeClr val="tx1"/>
                </a:solidFill>
              </a:rPr>
              <a:t>Kubernetes / ArgoCD and real CI (GitHub Actions) integration</a:t>
            </a:r>
            <a:endParaRPr lang="en-US" sz="2400" dirty="0"/>
          </a:p>
          <a:p>
            <a:pPr marL="381000" indent="-381000">
              <a:lnSpc>
                <a:spcPct val="100000"/>
              </a:lnSpc>
              <a:spcAft>
                <a:spcPts val="1600"/>
              </a:spcAft>
              <a:buSzPct val="100000"/>
              <a:buChar char="•"/>
            </a:pPr>
            <a:r>
              <a:rPr lang="en-US" sz="2400" dirty="0">
                <a:solidFill>
                  <a:schemeClr val="tx1"/>
                </a:solidFill>
              </a:rPr>
              <a:t>Metrics- and trace-based detection</a:t>
            </a:r>
            <a:endParaRPr lang="en-US" sz="2400" dirty="0"/>
          </a:p>
          <a:p>
            <a:pPr marL="381000" indent="-381000">
              <a:lnSpc>
                <a:spcPct val="100000"/>
              </a:lnSpc>
              <a:spcAft>
                <a:spcPts val="1600"/>
              </a:spcAft>
              <a:buSzPct val="100000"/>
              <a:buChar char="•"/>
            </a:pPr>
            <a:r>
              <a:rPr lang="en-US" sz="2400" dirty="0">
                <a:solidFill>
                  <a:schemeClr val="tx1"/>
                </a:solidFill>
              </a:rPr>
              <a:t>Authentication and role-based approvers</a:t>
            </a:r>
            <a:endParaRPr lang="en-US" sz="2400" dirty="0"/>
          </a:p>
          <a:p>
            <a:pPr marL="381000" indent="-381000">
              <a:lnSpc>
                <a:spcPct val="100000"/>
              </a:lnSpc>
              <a:spcAft>
                <a:spcPts val="1600"/>
              </a:spcAft>
              <a:buSzPct val="100000"/>
              <a:buChar char="•"/>
            </a:pPr>
            <a:r>
              <a:rPr lang="en-US" sz="2400" dirty="0">
                <a:solidFill>
                  <a:schemeClr val="tx1"/>
                </a:solidFill>
              </a:rPr>
              <a:t>Automatic rollback and canary deployments</a:t>
            </a:r>
            <a:endParaRPr lang="en-US" sz="2400" dirty="0"/>
          </a:p>
          <a:p>
            <a:pPr marL="381000" indent="-381000">
              <a:lnSpc>
                <a:spcPct val="100000"/>
              </a:lnSpc>
              <a:spcAft>
                <a:spcPts val="1600"/>
              </a:spcAft>
              <a:buSzPct val="100000"/>
              <a:buChar char="•"/>
            </a:pPr>
            <a:r>
              <a:rPr lang="en-US" sz="2400" dirty="0">
                <a:solidFill>
                  <a:schemeClr val="tx1"/>
                </a:solidFill>
              </a:rPr>
              <a:t>Container sandbox for patch validation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Requirement Analysis: Hardware</a:t>
            </a:r>
            <a:endParaRPr lang="en-US" sz="6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097280" y="2240280"/>
          <a:ext cx="17922240" cy="914400"/>
        </p:xfrm>
        <a:graphic>
          <a:graphicData uri="http://schemas.openxmlformats.org/drawingml/2006/table">
            <a:tbl>
              <a:tblPr/>
              <a:tblGrid>
                <a:gridCol w="3566160"/>
                <a:gridCol w="6766560"/>
                <a:gridCol w="1097280"/>
                <a:gridCol w="3246120"/>
                <a:gridCol w="3246120"/>
              </a:tblGrid>
              <a:tr h="713232">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Component</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Specification</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Qty</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Market Value (₹)</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Project Cost (₹)</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r>
              <a:tr h="71323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Development laptop</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Intel Core i5 / AMD Ryzen 5, 16 GB RAM, 512 GB SSD</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3</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55,000 each</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 (owned)</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71323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GPU for local LLM (optional)</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NVIDIA RTX 3050, 6 GB VRAM (in one laptop)</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1</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Included above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 (owned)</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71323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Storage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20 GB free for code, database and local model files</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71323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Internet connection</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Broadband / college Wi-Fi for GitHub and LLM API</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 (existing)</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71323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Display</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1920 × 1080 or higher</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3</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Included above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 (owned)</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713232">
                <a:tc>
                  <a:txBody>
                    <a:bodyPr/>
                    <a:lstStyle/>
                    <a:p>
                      <a:pPr algn="l" indent="0" marL="0">
                        <a:buNone/>
                      </a:pPr>
                      <a:r>
                        <a:rPr lang="en-US" sz="1900" b="1" dirty="0">
                          <a:solidFill>
                            <a:schemeClr val="tx1"/>
                          </a:solidFill>
                          <a:latin typeface="Cambria" pitchFamily="34" charset="0"/>
                          <a:ea typeface="Cambria" pitchFamily="34" charset="-122"/>
                          <a:cs typeface="Cambria" pitchFamily="34" charset="-120"/>
                        </a:rPr>
                        <a:t>Total hardware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c>
                  <a:txBody>
                    <a:bodyPr/>
                    <a:lstStyle/>
                    <a:p>
                      <a:pPr algn="ctr" indent="0" marL="0">
                        <a:buNone/>
                      </a:pP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c>
                  <a:txBody>
                    <a:bodyPr/>
                    <a:lstStyle/>
                    <a:p>
                      <a:pPr algn="ctr" indent="0" marL="0">
                        <a:buNone/>
                      </a:pP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c>
                  <a:txBody>
                    <a:bodyPr/>
                    <a:lstStyle/>
                    <a:p>
                      <a:pPr algn="ctr" indent="0" marL="0">
                        <a:buNone/>
                      </a:pPr>
                      <a:r>
                        <a:rPr lang="en-US" sz="1900" b="1" dirty="0">
                          <a:solidFill>
                            <a:schemeClr val="tx1"/>
                          </a:solidFill>
                          <a:latin typeface="Cambria" pitchFamily="34" charset="0"/>
                          <a:ea typeface="Cambria" pitchFamily="34" charset="-122"/>
                          <a:cs typeface="Cambria" pitchFamily="34" charset="-120"/>
                        </a:rPr>
                        <a:t>≈ 1,65,000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c>
                  <a:txBody>
                    <a:bodyPr/>
                    <a:lstStyle/>
                    <a:p>
                      <a:pPr algn="ctr" indent="0" marL="0">
                        <a:buNone/>
                      </a:pPr>
                      <a:r>
                        <a:rPr lang="en-US" sz="1900" b="1"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r>
            </a:tbl>
          </a:graphicData>
        </a:graphic>
      </p:graphicFrame>
      <p:sp>
        <p:nvSpPr>
          <p:cNvPr id="5" name="hw-note"/>
          <p:cNvSpPr/>
          <p:nvPr/>
        </p:nvSpPr>
        <p:spPr>
          <a:xfrm>
            <a:off x="1097280" y="7635240"/>
            <a:ext cx="17922240" cy="2560320"/>
          </a:xfrm>
          <a:prstGeom prst="roundRect">
            <a:avLst>
              <a:gd name="adj" fmla="val 10714"/>
            </a:avLst>
          </a:prstGeom>
          <a:solidFill>
            <a:schemeClr val="bg1"/>
          </a:solidFill>
          <a:ln/>
        </p:spPr>
      </p:sp>
      <p:sp>
        <p:nvSpPr>
          <p:cNvPr id="6" name="Shape 2"/>
          <p:cNvSpPr/>
          <p:nvPr/>
        </p:nvSpPr>
        <p:spPr>
          <a:xfrm>
            <a:off x="1554480" y="8092440"/>
            <a:ext cx="868680" cy="868680"/>
          </a:xfrm>
          <a:prstGeom prst="ellipse">
            <a:avLst/>
          </a:prstGeom>
          <a:solidFill>
            <a:schemeClr val="tx2"/>
          </a:solidFill>
          <a:ln/>
        </p:spPr>
      </p:sp>
      <p:pic>
        <p:nvPicPr>
          <p:cNvPr id="7" name="Image 0" descr="server">    </p:cNvPr>
          <p:cNvPicPr>
            <a:picLocks noChangeAspect="1"/>
          </p:cNvPicPr>
          <p:nvPr/>
        </p:nvPicPr>
        <p:blipFill>
          <a:blip r:embed="rId1"/>
          <a:stretch>
            <a:fillRect/>
          </a:stretch>
        </p:blipFill>
        <p:spPr>
          <a:xfrm>
            <a:off x="1745590" y="8283550"/>
            <a:ext cx="486461" cy="486461"/>
          </a:xfrm>
          <a:prstGeom prst="rect">
            <a:avLst/>
          </a:prstGeom>
        </p:spPr>
      </p:pic>
      <p:sp>
        <p:nvSpPr>
          <p:cNvPr id="8" name="Text 3"/>
          <p:cNvSpPr txBox="1"/>
          <p:nvPr/>
        </p:nvSpPr>
        <p:spPr>
          <a:xfrm>
            <a:off x="2743200" y="7863840"/>
            <a:ext cx="15819120" cy="2103120"/>
          </a:xfrm>
          <a:prstGeom prst="rect">
            <a:avLst/>
          </a:prstGeom>
          <a:noFill/>
          <a:ln/>
        </p:spPr>
        <p:txBody>
          <a:bodyPr wrap="square" lIns="0" tIns="0" rIns="0" bIns="0" rtlCol="0" anchor="ctr"/>
          <a:lstStyle/>
          <a:p>
            <a:pPr indent="0" marL="0">
              <a:buNone/>
            </a:pPr>
            <a:r>
              <a:rPr lang="en-US" sz="2300" b="1" dirty="0">
                <a:solidFill>
                  <a:schemeClr val="tx1"/>
                </a:solidFill>
              </a:rPr>
              <a:t>No dedicated server is needed. </a:t>
            </a:r>
            <a:pPr indent="0" marL="0">
              <a:buNone/>
            </a:pPr>
            <a:r>
              <a:rPr lang="en-US" sz="2300" dirty="0">
                <a:solidFill>
                  <a:schemeClr val="tx1"/>
                </a:solidFill>
              </a:rPr>
              <a:t>AION, the monitored demo service and its staging copy all run as local processes on one laptop. A local LLM needs the GPU laptop; with the Claude API, any of the three laptops is enough.</a:t>
            </a:r>
            <a:endParaRPr lang="en-US" sz="2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Requirement Analysis: Software</a:t>
            </a:r>
            <a:endParaRPr lang="en-US" sz="6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097280" y="2240280"/>
          <a:ext cx="17922240" cy="914400"/>
        </p:xfrm>
        <a:graphic>
          <a:graphicData uri="http://schemas.openxmlformats.org/drawingml/2006/table">
            <a:tbl>
              <a:tblPr/>
              <a:tblGrid>
                <a:gridCol w="5120640"/>
                <a:gridCol w="6949440"/>
                <a:gridCol w="2743200"/>
                <a:gridCol w="3108960"/>
              </a:tblGrid>
              <a:tr h="621792">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Software</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Purpose</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Licence</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2100" b="1" dirty="0">
                          <a:solidFill>
                            <a:schemeClr val="bg1"/>
                          </a:solidFill>
                          <a:latin typeface="Calibri" pitchFamily="34" charset="0"/>
                          <a:ea typeface="Calibri" pitchFamily="34" charset="-122"/>
                          <a:cs typeface="Calibri" pitchFamily="34" charset="-120"/>
                        </a:rPr>
                        <a:t>Cost (₹)</a:t>
                      </a:r>
                      <a:endParaRPr lang="en-US" sz="2100" dirty="0">
                        <a:latin typeface="Calibri" charset="0"/>
                        <a:ea typeface="Calibri" charset="0"/>
                        <a:cs typeface="Calibri"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Python 3.10+, FastAPI, Uvicorn</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Backend language, REST API and server</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Open source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SQLite + SQLAlchemy 2.0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Database and ORM</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Open source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React.js + Vite, Node.js 18+</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Web dashboard and build tooling</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Open source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Git &amp; GitHub</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Version control, history and blame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Free tier</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pytest, httpx</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Automated tests, patch validation, request replay</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Open source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Ollama + qwen2.5-coder (7B)</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Local LLM for offline / private analysis</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Open source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VS Code, Windows / Linux</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Development environment</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Free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Claude API (Anthropic)</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900" dirty="0">
                          <a:solidFill>
                            <a:schemeClr val="tx1"/>
                          </a:solidFill>
                          <a:latin typeface="Cambria" pitchFamily="34" charset="0"/>
                          <a:ea typeface="Cambria" pitchFamily="34" charset="-122"/>
                          <a:cs typeface="Cambria" pitchFamily="34" charset="-120"/>
                        </a:rPr>
                        <a:t>Cloud LLM for root-cause analysis and patches</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Pay per use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900" dirty="0">
                          <a:solidFill>
                            <a:schemeClr val="tx1"/>
                          </a:solidFill>
                          <a:latin typeface="Cambria" pitchFamily="34" charset="0"/>
                          <a:ea typeface="Cambria" pitchFamily="34" charset="-122"/>
                          <a:cs typeface="Cambria" pitchFamily="34" charset="-120"/>
                        </a:rPr>
                        <a:t>≈ 2,500 (estimate)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21792">
                <a:tc>
                  <a:txBody>
                    <a:bodyPr/>
                    <a:lstStyle/>
                    <a:p>
                      <a:pPr algn="l" indent="0" marL="0">
                        <a:buNone/>
                      </a:pPr>
                      <a:r>
                        <a:rPr lang="en-US" sz="1900" b="1" dirty="0">
                          <a:solidFill>
                            <a:schemeClr val="tx1"/>
                          </a:solidFill>
                          <a:latin typeface="Cambria" pitchFamily="34" charset="0"/>
                          <a:ea typeface="Cambria" pitchFamily="34" charset="-122"/>
                          <a:cs typeface="Cambria" pitchFamily="34" charset="-120"/>
                        </a:rPr>
                        <a:t>Total software</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c>
                  <a:txBody>
                    <a:bodyPr/>
                    <a:lstStyle/>
                    <a:p>
                      <a:pPr algn="ctr" indent="0" marL="0">
                        <a:buNone/>
                      </a:pP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c>
                  <a:txBody>
                    <a:bodyPr/>
                    <a:lstStyle/>
                    <a:p>
                      <a:pPr algn="ctr" indent="0" marL="0">
                        <a:buNone/>
                      </a:pP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c>
                  <a:txBody>
                    <a:bodyPr/>
                    <a:lstStyle/>
                    <a:p>
                      <a:pPr algn="ctr" indent="0" marL="0">
                        <a:buNone/>
                      </a:pPr>
                      <a:r>
                        <a:rPr lang="en-US" sz="1900" b="1" dirty="0">
                          <a:solidFill>
                            <a:schemeClr val="tx1"/>
                          </a:solidFill>
                          <a:latin typeface="Cambria" pitchFamily="34" charset="0"/>
                          <a:ea typeface="Cambria" pitchFamily="34" charset="-122"/>
                          <a:cs typeface="Cambria" pitchFamily="34" charset="-120"/>
                        </a:rPr>
                        <a:t>≈ 2,500</a:t>
                      </a:r>
                      <a:endParaRPr lang="en-US" sz="1900" dirty="0">
                        <a:latin typeface="Cambria" charset="0"/>
                        <a:ea typeface="Cambria" charset="0"/>
                        <a:cs typeface="Cambria" charset="0"/>
                      </a:endParaRPr>
                    </a:p>
                  </a:txBody>
                  <a:tcPr marL="137160" marR="137160" marT="54864" marB="54864"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E4E7F2"/>
                    </a:solidFill>
                  </a:tcPr>
                </a:tc>
              </a:tr>
            </a:tbl>
          </a:graphicData>
        </a:graphic>
      </p:graphicFrame>
      <p:sp>
        <p:nvSpPr>
          <p:cNvPr id="5" name="total-cost"/>
          <p:cNvSpPr/>
          <p:nvPr/>
        </p:nvSpPr>
        <p:spPr>
          <a:xfrm>
            <a:off x="1097280" y="9098280"/>
            <a:ext cx="17922240" cy="1051560"/>
          </a:xfrm>
          <a:prstGeom prst="roundRect">
            <a:avLst>
              <a:gd name="adj" fmla="val 26087"/>
            </a:avLst>
          </a:prstGeom>
          <a:solidFill>
            <a:schemeClr val="bg1"/>
          </a:solidFill>
          <a:ln/>
        </p:spPr>
      </p:sp>
      <p:sp>
        <p:nvSpPr>
          <p:cNvPr id="6" name="Text 2"/>
          <p:cNvSpPr txBox="1"/>
          <p:nvPr/>
        </p:nvSpPr>
        <p:spPr>
          <a:xfrm>
            <a:off x="1463040" y="9098280"/>
            <a:ext cx="17190720" cy="1051560"/>
          </a:xfrm>
          <a:prstGeom prst="rect">
            <a:avLst/>
          </a:prstGeom>
          <a:noFill/>
          <a:ln/>
        </p:spPr>
        <p:txBody>
          <a:bodyPr wrap="square" lIns="0" tIns="0" rIns="0" bIns="0" rtlCol="0" anchor="ctr"/>
          <a:lstStyle/>
          <a:p>
            <a:pPr algn="ctr" indent="0" marL="0">
              <a:buNone/>
            </a:pPr>
            <a:r>
              <a:rPr lang="en-US" sz="2500" b="1" dirty="0">
                <a:solidFill>
                  <a:schemeClr val="tx2"/>
                </a:solidFill>
              </a:rPr>
              <a:t>Estimated total project cost: ≈ ₹2,500  </a:t>
            </a:r>
            <a:pPr algn="ctr" indent="0" marL="0">
              <a:buNone/>
            </a:pPr>
            <a:r>
              <a:rPr lang="en-US" sz="2500" dirty="0">
                <a:solidFill>
                  <a:schemeClr val="tx1"/>
                </a:solidFill>
              </a:rPr>
              <a:t>(hardware already owned; ₹0 if only the local LLM is used)</a:t>
            </a:r>
            <a:endParaRPr lang="en-US" sz="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Project Design: System Architecture</a:t>
            </a:r>
            <a:endParaRPr lang="en-US" sz="6600" dirty="0"/>
          </a:p>
        </p:txBody>
      </p:sp>
      <p:sp>
        <p:nvSpPr>
          <p:cNvPr id="4" name="Shape 1"/>
          <p:cNvSpPr/>
          <p:nvPr/>
        </p:nvSpPr>
        <p:spPr>
          <a:xfrm>
            <a:off x="874524" y="2141076"/>
            <a:ext cx="18354951" cy="8182327"/>
          </a:xfrm>
          <a:prstGeom prst="roundRect">
            <a:avLst>
              <a:gd name="adj" fmla="val 5029"/>
            </a:avLst>
          </a:prstGeom>
          <a:solidFill>
            <a:schemeClr val="bg1"/>
          </a:solidFill>
          <a:ln w="19050">
            <a:solidFill>
              <a:srgbClr val="333333"/>
            </a:solidFill>
            <a:prstDash val="solid"/>
          </a:ln>
        </p:spPr>
      </p:sp>
      <p:sp>
        <p:nvSpPr>
          <p:cNvPr id="5" name="Text 2"/>
          <p:cNvSpPr txBox="1"/>
          <p:nvPr/>
        </p:nvSpPr>
        <p:spPr>
          <a:xfrm>
            <a:off x="1236396" y="2563260"/>
            <a:ext cx="9046799" cy="402080"/>
          </a:xfrm>
          <a:prstGeom prst="rect">
            <a:avLst/>
          </a:prstGeom>
          <a:noFill/>
          <a:ln/>
        </p:spPr>
        <p:txBody>
          <a:bodyPr wrap="square" lIns="0" tIns="0" rIns="0" bIns="0" rtlCol="0" anchor="ctr"/>
          <a:lstStyle/>
          <a:p>
            <a:pPr indent="0" marL="0">
              <a:buNone/>
            </a:pPr>
            <a:r>
              <a:rPr lang="en-US" sz="2600" b="1" i="1" dirty="0">
                <a:solidFill>
                  <a:schemeClr val="tx2"/>
                </a:solidFill>
              </a:rPr>
              <a:t>Closed-loop incident workflow:</a:t>
            </a:r>
            <a:endParaRPr lang="en-US" sz="2600" dirty="0"/>
          </a:p>
        </p:txBody>
      </p:sp>
      <p:sp>
        <p:nvSpPr>
          <p:cNvPr id="6" name="Text 3"/>
          <p:cNvSpPr txBox="1"/>
          <p:nvPr/>
        </p:nvSpPr>
        <p:spPr>
          <a:xfrm>
            <a:off x="1236396" y="2894976"/>
            <a:ext cx="9046799" cy="402080"/>
          </a:xfrm>
          <a:prstGeom prst="rect">
            <a:avLst/>
          </a:prstGeom>
          <a:noFill/>
          <a:ln/>
        </p:spPr>
        <p:txBody>
          <a:bodyPr wrap="square" lIns="0" tIns="0" rIns="0" bIns="0" rtlCol="0" anchor="ctr"/>
          <a:lstStyle/>
          <a:p>
            <a:pPr indent="0" marL="0">
              <a:buNone/>
            </a:pPr>
            <a:r>
              <a:rPr lang="en-US" sz="2500" i="1" dirty="0">
                <a:solidFill>
                  <a:schemeClr val="accent3"/>
                </a:solidFill>
              </a:rPr>
              <a:t>AI investigates and proposes — a human approves before production.</a:t>
            </a:r>
            <a:endParaRPr lang="en-US" sz="2500" dirty="0"/>
          </a:p>
        </p:txBody>
      </p:sp>
      <p:sp>
        <p:nvSpPr>
          <p:cNvPr id="7" name="Shape 4"/>
          <p:cNvSpPr/>
          <p:nvPr/>
        </p:nvSpPr>
        <p:spPr>
          <a:xfrm>
            <a:off x="4111268" y="3658928"/>
            <a:ext cx="14816647" cy="4885272"/>
          </a:xfrm>
          <a:prstGeom prst="roundRect">
            <a:avLst>
              <a:gd name="adj" fmla="val 4679"/>
            </a:avLst>
          </a:prstGeom>
          <a:solidFill>
            <a:schemeClr val="bg2"/>
          </a:solidFill>
          <a:ln/>
        </p:spPr>
      </p:sp>
      <p:sp>
        <p:nvSpPr>
          <p:cNvPr id="8" name="Text 5"/>
          <p:cNvSpPr txBox="1"/>
          <p:nvPr/>
        </p:nvSpPr>
        <p:spPr>
          <a:xfrm>
            <a:off x="4432932" y="3779552"/>
            <a:ext cx="4020800" cy="301560"/>
          </a:xfrm>
          <a:prstGeom prst="rect">
            <a:avLst/>
          </a:prstGeom>
          <a:noFill/>
          <a:ln/>
        </p:spPr>
        <p:txBody>
          <a:bodyPr wrap="square" lIns="0" tIns="0" rIns="0" bIns="0" rtlCol="0" anchor="ctr"/>
          <a:lstStyle/>
          <a:p>
            <a:pPr indent="0" marL="0">
              <a:buNone/>
            </a:pPr>
            <a:r>
              <a:rPr lang="en-US" sz="1900" b="1" spc="400" kern="0" dirty="0">
                <a:solidFill>
                  <a:schemeClr val="tx2"/>
                </a:solidFill>
                <a:latin typeface="Calibri" pitchFamily="34" charset="0"/>
                <a:ea typeface="Calibri" pitchFamily="34" charset="-122"/>
                <a:cs typeface="Calibri" pitchFamily="34" charset="-120"/>
              </a:rPr>
              <a:t>AION PLATFORM</a:t>
            </a:r>
            <a:endParaRPr lang="en-US" sz="1900" dirty="0"/>
          </a:p>
        </p:txBody>
      </p:sp>
      <p:sp>
        <p:nvSpPr>
          <p:cNvPr id="9" name="Shape 6"/>
          <p:cNvSpPr/>
          <p:nvPr/>
        </p:nvSpPr>
        <p:spPr>
          <a:xfrm>
            <a:off x="11740735" y="2472792"/>
            <a:ext cx="3206588" cy="864472"/>
          </a:xfrm>
          <a:prstGeom prst="roundRect">
            <a:avLst>
              <a:gd name="adj" fmla="val 12693"/>
            </a:avLst>
          </a:prstGeom>
          <a:solidFill>
            <a:schemeClr val="bg1"/>
          </a:solidFill>
          <a:ln w="15875">
            <a:solidFill>
              <a:schemeClr val="tx2"/>
            </a:solidFill>
            <a:prstDash val="dash"/>
          </a:ln>
        </p:spPr>
      </p:sp>
      <p:sp>
        <p:nvSpPr>
          <p:cNvPr id="10" name="Shape 7"/>
          <p:cNvSpPr/>
          <p:nvPr/>
        </p:nvSpPr>
        <p:spPr>
          <a:xfrm>
            <a:off x="11941775" y="2623572"/>
            <a:ext cx="562912" cy="562912"/>
          </a:xfrm>
          <a:prstGeom prst="ellipse">
            <a:avLst/>
          </a:prstGeom>
          <a:solidFill>
            <a:schemeClr val="tx2"/>
          </a:solidFill>
          <a:ln/>
        </p:spPr>
      </p:sp>
      <p:pic>
        <p:nvPicPr>
          <p:cNvPr id="11" name="Image 0" descr="git-branch">    </p:cNvPr>
          <p:cNvPicPr>
            <a:picLocks noChangeAspect="1"/>
          </p:cNvPicPr>
          <p:nvPr/>
        </p:nvPicPr>
        <p:blipFill>
          <a:blip r:embed="rId1"/>
          <a:stretch>
            <a:fillRect/>
          </a:stretch>
        </p:blipFill>
        <p:spPr>
          <a:xfrm>
            <a:off x="12065616" y="2747412"/>
            <a:ext cx="315231" cy="315231"/>
          </a:xfrm>
          <a:prstGeom prst="rect">
            <a:avLst/>
          </a:prstGeom>
        </p:spPr>
      </p:pic>
      <p:sp>
        <p:nvSpPr>
          <p:cNvPr id="12" name="Text 8"/>
          <p:cNvSpPr txBox="1"/>
          <p:nvPr/>
        </p:nvSpPr>
        <p:spPr>
          <a:xfrm>
            <a:off x="12655467" y="2472792"/>
            <a:ext cx="2201388" cy="86447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Git Repository &amp; Deployment History</a:t>
            </a:r>
            <a:endParaRPr lang="en-US" sz="1800" dirty="0"/>
          </a:p>
        </p:txBody>
      </p:sp>
      <p:sp>
        <p:nvSpPr>
          <p:cNvPr id="13" name="Shape 9"/>
          <p:cNvSpPr/>
          <p:nvPr/>
        </p:nvSpPr>
        <p:spPr>
          <a:xfrm>
            <a:off x="15399663" y="2472792"/>
            <a:ext cx="3206588" cy="864472"/>
          </a:xfrm>
          <a:prstGeom prst="roundRect">
            <a:avLst>
              <a:gd name="adj" fmla="val 12693"/>
            </a:avLst>
          </a:prstGeom>
          <a:solidFill>
            <a:schemeClr val="bg1"/>
          </a:solidFill>
          <a:ln w="15875">
            <a:solidFill>
              <a:schemeClr val="tx2"/>
            </a:solidFill>
            <a:prstDash val="dash"/>
          </a:ln>
        </p:spPr>
      </p:sp>
      <p:sp>
        <p:nvSpPr>
          <p:cNvPr id="14" name="Shape 10"/>
          <p:cNvSpPr/>
          <p:nvPr/>
        </p:nvSpPr>
        <p:spPr>
          <a:xfrm>
            <a:off x="15600703" y="2623572"/>
            <a:ext cx="562912" cy="562912"/>
          </a:xfrm>
          <a:prstGeom prst="ellipse">
            <a:avLst/>
          </a:prstGeom>
          <a:solidFill>
            <a:schemeClr val="tx2"/>
          </a:solidFill>
          <a:ln/>
        </p:spPr>
      </p:sp>
      <p:pic>
        <p:nvPicPr>
          <p:cNvPr id="15" name="Image 1" descr="sparkles">    </p:cNvPr>
          <p:cNvPicPr>
            <a:picLocks noChangeAspect="1"/>
          </p:cNvPicPr>
          <p:nvPr/>
        </p:nvPicPr>
        <p:blipFill>
          <a:blip r:embed="rId2"/>
          <a:stretch>
            <a:fillRect/>
          </a:stretch>
        </p:blipFill>
        <p:spPr>
          <a:xfrm>
            <a:off x="15724543" y="2747412"/>
            <a:ext cx="315231" cy="315231"/>
          </a:xfrm>
          <a:prstGeom prst="rect">
            <a:avLst/>
          </a:prstGeom>
        </p:spPr>
      </p:pic>
      <p:sp>
        <p:nvSpPr>
          <p:cNvPr id="16" name="Text 11"/>
          <p:cNvSpPr txBox="1"/>
          <p:nvPr/>
        </p:nvSpPr>
        <p:spPr>
          <a:xfrm>
            <a:off x="16314395" y="2472792"/>
            <a:ext cx="2201388" cy="86447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LLM (Claude API or local model)</a:t>
            </a:r>
            <a:endParaRPr lang="en-US" sz="1800" dirty="0"/>
          </a:p>
        </p:txBody>
      </p:sp>
      <p:sp>
        <p:nvSpPr>
          <p:cNvPr id="17" name="Shape 12"/>
          <p:cNvSpPr/>
          <p:nvPr/>
        </p:nvSpPr>
        <p:spPr>
          <a:xfrm>
            <a:off x="1186136" y="4151476"/>
            <a:ext cx="2513000" cy="4121320"/>
          </a:xfrm>
          <a:prstGeom prst="roundRect">
            <a:avLst>
              <a:gd name="adj" fmla="val 4366"/>
            </a:avLst>
          </a:prstGeom>
          <a:solidFill>
            <a:schemeClr val="bg1"/>
          </a:solidFill>
          <a:ln w="15875">
            <a:solidFill>
              <a:schemeClr val="tx2"/>
            </a:solidFill>
            <a:prstDash val="dash"/>
          </a:ln>
        </p:spPr>
      </p:sp>
      <p:sp>
        <p:nvSpPr>
          <p:cNvPr id="18" name="Shape 13"/>
          <p:cNvSpPr/>
          <p:nvPr/>
        </p:nvSpPr>
        <p:spPr>
          <a:xfrm>
            <a:off x="1990296" y="4573660"/>
            <a:ext cx="904680" cy="904680"/>
          </a:xfrm>
          <a:prstGeom prst="ellipse">
            <a:avLst/>
          </a:prstGeom>
          <a:solidFill>
            <a:schemeClr val="tx2"/>
          </a:solidFill>
          <a:ln/>
        </p:spPr>
      </p:sp>
      <p:pic>
        <p:nvPicPr>
          <p:cNvPr id="19" name="Image 2" descr="server">    </p:cNvPr>
          <p:cNvPicPr>
            <a:picLocks noChangeAspect="1"/>
          </p:cNvPicPr>
          <p:nvPr/>
        </p:nvPicPr>
        <p:blipFill>
          <a:blip r:embed="rId3"/>
          <a:stretch>
            <a:fillRect/>
          </a:stretch>
        </p:blipFill>
        <p:spPr>
          <a:xfrm>
            <a:off x="2189325" y="4772689"/>
            <a:ext cx="506621" cy="506621"/>
          </a:xfrm>
          <a:prstGeom prst="rect">
            <a:avLst/>
          </a:prstGeom>
        </p:spPr>
      </p:pic>
      <p:sp>
        <p:nvSpPr>
          <p:cNvPr id="20" name="Text 14"/>
          <p:cNvSpPr txBox="1"/>
          <p:nvPr/>
        </p:nvSpPr>
        <p:spPr>
          <a:xfrm>
            <a:off x="1186136" y="5779900"/>
            <a:ext cx="2513000" cy="753900"/>
          </a:xfrm>
          <a:prstGeom prst="rect">
            <a:avLst/>
          </a:prstGeom>
          <a:noFill/>
          <a:ln/>
        </p:spPr>
        <p:txBody>
          <a:bodyPr wrap="square" lIns="0" tIns="0" rIns="0" bIns="0" rtlCol="0" anchor="ctr"/>
          <a:lstStyle/>
          <a:p>
            <a:pPr algn="ctr" indent="0" marL="0">
              <a:buNone/>
            </a:pPr>
            <a:r>
              <a:rPr lang="en-US" sz="2500" b="1" dirty="0">
                <a:solidFill>
                  <a:schemeClr val="tx2"/>
                </a:solidFill>
                <a:latin typeface="Calibri" pitchFamily="34" charset="0"/>
                <a:ea typeface="Calibri" pitchFamily="34" charset="-122"/>
                <a:cs typeface="Calibri" pitchFamily="34" charset="-120"/>
              </a:rPr>
              <a:t>Production</a:t>
            </a:r>
            <a:endParaRPr lang="en-US" sz="2500" dirty="0"/>
          </a:p>
          <a:p>
            <a:pPr algn="ctr" indent="0" marL="0">
              <a:buNone/>
            </a:pPr>
            <a:r>
              <a:rPr lang="en-US" sz="2500" b="1" dirty="0">
                <a:solidFill>
                  <a:schemeClr val="tx2"/>
                </a:solidFill>
                <a:latin typeface="Calibri" pitchFamily="34" charset="0"/>
                <a:ea typeface="Calibri" pitchFamily="34" charset="-122"/>
                <a:cs typeface="Calibri" pitchFamily="34" charset="-120"/>
              </a:rPr>
              <a:t>Application</a:t>
            </a:r>
            <a:endParaRPr lang="en-US" sz="2500" dirty="0"/>
          </a:p>
        </p:txBody>
      </p:sp>
      <p:sp>
        <p:nvSpPr>
          <p:cNvPr id="21" name="Text 15"/>
          <p:cNvSpPr txBox="1"/>
          <p:nvPr/>
        </p:nvSpPr>
        <p:spPr>
          <a:xfrm>
            <a:off x="1306760" y="6614215"/>
            <a:ext cx="2271752" cy="552860"/>
          </a:xfrm>
          <a:prstGeom prst="rect">
            <a:avLst/>
          </a:prstGeom>
          <a:noFill/>
          <a:ln/>
        </p:spPr>
        <p:txBody>
          <a:bodyPr wrap="square" lIns="0" tIns="0" rIns="0" bIns="0" rtlCol="0" anchor="t"/>
          <a:lstStyle/>
          <a:p>
            <a:pPr algn="ctr" indent="0" marL="0">
              <a:buNone/>
            </a:pPr>
            <a:r>
              <a:rPr lang="en-US" sz="1800" dirty="0">
                <a:solidFill>
                  <a:schemeClr val="accent3"/>
                </a:solidFill>
              </a:rPr>
              <a:t>Live service emitting logs and errors</a:t>
            </a:r>
            <a:endParaRPr lang="en-US" sz="1800" dirty="0"/>
          </a:p>
        </p:txBody>
      </p:sp>
      <p:sp>
        <p:nvSpPr>
          <p:cNvPr id="22" name="Shape 16"/>
          <p:cNvSpPr/>
          <p:nvPr/>
        </p:nvSpPr>
        <p:spPr>
          <a:xfrm>
            <a:off x="4432932" y="4161528"/>
            <a:ext cx="3196536" cy="1688736"/>
          </a:xfrm>
          <a:prstGeom prst="roundRect">
            <a:avLst>
              <a:gd name="adj" fmla="val 6498"/>
            </a:avLst>
          </a:prstGeom>
          <a:solidFill>
            <a:schemeClr val="bg1"/>
          </a:solidFill>
          <a:ln w="12700">
            <a:solidFill>
              <a:srgbClr val="D6CCB6"/>
            </a:solidFill>
            <a:prstDash val="solid"/>
          </a:ln>
        </p:spPr>
      </p:sp>
      <p:sp>
        <p:nvSpPr>
          <p:cNvPr id="23" name="Shape 17"/>
          <p:cNvSpPr/>
          <p:nvPr/>
        </p:nvSpPr>
        <p:spPr>
          <a:xfrm>
            <a:off x="4613868" y="4362568"/>
            <a:ext cx="482496" cy="482496"/>
          </a:xfrm>
          <a:prstGeom prst="ellipse">
            <a:avLst/>
          </a:prstGeom>
          <a:solidFill>
            <a:schemeClr val="tx2"/>
          </a:solidFill>
          <a:ln/>
        </p:spPr>
      </p:sp>
      <p:sp>
        <p:nvSpPr>
          <p:cNvPr id="24" name="Text 18"/>
          <p:cNvSpPr txBox="1"/>
          <p:nvPr/>
        </p:nvSpPr>
        <p:spPr>
          <a:xfrm>
            <a:off x="4613868" y="4362568"/>
            <a:ext cx="482496" cy="482496"/>
          </a:xfrm>
          <a:prstGeom prst="rect">
            <a:avLst/>
          </a:prstGeom>
          <a:noFill/>
          <a:ln/>
        </p:spPr>
        <p:txBody>
          <a:bodyPr wrap="square" lIns="0" tIns="0" rIns="0" bIns="0" rtlCol="0" anchor="ctr"/>
          <a:lstStyle/>
          <a:p>
            <a:pPr algn="ctr" indent="0" marL="0">
              <a:buNone/>
            </a:pPr>
            <a:r>
              <a:rPr lang="en-US" sz="1900" b="1" dirty="0">
                <a:solidFill>
                  <a:schemeClr val="bg1"/>
                </a:solidFill>
                <a:latin typeface="Calibri" pitchFamily="34" charset="0"/>
                <a:ea typeface="Calibri" pitchFamily="34" charset="-122"/>
                <a:cs typeface="Calibri" pitchFamily="34" charset="-120"/>
              </a:rPr>
              <a:t>1</a:t>
            </a:r>
            <a:endParaRPr lang="en-US" sz="1900" dirty="0"/>
          </a:p>
        </p:txBody>
      </p:sp>
      <p:sp>
        <p:nvSpPr>
          <p:cNvPr id="25" name="Text 19"/>
          <p:cNvSpPr txBox="1"/>
          <p:nvPr/>
        </p:nvSpPr>
        <p:spPr>
          <a:xfrm>
            <a:off x="5206936" y="4342464"/>
            <a:ext cx="2332064" cy="703640"/>
          </a:xfrm>
          <a:prstGeom prst="rect">
            <a:avLst/>
          </a:prstGeom>
          <a:noFill/>
          <a:ln/>
        </p:spPr>
        <p:txBody>
          <a:bodyPr wrap="square" lIns="0" tIns="0" rIns="0" bIns="0" rtlCol="0" anchor="ctr"/>
          <a:lstStyle/>
          <a:p>
            <a:pPr indent="0" marL="0">
              <a:buNone/>
            </a:pPr>
            <a:r>
              <a:rPr lang="en-US" sz="2300" b="1" dirty="0">
                <a:solidFill>
                  <a:schemeClr val="tx2"/>
                </a:solidFill>
                <a:latin typeface="Calibri" pitchFamily="34" charset="0"/>
                <a:ea typeface="Calibri" pitchFamily="34" charset="-122"/>
                <a:cs typeface="Calibri" pitchFamily="34" charset="-120"/>
              </a:rPr>
              <a:t>Log Ingestion &amp; Filtering</a:t>
            </a:r>
            <a:endParaRPr lang="en-US" sz="2300" dirty="0"/>
          </a:p>
        </p:txBody>
      </p:sp>
      <p:sp>
        <p:nvSpPr>
          <p:cNvPr id="26" name="Text 20"/>
          <p:cNvSpPr txBox="1"/>
          <p:nvPr/>
        </p:nvSpPr>
        <p:spPr>
          <a:xfrm>
            <a:off x="4613868" y="5166728"/>
            <a:ext cx="2864820" cy="552860"/>
          </a:xfrm>
          <a:prstGeom prst="rect">
            <a:avLst/>
          </a:prstGeom>
          <a:noFill/>
          <a:ln/>
        </p:spPr>
        <p:txBody>
          <a:bodyPr wrap="square" lIns="0" tIns="0" rIns="0" bIns="0" rtlCol="0" anchor="t"/>
          <a:lstStyle/>
          <a:p>
            <a:pPr indent="0" marL="0">
              <a:buNone/>
            </a:pPr>
            <a:r>
              <a:rPr lang="en-US" sz="1750" dirty="0">
                <a:solidFill>
                  <a:schemeClr val="accent3"/>
                </a:solidFill>
              </a:rPr>
              <a:t>Collects, parses and filters application logs</a:t>
            </a:r>
            <a:endParaRPr lang="en-US" sz="1750" dirty="0"/>
          </a:p>
        </p:txBody>
      </p:sp>
      <p:sp>
        <p:nvSpPr>
          <p:cNvPr id="27" name="Shape 21"/>
          <p:cNvSpPr/>
          <p:nvPr/>
        </p:nvSpPr>
        <p:spPr>
          <a:xfrm>
            <a:off x="8091859" y="4161528"/>
            <a:ext cx="3196536" cy="1688736"/>
          </a:xfrm>
          <a:prstGeom prst="roundRect">
            <a:avLst>
              <a:gd name="adj" fmla="val 6498"/>
            </a:avLst>
          </a:prstGeom>
          <a:solidFill>
            <a:schemeClr val="bg1"/>
          </a:solidFill>
          <a:ln w="12700">
            <a:solidFill>
              <a:srgbClr val="D6CCB6"/>
            </a:solidFill>
            <a:prstDash val="solid"/>
          </a:ln>
        </p:spPr>
      </p:sp>
      <p:sp>
        <p:nvSpPr>
          <p:cNvPr id="28" name="Shape 22"/>
          <p:cNvSpPr/>
          <p:nvPr/>
        </p:nvSpPr>
        <p:spPr>
          <a:xfrm>
            <a:off x="8272795" y="4362568"/>
            <a:ext cx="482496" cy="482496"/>
          </a:xfrm>
          <a:prstGeom prst="ellipse">
            <a:avLst/>
          </a:prstGeom>
          <a:solidFill>
            <a:schemeClr val="tx2"/>
          </a:solidFill>
          <a:ln/>
        </p:spPr>
      </p:sp>
      <p:sp>
        <p:nvSpPr>
          <p:cNvPr id="29" name="Text 23"/>
          <p:cNvSpPr txBox="1"/>
          <p:nvPr/>
        </p:nvSpPr>
        <p:spPr>
          <a:xfrm>
            <a:off x="8272795" y="4362568"/>
            <a:ext cx="482496" cy="482496"/>
          </a:xfrm>
          <a:prstGeom prst="rect">
            <a:avLst/>
          </a:prstGeom>
          <a:noFill/>
          <a:ln/>
        </p:spPr>
        <p:txBody>
          <a:bodyPr wrap="square" lIns="0" tIns="0" rIns="0" bIns="0" rtlCol="0" anchor="ctr"/>
          <a:lstStyle/>
          <a:p>
            <a:pPr algn="ctr" indent="0" marL="0">
              <a:buNone/>
            </a:pPr>
            <a:r>
              <a:rPr lang="en-US" sz="1900" b="1" dirty="0">
                <a:solidFill>
                  <a:schemeClr val="bg1"/>
                </a:solidFill>
                <a:latin typeface="Calibri" pitchFamily="34" charset="0"/>
                <a:ea typeface="Calibri" pitchFamily="34" charset="-122"/>
                <a:cs typeface="Calibri" pitchFamily="34" charset="-120"/>
              </a:rPr>
              <a:t>2</a:t>
            </a:r>
            <a:endParaRPr lang="en-US" sz="1900" dirty="0"/>
          </a:p>
        </p:txBody>
      </p:sp>
      <p:sp>
        <p:nvSpPr>
          <p:cNvPr id="30" name="Text 24"/>
          <p:cNvSpPr txBox="1"/>
          <p:nvPr/>
        </p:nvSpPr>
        <p:spPr>
          <a:xfrm>
            <a:off x="8865863" y="4342464"/>
            <a:ext cx="2332064" cy="703640"/>
          </a:xfrm>
          <a:prstGeom prst="rect">
            <a:avLst/>
          </a:prstGeom>
          <a:noFill/>
          <a:ln/>
        </p:spPr>
        <p:txBody>
          <a:bodyPr wrap="square" lIns="0" tIns="0" rIns="0" bIns="0" rtlCol="0" anchor="ctr"/>
          <a:lstStyle/>
          <a:p>
            <a:pPr indent="0" marL="0">
              <a:buNone/>
            </a:pPr>
            <a:r>
              <a:rPr lang="en-US" sz="2300" b="1" dirty="0">
                <a:solidFill>
                  <a:schemeClr val="tx2"/>
                </a:solidFill>
                <a:latin typeface="Calibri" pitchFamily="34" charset="0"/>
                <a:ea typeface="Calibri" pitchFamily="34" charset="-122"/>
                <a:cs typeface="Calibri" pitchFamily="34" charset="-120"/>
              </a:rPr>
              <a:t>Deduplication &amp; Incident Detection</a:t>
            </a:r>
            <a:endParaRPr lang="en-US" sz="2300" dirty="0"/>
          </a:p>
        </p:txBody>
      </p:sp>
      <p:sp>
        <p:nvSpPr>
          <p:cNvPr id="31" name="Text 25"/>
          <p:cNvSpPr txBox="1"/>
          <p:nvPr/>
        </p:nvSpPr>
        <p:spPr>
          <a:xfrm>
            <a:off x="8272795" y="5166728"/>
            <a:ext cx="2864820" cy="552860"/>
          </a:xfrm>
          <a:prstGeom prst="rect">
            <a:avLst/>
          </a:prstGeom>
          <a:noFill/>
          <a:ln/>
        </p:spPr>
        <p:txBody>
          <a:bodyPr wrap="square" lIns="0" tIns="0" rIns="0" bIns="0" rtlCol="0" anchor="t"/>
          <a:lstStyle/>
          <a:p>
            <a:pPr indent="0" marL="0">
              <a:buNone/>
            </a:pPr>
            <a:r>
              <a:rPr lang="en-US" sz="1750" dirty="0">
                <a:solidFill>
                  <a:schemeClr val="accent3"/>
                </a:solidFill>
              </a:rPr>
              <a:t>Groups repeated errors and flags error spikes</a:t>
            </a:r>
            <a:endParaRPr lang="en-US" sz="1750" dirty="0"/>
          </a:p>
        </p:txBody>
      </p:sp>
      <p:sp>
        <p:nvSpPr>
          <p:cNvPr id="32" name="Shape 26"/>
          <p:cNvSpPr/>
          <p:nvPr/>
        </p:nvSpPr>
        <p:spPr>
          <a:xfrm>
            <a:off x="11750787" y="4161528"/>
            <a:ext cx="3196536" cy="1688736"/>
          </a:xfrm>
          <a:prstGeom prst="roundRect">
            <a:avLst>
              <a:gd name="adj" fmla="val 6498"/>
            </a:avLst>
          </a:prstGeom>
          <a:solidFill>
            <a:schemeClr val="bg1"/>
          </a:solidFill>
          <a:ln w="12700">
            <a:solidFill>
              <a:srgbClr val="D6CCB6"/>
            </a:solidFill>
            <a:prstDash val="solid"/>
          </a:ln>
        </p:spPr>
      </p:sp>
      <p:sp>
        <p:nvSpPr>
          <p:cNvPr id="33" name="Shape 27"/>
          <p:cNvSpPr/>
          <p:nvPr/>
        </p:nvSpPr>
        <p:spPr>
          <a:xfrm>
            <a:off x="11931723" y="4362568"/>
            <a:ext cx="482496" cy="482496"/>
          </a:xfrm>
          <a:prstGeom prst="ellipse">
            <a:avLst/>
          </a:prstGeom>
          <a:solidFill>
            <a:schemeClr val="tx2"/>
          </a:solidFill>
          <a:ln/>
        </p:spPr>
      </p:sp>
      <p:sp>
        <p:nvSpPr>
          <p:cNvPr id="34" name="Text 28"/>
          <p:cNvSpPr txBox="1"/>
          <p:nvPr/>
        </p:nvSpPr>
        <p:spPr>
          <a:xfrm>
            <a:off x="11931723" y="4362568"/>
            <a:ext cx="482496" cy="482496"/>
          </a:xfrm>
          <a:prstGeom prst="rect">
            <a:avLst/>
          </a:prstGeom>
          <a:noFill/>
          <a:ln/>
        </p:spPr>
        <p:txBody>
          <a:bodyPr wrap="square" lIns="0" tIns="0" rIns="0" bIns="0" rtlCol="0" anchor="ctr"/>
          <a:lstStyle/>
          <a:p>
            <a:pPr algn="ctr" indent="0" marL="0">
              <a:buNone/>
            </a:pPr>
            <a:r>
              <a:rPr lang="en-US" sz="1900" b="1" dirty="0">
                <a:solidFill>
                  <a:schemeClr val="bg1"/>
                </a:solidFill>
                <a:latin typeface="Calibri" pitchFamily="34" charset="0"/>
                <a:ea typeface="Calibri" pitchFamily="34" charset="-122"/>
                <a:cs typeface="Calibri" pitchFamily="34" charset="-120"/>
              </a:rPr>
              <a:t>3</a:t>
            </a:r>
            <a:endParaRPr lang="en-US" sz="1900" dirty="0"/>
          </a:p>
        </p:txBody>
      </p:sp>
      <p:sp>
        <p:nvSpPr>
          <p:cNvPr id="35" name="Text 29"/>
          <p:cNvSpPr txBox="1"/>
          <p:nvPr/>
        </p:nvSpPr>
        <p:spPr>
          <a:xfrm>
            <a:off x="12524791" y="4342464"/>
            <a:ext cx="2332064" cy="703640"/>
          </a:xfrm>
          <a:prstGeom prst="rect">
            <a:avLst/>
          </a:prstGeom>
          <a:noFill/>
          <a:ln/>
        </p:spPr>
        <p:txBody>
          <a:bodyPr wrap="square" lIns="0" tIns="0" rIns="0" bIns="0" rtlCol="0" anchor="ctr"/>
          <a:lstStyle/>
          <a:p>
            <a:pPr indent="0" marL="0">
              <a:buNone/>
            </a:pPr>
            <a:r>
              <a:rPr lang="en-US" sz="2300" b="1" dirty="0">
                <a:solidFill>
                  <a:schemeClr val="tx2"/>
                </a:solidFill>
                <a:latin typeface="Calibri" pitchFamily="34" charset="0"/>
                <a:ea typeface="Calibri" pitchFamily="34" charset="-122"/>
                <a:cs typeface="Calibri" pitchFamily="34" charset="-120"/>
              </a:rPr>
              <a:t>Git &amp; Deployment Correlation</a:t>
            </a:r>
            <a:endParaRPr lang="en-US" sz="2300" dirty="0"/>
          </a:p>
        </p:txBody>
      </p:sp>
      <p:sp>
        <p:nvSpPr>
          <p:cNvPr id="36" name="Text 30"/>
          <p:cNvSpPr txBox="1"/>
          <p:nvPr/>
        </p:nvSpPr>
        <p:spPr>
          <a:xfrm>
            <a:off x="11931723" y="5166728"/>
            <a:ext cx="2864820" cy="552860"/>
          </a:xfrm>
          <a:prstGeom prst="rect">
            <a:avLst/>
          </a:prstGeom>
          <a:noFill/>
          <a:ln/>
        </p:spPr>
        <p:txBody>
          <a:bodyPr wrap="square" lIns="0" tIns="0" rIns="0" bIns="0" rtlCol="0" anchor="t"/>
          <a:lstStyle/>
          <a:p>
            <a:pPr indent="0" marL="0">
              <a:buNone/>
            </a:pPr>
            <a:r>
              <a:rPr lang="en-US" sz="1750" dirty="0">
                <a:solidFill>
                  <a:schemeClr val="accent3"/>
                </a:solidFill>
              </a:rPr>
              <a:t>Ranks recent commits and releases as suspects</a:t>
            </a:r>
            <a:endParaRPr lang="en-US" sz="1750" dirty="0"/>
          </a:p>
        </p:txBody>
      </p:sp>
      <p:sp>
        <p:nvSpPr>
          <p:cNvPr id="37" name="Shape 31"/>
          <p:cNvSpPr/>
          <p:nvPr/>
        </p:nvSpPr>
        <p:spPr>
          <a:xfrm>
            <a:off x="15409715" y="4161528"/>
            <a:ext cx="3196536" cy="1688736"/>
          </a:xfrm>
          <a:prstGeom prst="roundRect">
            <a:avLst>
              <a:gd name="adj" fmla="val 6498"/>
            </a:avLst>
          </a:prstGeom>
          <a:solidFill>
            <a:schemeClr val="bg1"/>
          </a:solidFill>
          <a:ln w="12700">
            <a:solidFill>
              <a:srgbClr val="D6CCB6"/>
            </a:solidFill>
            <a:prstDash val="solid"/>
          </a:ln>
        </p:spPr>
      </p:sp>
      <p:sp>
        <p:nvSpPr>
          <p:cNvPr id="38" name="Shape 32"/>
          <p:cNvSpPr/>
          <p:nvPr/>
        </p:nvSpPr>
        <p:spPr>
          <a:xfrm>
            <a:off x="15590651" y="4362568"/>
            <a:ext cx="482496" cy="482496"/>
          </a:xfrm>
          <a:prstGeom prst="ellipse">
            <a:avLst/>
          </a:prstGeom>
          <a:solidFill>
            <a:schemeClr val="tx2"/>
          </a:solidFill>
          <a:ln/>
        </p:spPr>
      </p:sp>
      <p:sp>
        <p:nvSpPr>
          <p:cNvPr id="39" name="Text 33"/>
          <p:cNvSpPr txBox="1"/>
          <p:nvPr/>
        </p:nvSpPr>
        <p:spPr>
          <a:xfrm>
            <a:off x="15590651" y="4362568"/>
            <a:ext cx="482496" cy="482496"/>
          </a:xfrm>
          <a:prstGeom prst="rect">
            <a:avLst/>
          </a:prstGeom>
          <a:noFill/>
          <a:ln/>
        </p:spPr>
        <p:txBody>
          <a:bodyPr wrap="square" lIns="0" tIns="0" rIns="0" bIns="0" rtlCol="0" anchor="ctr"/>
          <a:lstStyle/>
          <a:p>
            <a:pPr algn="ctr" indent="0" marL="0">
              <a:buNone/>
            </a:pPr>
            <a:r>
              <a:rPr lang="en-US" sz="1900" b="1" dirty="0">
                <a:solidFill>
                  <a:schemeClr val="bg1"/>
                </a:solidFill>
                <a:latin typeface="Calibri" pitchFamily="34" charset="0"/>
                <a:ea typeface="Calibri" pitchFamily="34" charset="-122"/>
                <a:cs typeface="Calibri" pitchFamily="34" charset="-120"/>
              </a:rPr>
              <a:t>4</a:t>
            </a:r>
            <a:endParaRPr lang="en-US" sz="1900" dirty="0"/>
          </a:p>
        </p:txBody>
      </p:sp>
      <p:sp>
        <p:nvSpPr>
          <p:cNvPr id="40" name="Text 34"/>
          <p:cNvSpPr txBox="1"/>
          <p:nvPr/>
        </p:nvSpPr>
        <p:spPr>
          <a:xfrm>
            <a:off x="16183719" y="4342464"/>
            <a:ext cx="2332064" cy="703640"/>
          </a:xfrm>
          <a:prstGeom prst="rect">
            <a:avLst/>
          </a:prstGeom>
          <a:noFill/>
          <a:ln/>
        </p:spPr>
        <p:txBody>
          <a:bodyPr wrap="square" lIns="0" tIns="0" rIns="0" bIns="0" rtlCol="0" anchor="ctr"/>
          <a:lstStyle/>
          <a:p>
            <a:pPr indent="0" marL="0">
              <a:buNone/>
            </a:pPr>
            <a:r>
              <a:rPr lang="en-US" sz="2300" b="1" dirty="0">
                <a:solidFill>
                  <a:schemeClr val="tx2"/>
                </a:solidFill>
                <a:latin typeface="Calibri" pitchFamily="34" charset="0"/>
                <a:ea typeface="Calibri" pitchFamily="34" charset="-122"/>
                <a:cs typeface="Calibri" pitchFamily="34" charset="-120"/>
              </a:rPr>
              <a:t>AI Root-Cause Analysis</a:t>
            </a:r>
            <a:endParaRPr lang="en-US" sz="2300" dirty="0"/>
          </a:p>
        </p:txBody>
      </p:sp>
      <p:sp>
        <p:nvSpPr>
          <p:cNvPr id="41" name="Text 35"/>
          <p:cNvSpPr txBox="1"/>
          <p:nvPr/>
        </p:nvSpPr>
        <p:spPr>
          <a:xfrm>
            <a:off x="15590651" y="5166728"/>
            <a:ext cx="2864820" cy="552860"/>
          </a:xfrm>
          <a:prstGeom prst="rect">
            <a:avLst/>
          </a:prstGeom>
          <a:noFill/>
          <a:ln/>
        </p:spPr>
        <p:txBody>
          <a:bodyPr wrap="square" lIns="0" tIns="0" rIns="0" bIns="0" rtlCol="0" anchor="t"/>
          <a:lstStyle/>
          <a:p>
            <a:pPr indent="0" marL="0">
              <a:buNone/>
            </a:pPr>
            <a:r>
              <a:rPr lang="en-US" sz="1750" dirty="0">
                <a:solidFill>
                  <a:schemeClr val="accent3"/>
                </a:solidFill>
              </a:rPr>
              <a:t>Evidence-cited diagnosis, incident report &amp; ticket</a:t>
            </a:r>
            <a:endParaRPr lang="en-US" sz="1750" dirty="0"/>
          </a:p>
        </p:txBody>
      </p:sp>
      <p:sp>
        <p:nvSpPr>
          <p:cNvPr id="42" name="Shape 36"/>
          <p:cNvSpPr/>
          <p:nvPr/>
        </p:nvSpPr>
        <p:spPr>
          <a:xfrm>
            <a:off x="15409715" y="6584059"/>
            <a:ext cx="3196536" cy="1688736"/>
          </a:xfrm>
          <a:prstGeom prst="roundRect">
            <a:avLst>
              <a:gd name="adj" fmla="val 6498"/>
            </a:avLst>
          </a:prstGeom>
          <a:solidFill>
            <a:schemeClr val="bg1"/>
          </a:solidFill>
          <a:ln w="12700">
            <a:solidFill>
              <a:srgbClr val="D6CCB6"/>
            </a:solidFill>
            <a:prstDash val="solid"/>
          </a:ln>
        </p:spPr>
      </p:sp>
      <p:sp>
        <p:nvSpPr>
          <p:cNvPr id="43" name="Shape 37"/>
          <p:cNvSpPr/>
          <p:nvPr/>
        </p:nvSpPr>
        <p:spPr>
          <a:xfrm>
            <a:off x="15590651" y="6785099"/>
            <a:ext cx="482496" cy="482496"/>
          </a:xfrm>
          <a:prstGeom prst="ellipse">
            <a:avLst/>
          </a:prstGeom>
          <a:solidFill>
            <a:schemeClr val="tx2"/>
          </a:solidFill>
          <a:ln/>
        </p:spPr>
      </p:sp>
      <p:sp>
        <p:nvSpPr>
          <p:cNvPr id="44" name="Text 38"/>
          <p:cNvSpPr txBox="1"/>
          <p:nvPr/>
        </p:nvSpPr>
        <p:spPr>
          <a:xfrm>
            <a:off x="15590651" y="6785099"/>
            <a:ext cx="482496" cy="482496"/>
          </a:xfrm>
          <a:prstGeom prst="rect">
            <a:avLst/>
          </a:prstGeom>
          <a:noFill/>
          <a:ln/>
        </p:spPr>
        <p:txBody>
          <a:bodyPr wrap="square" lIns="0" tIns="0" rIns="0" bIns="0" rtlCol="0" anchor="ctr"/>
          <a:lstStyle/>
          <a:p>
            <a:pPr algn="ctr" indent="0" marL="0">
              <a:buNone/>
            </a:pPr>
            <a:r>
              <a:rPr lang="en-US" sz="1900" b="1" dirty="0">
                <a:solidFill>
                  <a:schemeClr val="bg1"/>
                </a:solidFill>
                <a:latin typeface="Calibri" pitchFamily="34" charset="0"/>
                <a:ea typeface="Calibri" pitchFamily="34" charset="-122"/>
                <a:cs typeface="Calibri" pitchFamily="34" charset="-120"/>
              </a:rPr>
              <a:t>5</a:t>
            </a:r>
            <a:endParaRPr lang="en-US" sz="1900" dirty="0"/>
          </a:p>
        </p:txBody>
      </p:sp>
      <p:sp>
        <p:nvSpPr>
          <p:cNvPr id="45" name="Text 39"/>
          <p:cNvSpPr txBox="1"/>
          <p:nvPr/>
        </p:nvSpPr>
        <p:spPr>
          <a:xfrm>
            <a:off x="16183719" y="6764995"/>
            <a:ext cx="2332064" cy="703640"/>
          </a:xfrm>
          <a:prstGeom prst="rect">
            <a:avLst/>
          </a:prstGeom>
          <a:noFill/>
          <a:ln/>
        </p:spPr>
        <p:txBody>
          <a:bodyPr wrap="square" lIns="0" tIns="0" rIns="0" bIns="0" rtlCol="0" anchor="ctr"/>
          <a:lstStyle/>
          <a:p>
            <a:pPr indent="0" marL="0">
              <a:buNone/>
            </a:pPr>
            <a:r>
              <a:rPr lang="en-US" sz="2300" b="1" dirty="0">
                <a:solidFill>
                  <a:schemeClr val="tx2"/>
                </a:solidFill>
                <a:latin typeface="Calibri" pitchFamily="34" charset="0"/>
                <a:ea typeface="Calibri" pitchFamily="34" charset="-122"/>
                <a:cs typeface="Calibri" pitchFamily="34" charset="-120"/>
              </a:rPr>
              <a:t>Candidate Patch Generation</a:t>
            </a:r>
            <a:endParaRPr lang="en-US" sz="2300" dirty="0"/>
          </a:p>
        </p:txBody>
      </p:sp>
      <p:sp>
        <p:nvSpPr>
          <p:cNvPr id="46" name="Text 40"/>
          <p:cNvSpPr txBox="1"/>
          <p:nvPr/>
        </p:nvSpPr>
        <p:spPr>
          <a:xfrm>
            <a:off x="15590651" y="7589259"/>
            <a:ext cx="2864820" cy="552860"/>
          </a:xfrm>
          <a:prstGeom prst="rect">
            <a:avLst/>
          </a:prstGeom>
          <a:noFill/>
          <a:ln/>
        </p:spPr>
        <p:txBody>
          <a:bodyPr wrap="square" lIns="0" tIns="0" rIns="0" bIns="0" rtlCol="0" anchor="t"/>
          <a:lstStyle/>
          <a:p>
            <a:pPr indent="0" marL="0">
              <a:buNone/>
            </a:pPr>
            <a:r>
              <a:rPr lang="en-US" sz="1750" dirty="0">
                <a:solidFill>
                  <a:schemeClr val="accent3"/>
                </a:solidFill>
              </a:rPr>
              <a:t>LLM fix as a reviewable diff on its own branch</a:t>
            </a:r>
            <a:endParaRPr lang="en-US" sz="1750" dirty="0"/>
          </a:p>
        </p:txBody>
      </p:sp>
      <p:sp>
        <p:nvSpPr>
          <p:cNvPr id="47" name="Shape 41"/>
          <p:cNvSpPr/>
          <p:nvPr/>
        </p:nvSpPr>
        <p:spPr>
          <a:xfrm>
            <a:off x="11750787" y="6584059"/>
            <a:ext cx="3196536" cy="1688736"/>
          </a:xfrm>
          <a:prstGeom prst="roundRect">
            <a:avLst>
              <a:gd name="adj" fmla="val 6498"/>
            </a:avLst>
          </a:prstGeom>
          <a:solidFill>
            <a:schemeClr val="bg1"/>
          </a:solidFill>
          <a:ln w="12700">
            <a:solidFill>
              <a:srgbClr val="D6CCB6"/>
            </a:solidFill>
            <a:prstDash val="solid"/>
          </a:ln>
        </p:spPr>
      </p:sp>
      <p:sp>
        <p:nvSpPr>
          <p:cNvPr id="48" name="Shape 42"/>
          <p:cNvSpPr/>
          <p:nvPr/>
        </p:nvSpPr>
        <p:spPr>
          <a:xfrm>
            <a:off x="11931723" y="6785099"/>
            <a:ext cx="482496" cy="482496"/>
          </a:xfrm>
          <a:prstGeom prst="ellipse">
            <a:avLst/>
          </a:prstGeom>
          <a:solidFill>
            <a:schemeClr val="tx2"/>
          </a:solidFill>
          <a:ln/>
        </p:spPr>
      </p:sp>
      <p:sp>
        <p:nvSpPr>
          <p:cNvPr id="49" name="Text 43"/>
          <p:cNvSpPr txBox="1"/>
          <p:nvPr/>
        </p:nvSpPr>
        <p:spPr>
          <a:xfrm>
            <a:off x="11931723" y="6785099"/>
            <a:ext cx="482496" cy="482496"/>
          </a:xfrm>
          <a:prstGeom prst="rect">
            <a:avLst/>
          </a:prstGeom>
          <a:noFill/>
          <a:ln/>
        </p:spPr>
        <p:txBody>
          <a:bodyPr wrap="square" lIns="0" tIns="0" rIns="0" bIns="0" rtlCol="0" anchor="ctr"/>
          <a:lstStyle/>
          <a:p>
            <a:pPr algn="ctr" indent="0" marL="0">
              <a:buNone/>
            </a:pPr>
            <a:r>
              <a:rPr lang="en-US" sz="1900" b="1" dirty="0">
                <a:solidFill>
                  <a:schemeClr val="bg1"/>
                </a:solidFill>
                <a:latin typeface="Calibri" pitchFamily="34" charset="0"/>
                <a:ea typeface="Calibri" pitchFamily="34" charset="-122"/>
                <a:cs typeface="Calibri" pitchFamily="34" charset="-120"/>
              </a:rPr>
              <a:t>6</a:t>
            </a:r>
            <a:endParaRPr lang="en-US" sz="1900" dirty="0"/>
          </a:p>
        </p:txBody>
      </p:sp>
      <p:sp>
        <p:nvSpPr>
          <p:cNvPr id="50" name="Text 44"/>
          <p:cNvSpPr txBox="1"/>
          <p:nvPr/>
        </p:nvSpPr>
        <p:spPr>
          <a:xfrm>
            <a:off x="12524791" y="6764995"/>
            <a:ext cx="2332064" cy="703640"/>
          </a:xfrm>
          <a:prstGeom prst="rect">
            <a:avLst/>
          </a:prstGeom>
          <a:noFill/>
          <a:ln/>
        </p:spPr>
        <p:txBody>
          <a:bodyPr wrap="square" lIns="0" tIns="0" rIns="0" bIns="0" rtlCol="0" anchor="ctr"/>
          <a:lstStyle/>
          <a:p>
            <a:pPr indent="0" marL="0">
              <a:buNone/>
            </a:pPr>
            <a:r>
              <a:rPr lang="en-US" sz="2300" b="1" dirty="0">
                <a:solidFill>
                  <a:schemeClr val="tx2"/>
                </a:solidFill>
                <a:latin typeface="Calibri" pitchFamily="34" charset="0"/>
                <a:ea typeface="Calibri" pitchFamily="34" charset="-122"/>
                <a:cs typeface="Calibri" pitchFamily="34" charset="-120"/>
              </a:rPr>
              <a:t>CI/CD &amp; Staging Validation</a:t>
            </a:r>
            <a:endParaRPr lang="en-US" sz="2300" dirty="0"/>
          </a:p>
        </p:txBody>
      </p:sp>
      <p:sp>
        <p:nvSpPr>
          <p:cNvPr id="51" name="Text 45"/>
          <p:cNvSpPr txBox="1"/>
          <p:nvPr/>
        </p:nvSpPr>
        <p:spPr>
          <a:xfrm>
            <a:off x="11931723" y="7589259"/>
            <a:ext cx="2864820" cy="552860"/>
          </a:xfrm>
          <a:prstGeom prst="rect">
            <a:avLst/>
          </a:prstGeom>
          <a:noFill/>
          <a:ln/>
        </p:spPr>
        <p:txBody>
          <a:bodyPr wrap="square" lIns="0" tIns="0" rIns="0" bIns="0" rtlCol="0" anchor="t"/>
          <a:lstStyle/>
          <a:p>
            <a:pPr indent="0" marL="0">
              <a:buNone/>
            </a:pPr>
            <a:r>
              <a:rPr lang="en-US" sz="1750" dirty="0">
                <a:solidFill>
                  <a:schemeClr val="accent3"/>
                </a:solidFill>
              </a:rPr>
              <a:t>Tests, staging deploy and traffic replay</a:t>
            </a:r>
            <a:endParaRPr lang="en-US" sz="1750" dirty="0"/>
          </a:p>
        </p:txBody>
      </p:sp>
      <p:sp>
        <p:nvSpPr>
          <p:cNvPr id="52" name="Shape 46"/>
          <p:cNvSpPr/>
          <p:nvPr/>
        </p:nvSpPr>
        <p:spPr>
          <a:xfrm>
            <a:off x="8091859" y="6584059"/>
            <a:ext cx="3196536" cy="1688736"/>
          </a:xfrm>
          <a:prstGeom prst="roundRect">
            <a:avLst>
              <a:gd name="adj" fmla="val 6498"/>
            </a:avLst>
          </a:prstGeom>
          <a:solidFill>
            <a:schemeClr val="tx2"/>
          </a:solidFill>
          <a:ln w="12700">
            <a:solidFill>
              <a:schemeClr val="tx2"/>
            </a:solidFill>
            <a:prstDash val="solid"/>
          </a:ln>
        </p:spPr>
      </p:sp>
      <p:sp>
        <p:nvSpPr>
          <p:cNvPr id="53" name="Shape 47"/>
          <p:cNvSpPr/>
          <p:nvPr/>
        </p:nvSpPr>
        <p:spPr>
          <a:xfrm>
            <a:off x="8272795" y="6785099"/>
            <a:ext cx="482496" cy="482496"/>
          </a:xfrm>
          <a:prstGeom prst="ellipse">
            <a:avLst/>
          </a:prstGeom>
          <a:solidFill>
            <a:schemeClr val="bg1"/>
          </a:solidFill>
          <a:ln/>
        </p:spPr>
      </p:sp>
      <p:sp>
        <p:nvSpPr>
          <p:cNvPr id="54" name="Text 48"/>
          <p:cNvSpPr txBox="1"/>
          <p:nvPr/>
        </p:nvSpPr>
        <p:spPr>
          <a:xfrm>
            <a:off x="8272795" y="6785099"/>
            <a:ext cx="482496" cy="482496"/>
          </a:xfrm>
          <a:prstGeom prst="rect">
            <a:avLst/>
          </a:prstGeom>
          <a:noFill/>
          <a:ln/>
        </p:spPr>
        <p:txBody>
          <a:bodyPr wrap="square" lIns="0" tIns="0" rIns="0" bIns="0" rtlCol="0" anchor="ctr"/>
          <a:lstStyle/>
          <a:p>
            <a:pPr algn="ctr" indent="0" marL="0">
              <a:buNone/>
            </a:pPr>
            <a:r>
              <a:rPr lang="en-US" sz="1900" b="1" dirty="0">
                <a:solidFill>
                  <a:schemeClr val="tx2"/>
                </a:solidFill>
                <a:latin typeface="Calibri" pitchFamily="34" charset="0"/>
                <a:ea typeface="Calibri" pitchFamily="34" charset="-122"/>
                <a:cs typeface="Calibri" pitchFamily="34" charset="-120"/>
              </a:rPr>
              <a:t>7</a:t>
            </a:r>
            <a:endParaRPr lang="en-US" sz="1900" dirty="0"/>
          </a:p>
        </p:txBody>
      </p:sp>
      <p:sp>
        <p:nvSpPr>
          <p:cNvPr id="55" name="Text 49"/>
          <p:cNvSpPr txBox="1"/>
          <p:nvPr/>
        </p:nvSpPr>
        <p:spPr>
          <a:xfrm>
            <a:off x="8865863" y="6764995"/>
            <a:ext cx="2332064" cy="703640"/>
          </a:xfrm>
          <a:prstGeom prst="rect">
            <a:avLst/>
          </a:prstGeom>
          <a:noFill/>
          <a:ln/>
        </p:spPr>
        <p:txBody>
          <a:bodyPr wrap="square" lIns="0" tIns="0" rIns="0" bIns="0" rtlCol="0" anchor="ctr"/>
          <a:lstStyle/>
          <a:p>
            <a:pPr indent="0" marL="0">
              <a:buNone/>
            </a:pPr>
            <a:r>
              <a:rPr lang="en-US" sz="2300" b="1" dirty="0">
                <a:solidFill>
                  <a:schemeClr val="bg1"/>
                </a:solidFill>
                <a:latin typeface="Calibri" pitchFamily="34" charset="0"/>
                <a:ea typeface="Calibri" pitchFamily="34" charset="-122"/>
                <a:cs typeface="Calibri" pitchFamily="34" charset="-120"/>
              </a:rPr>
              <a:t>Human Approval Gate</a:t>
            </a:r>
            <a:endParaRPr lang="en-US" sz="2300" dirty="0"/>
          </a:p>
        </p:txBody>
      </p:sp>
      <p:sp>
        <p:nvSpPr>
          <p:cNvPr id="56" name="Text 50"/>
          <p:cNvSpPr txBox="1"/>
          <p:nvPr/>
        </p:nvSpPr>
        <p:spPr>
          <a:xfrm>
            <a:off x="8272795" y="7589259"/>
            <a:ext cx="2864820" cy="552860"/>
          </a:xfrm>
          <a:prstGeom prst="rect">
            <a:avLst/>
          </a:prstGeom>
          <a:noFill/>
          <a:ln/>
        </p:spPr>
        <p:txBody>
          <a:bodyPr wrap="square" lIns="0" tIns="0" rIns="0" bIns="0" rtlCol="0" anchor="t"/>
          <a:lstStyle/>
          <a:p>
            <a:pPr indent="0" marL="0">
              <a:buNone/>
            </a:pPr>
            <a:r>
              <a:rPr lang="en-US" sz="1750" dirty="0">
                <a:solidFill>
                  <a:schemeClr val="bg1"/>
                </a:solidFill>
              </a:rPr>
              <a:t>Engineer approves the exact validated commit</a:t>
            </a:r>
            <a:endParaRPr lang="en-US" sz="1750" dirty="0"/>
          </a:p>
        </p:txBody>
      </p:sp>
      <p:sp>
        <p:nvSpPr>
          <p:cNvPr id="57" name="Shape 51"/>
          <p:cNvSpPr/>
          <p:nvPr/>
        </p:nvSpPr>
        <p:spPr>
          <a:xfrm>
            <a:off x="4432932" y="6584059"/>
            <a:ext cx="3196536" cy="1688736"/>
          </a:xfrm>
          <a:prstGeom prst="roundRect">
            <a:avLst>
              <a:gd name="adj" fmla="val 6498"/>
            </a:avLst>
          </a:prstGeom>
          <a:solidFill>
            <a:schemeClr val="bg1"/>
          </a:solidFill>
          <a:ln w="12700">
            <a:solidFill>
              <a:srgbClr val="D6CCB6"/>
            </a:solidFill>
            <a:prstDash val="solid"/>
          </a:ln>
        </p:spPr>
      </p:sp>
      <p:sp>
        <p:nvSpPr>
          <p:cNvPr id="58" name="Shape 52"/>
          <p:cNvSpPr/>
          <p:nvPr/>
        </p:nvSpPr>
        <p:spPr>
          <a:xfrm>
            <a:off x="4613868" y="6785099"/>
            <a:ext cx="482496" cy="482496"/>
          </a:xfrm>
          <a:prstGeom prst="ellipse">
            <a:avLst/>
          </a:prstGeom>
          <a:solidFill>
            <a:schemeClr val="tx2"/>
          </a:solidFill>
          <a:ln/>
        </p:spPr>
      </p:sp>
      <p:sp>
        <p:nvSpPr>
          <p:cNvPr id="59" name="Text 53"/>
          <p:cNvSpPr txBox="1"/>
          <p:nvPr/>
        </p:nvSpPr>
        <p:spPr>
          <a:xfrm>
            <a:off x="4613868" y="6785099"/>
            <a:ext cx="482496" cy="482496"/>
          </a:xfrm>
          <a:prstGeom prst="rect">
            <a:avLst/>
          </a:prstGeom>
          <a:noFill/>
          <a:ln/>
        </p:spPr>
        <p:txBody>
          <a:bodyPr wrap="square" lIns="0" tIns="0" rIns="0" bIns="0" rtlCol="0" anchor="ctr"/>
          <a:lstStyle/>
          <a:p>
            <a:pPr algn="ctr" indent="0" marL="0">
              <a:buNone/>
            </a:pPr>
            <a:r>
              <a:rPr lang="en-US" sz="1900" b="1" dirty="0">
                <a:solidFill>
                  <a:schemeClr val="bg1"/>
                </a:solidFill>
                <a:latin typeface="Calibri" pitchFamily="34" charset="0"/>
                <a:ea typeface="Calibri" pitchFamily="34" charset="-122"/>
                <a:cs typeface="Calibri" pitchFamily="34" charset="-120"/>
              </a:rPr>
              <a:t>8</a:t>
            </a:r>
            <a:endParaRPr lang="en-US" sz="1900" dirty="0"/>
          </a:p>
        </p:txBody>
      </p:sp>
      <p:sp>
        <p:nvSpPr>
          <p:cNvPr id="60" name="Text 54"/>
          <p:cNvSpPr txBox="1"/>
          <p:nvPr/>
        </p:nvSpPr>
        <p:spPr>
          <a:xfrm>
            <a:off x="5206936" y="6764995"/>
            <a:ext cx="2332064" cy="703640"/>
          </a:xfrm>
          <a:prstGeom prst="rect">
            <a:avLst/>
          </a:prstGeom>
          <a:noFill/>
          <a:ln/>
        </p:spPr>
        <p:txBody>
          <a:bodyPr wrap="square" lIns="0" tIns="0" rIns="0" bIns="0" rtlCol="0" anchor="ctr"/>
          <a:lstStyle/>
          <a:p>
            <a:pPr indent="0" marL="0">
              <a:buNone/>
            </a:pPr>
            <a:r>
              <a:rPr lang="en-US" sz="2300" b="1" dirty="0">
                <a:solidFill>
                  <a:schemeClr val="tx2"/>
                </a:solidFill>
                <a:latin typeface="Calibri" pitchFamily="34" charset="0"/>
                <a:ea typeface="Calibri" pitchFamily="34" charset="-122"/>
                <a:cs typeface="Calibri" pitchFamily="34" charset="-120"/>
              </a:rPr>
              <a:t>Production Deployment</a:t>
            </a:r>
            <a:endParaRPr lang="en-US" sz="2300" dirty="0"/>
          </a:p>
        </p:txBody>
      </p:sp>
      <p:sp>
        <p:nvSpPr>
          <p:cNvPr id="61" name="Text 55"/>
          <p:cNvSpPr txBox="1"/>
          <p:nvPr/>
        </p:nvSpPr>
        <p:spPr>
          <a:xfrm>
            <a:off x="4613868" y="7589259"/>
            <a:ext cx="2864820" cy="552860"/>
          </a:xfrm>
          <a:prstGeom prst="rect">
            <a:avLst/>
          </a:prstGeom>
          <a:noFill/>
          <a:ln/>
        </p:spPr>
        <p:txBody>
          <a:bodyPr wrap="square" lIns="0" tIns="0" rIns="0" bIns="0" rtlCol="0" anchor="t"/>
          <a:lstStyle/>
          <a:p>
            <a:pPr indent="0" marL="0">
              <a:buNone/>
            </a:pPr>
            <a:r>
              <a:rPr lang="en-US" sz="1750" dirty="0">
                <a:solidFill>
                  <a:schemeClr val="accent3"/>
                </a:solidFill>
              </a:rPr>
              <a:t>Deploys the approved fix and verifies recovery</a:t>
            </a:r>
            <a:endParaRPr lang="en-US" sz="1750" dirty="0"/>
          </a:p>
        </p:txBody>
      </p:sp>
      <p:sp>
        <p:nvSpPr>
          <p:cNvPr id="62" name="Shape 56"/>
          <p:cNvSpPr/>
          <p:nvPr/>
        </p:nvSpPr>
        <p:spPr>
          <a:xfrm>
            <a:off x="7669675" y="5005896"/>
            <a:ext cx="381976" cy="0"/>
          </a:xfrm>
          <a:prstGeom prst="line">
            <a:avLst/>
          </a:prstGeom>
          <a:noFill/>
          <a:ln w="28575">
            <a:solidFill>
              <a:schemeClr val="tx2"/>
            </a:solidFill>
            <a:prstDash val="solid"/>
            <a:tailEnd type="triangle"/>
          </a:ln>
        </p:spPr>
      </p:sp>
      <p:sp>
        <p:nvSpPr>
          <p:cNvPr id="63" name="Shape 57"/>
          <p:cNvSpPr/>
          <p:nvPr/>
        </p:nvSpPr>
        <p:spPr>
          <a:xfrm>
            <a:off x="11328603" y="5005896"/>
            <a:ext cx="381976" cy="0"/>
          </a:xfrm>
          <a:prstGeom prst="line">
            <a:avLst/>
          </a:prstGeom>
          <a:noFill/>
          <a:ln w="28575">
            <a:solidFill>
              <a:schemeClr val="tx2"/>
            </a:solidFill>
            <a:prstDash val="solid"/>
            <a:tailEnd type="triangle"/>
          </a:ln>
        </p:spPr>
      </p:sp>
      <p:sp>
        <p:nvSpPr>
          <p:cNvPr id="64" name="Shape 58"/>
          <p:cNvSpPr/>
          <p:nvPr/>
        </p:nvSpPr>
        <p:spPr>
          <a:xfrm>
            <a:off x="14987531" y="5005896"/>
            <a:ext cx="381976" cy="0"/>
          </a:xfrm>
          <a:prstGeom prst="line">
            <a:avLst/>
          </a:prstGeom>
          <a:noFill/>
          <a:ln w="28575">
            <a:solidFill>
              <a:schemeClr val="tx2"/>
            </a:solidFill>
            <a:prstDash val="solid"/>
            <a:tailEnd type="triangle"/>
          </a:ln>
        </p:spPr>
      </p:sp>
      <p:sp>
        <p:nvSpPr>
          <p:cNvPr id="65" name="Shape 59"/>
          <p:cNvSpPr/>
          <p:nvPr/>
        </p:nvSpPr>
        <p:spPr>
          <a:xfrm flipH="1">
            <a:off x="14987531" y="7428427"/>
            <a:ext cx="381976" cy="0"/>
          </a:xfrm>
          <a:prstGeom prst="line">
            <a:avLst/>
          </a:prstGeom>
          <a:noFill/>
          <a:ln w="28575">
            <a:solidFill>
              <a:schemeClr val="tx2"/>
            </a:solidFill>
            <a:prstDash val="solid"/>
            <a:tailEnd type="triangle"/>
          </a:ln>
        </p:spPr>
      </p:sp>
      <p:sp>
        <p:nvSpPr>
          <p:cNvPr id="66" name="Shape 60"/>
          <p:cNvSpPr/>
          <p:nvPr/>
        </p:nvSpPr>
        <p:spPr>
          <a:xfrm flipH="1">
            <a:off x="11328603" y="7428427"/>
            <a:ext cx="381976" cy="0"/>
          </a:xfrm>
          <a:prstGeom prst="line">
            <a:avLst/>
          </a:prstGeom>
          <a:noFill/>
          <a:ln w="28575">
            <a:solidFill>
              <a:schemeClr val="tx2"/>
            </a:solidFill>
            <a:prstDash val="solid"/>
            <a:tailEnd type="triangle"/>
          </a:ln>
        </p:spPr>
      </p:sp>
      <p:sp>
        <p:nvSpPr>
          <p:cNvPr id="67" name="Shape 61"/>
          <p:cNvSpPr/>
          <p:nvPr/>
        </p:nvSpPr>
        <p:spPr>
          <a:xfrm flipH="1">
            <a:off x="7669675" y="7428427"/>
            <a:ext cx="381976" cy="0"/>
          </a:xfrm>
          <a:prstGeom prst="line">
            <a:avLst/>
          </a:prstGeom>
          <a:noFill/>
          <a:ln w="28575">
            <a:solidFill>
              <a:schemeClr val="tx2"/>
            </a:solidFill>
            <a:prstDash val="solid"/>
            <a:tailEnd type="triangle"/>
          </a:ln>
        </p:spPr>
      </p:sp>
      <p:sp>
        <p:nvSpPr>
          <p:cNvPr id="68" name="Shape 62"/>
          <p:cNvSpPr/>
          <p:nvPr/>
        </p:nvSpPr>
        <p:spPr>
          <a:xfrm>
            <a:off x="17007983" y="5890472"/>
            <a:ext cx="0" cy="653380"/>
          </a:xfrm>
          <a:prstGeom prst="line">
            <a:avLst/>
          </a:prstGeom>
          <a:noFill/>
          <a:ln w="28575">
            <a:solidFill>
              <a:schemeClr val="tx2"/>
            </a:solidFill>
            <a:prstDash val="solid"/>
            <a:tailEnd type="triangle"/>
          </a:ln>
        </p:spPr>
      </p:sp>
      <p:sp>
        <p:nvSpPr>
          <p:cNvPr id="69" name="Shape 63"/>
          <p:cNvSpPr/>
          <p:nvPr/>
        </p:nvSpPr>
        <p:spPr>
          <a:xfrm>
            <a:off x="13349055" y="3377472"/>
            <a:ext cx="0" cy="743848"/>
          </a:xfrm>
          <a:prstGeom prst="line">
            <a:avLst/>
          </a:prstGeom>
          <a:noFill/>
          <a:ln w="28575">
            <a:solidFill>
              <a:schemeClr val="tx2"/>
            </a:solidFill>
            <a:prstDash val="solid"/>
            <a:tailEnd type="triangle"/>
          </a:ln>
        </p:spPr>
      </p:sp>
      <p:sp>
        <p:nvSpPr>
          <p:cNvPr id="70" name="Shape 64"/>
          <p:cNvSpPr/>
          <p:nvPr/>
        </p:nvSpPr>
        <p:spPr>
          <a:xfrm>
            <a:off x="17007983" y="3377472"/>
            <a:ext cx="0" cy="743848"/>
          </a:xfrm>
          <a:prstGeom prst="line">
            <a:avLst/>
          </a:prstGeom>
          <a:noFill/>
          <a:ln w="28575">
            <a:solidFill>
              <a:schemeClr val="tx2"/>
            </a:solidFill>
            <a:prstDash val="solid"/>
            <a:tailEnd type="triangle"/>
          </a:ln>
        </p:spPr>
      </p:sp>
      <p:sp>
        <p:nvSpPr>
          <p:cNvPr id="71" name="Shape 65"/>
          <p:cNvSpPr/>
          <p:nvPr/>
        </p:nvSpPr>
        <p:spPr>
          <a:xfrm>
            <a:off x="3739344" y="5005896"/>
            <a:ext cx="653380" cy="0"/>
          </a:xfrm>
          <a:prstGeom prst="line">
            <a:avLst/>
          </a:prstGeom>
          <a:noFill/>
          <a:ln w="28575">
            <a:solidFill>
              <a:schemeClr val="tx2"/>
            </a:solidFill>
            <a:prstDash val="solid"/>
            <a:tailEnd type="triangle"/>
          </a:ln>
        </p:spPr>
      </p:sp>
      <p:sp>
        <p:nvSpPr>
          <p:cNvPr id="72" name="Text 66"/>
          <p:cNvSpPr txBox="1"/>
          <p:nvPr/>
        </p:nvSpPr>
        <p:spPr>
          <a:xfrm>
            <a:off x="3819760" y="4623920"/>
            <a:ext cx="552860" cy="301560"/>
          </a:xfrm>
          <a:prstGeom prst="rect">
            <a:avLst/>
          </a:prstGeom>
          <a:noFill/>
          <a:ln/>
        </p:spPr>
        <p:txBody>
          <a:bodyPr wrap="square" lIns="0" tIns="0" rIns="0" bIns="0" rtlCol="0" anchor="ctr"/>
          <a:lstStyle/>
          <a:p>
            <a:pPr algn="ctr" indent="0" marL="0">
              <a:buNone/>
            </a:pPr>
            <a:r>
              <a:rPr lang="en-US" sz="1700" i="1" dirty="0">
                <a:solidFill>
                  <a:schemeClr val="accent3"/>
                </a:solidFill>
              </a:rPr>
              <a:t>logs</a:t>
            </a:r>
            <a:endParaRPr lang="en-US" sz="1700" dirty="0"/>
          </a:p>
        </p:txBody>
      </p:sp>
      <p:sp>
        <p:nvSpPr>
          <p:cNvPr id="73" name="Shape 67"/>
          <p:cNvSpPr/>
          <p:nvPr/>
        </p:nvSpPr>
        <p:spPr>
          <a:xfrm flipH="1">
            <a:off x="3739344" y="7428427"/>
            <a:ext cx="653380" cy="0"/>
          </a:xfrm>
          <a:prstGeom prst="line">
            <a:avLst/>
          </a:prstGeom>
          <a:noFill/>
          <a:ln w="28575">
            <a:solidFill>
              <a:schemeClr val="tx2"/>
            </a:solidFill>
            <a:prstDash val="solid"/>
            <a:tailEnd type="triangle"/>
          </a:ln>
        </p:spPr>
      </p:sp>
      <p:sp>
        <p:nvSpPr>
          <p:cNvPr id="74" name="Text 68"/>
          <p:cNvSpPr txBox="1"/>
          <p:nvPr/>
        </p:nvSpPr>
        <p:spPr>
          <a:xfrm>
            <a:off x="3739344" y="7036399"/>
            <a:ext cx="653380" cy="301560"/>
          </a:xfrm>
          <a:prstGeom prst="rect">
            <a:avLst/>
          </a:prstGeom>
          <a:noFill/>
          <a:ln/>
        </p:spPr>
        <p:txBody>
          <a:bodyPr wrap="square" lIns="0" tIns="0" rIns="0" bIns="0" rtlCol="0" anchor="ctr"/>
          <a:lstStyle/>
          <a:p>
            <a:pPr algn="ctr" indent="0" marL="0">
              <a:buNone/>
            </a:pPr>
            <a:r>
              <a:rPr lang="en-US" sz="1700" i="1" dirty="0">
                <a:solidFill>
                  <a:schemeClr val="accent3"/>
                </a:solidFill>
              </a:rPr>
              <a:t>deploy</a:t>
            </a:r>
            <a:endParaRPr lang="en-US" sz="1700" dirty="0"/>
          </a:p>
        </p:txBody>
      </p:sp>
      <p:sp>
        <p:nvSpPr>
          <p:cNvPr id="75" name="Shape 69"/>
          <p:cNvSpPr/>
          <p:nvPr/>
        </p:nvSpPr>
        <p:spPr>
          <a:xfrm>
            <a:off x="8091859" y="8906071"/>
            <a:ext cx="3196536" cy="914732"/>
          </a:xfrm>
          <a:prstGeom prst="roundRect">
            <a:avLst>
              <a:gd name="adj" fmla="val 11996"/>
            </a:avLst>
          </a:prstGeom>
          <a:solidFill>
            <a:schemeClr val="bg1"/>
          </a:solidFill>
          <a:ln w="15875">
            <a:solidFill>
              <a:schemeClr val="tx2"/>
            </a:solidFill>
            <a:prstDash val="dash"/>
          </a:ln>
        </p:spPr>
      </p:sp>
      <p:sp>
        <p:nvSpPr>
          <p:cNvPr id="76" name="Shape 70"/>
          <p:cNvSpPr/>
          <p:nvPr/>
        </p:nvSpPr>
        <p:spPr>
          <a:xfrm>
            <a:off x="8292899" y="9081981"/>
            <a:ext cx="562912" cy="562912"/>
          </a:xfrm>
          <a:prstGeom prst="ellipse">
            <a:avLst/>
          </a:prstGeom>
          <a:solidFill>
            <a:schemeClr val="tx2"/>
          </a:solidFill>
          <a:ln/>
        </p:spPr>
      </p:sp>
      <p:pic>
        <p:nvPicPr>
          <p:cNvPr id="77" name="Image 3" descr="user-check">    </p:cNvPr>
          <p:cNvPicPr>
            <a:picLocks noChangeAspect="1"/>
          </p:cNvPicPr>
          <p:nvPr/>
        </p:nvPicPr>
        <p:blipFill>
          <a:blip r:embed="rId4"/>
          <a:stretch>
            <a:fillRect/>
          </a:stretch>
        </p:blipFill>
        <p:spPr>
          <a:xfrm>
            <a:off x="8416740" y="9205822"/>
            <a:ext cx="315231" cy="315231"/>
          </a:xfrm>
          <a:prstGeom prst="rect">
            <a:avLst/>
          </a:prstGeom>
        </p:spPr>
      </p:pic>
      <p:sp>
        <p:nvSpPr>
          <p:cNvPr id="78" name="Text 71"/>
          <p:cNvSpPr txBox="1"/>
          <p:nvPr/>
        </p:nvSpPr>
        <p:spPr>
          <a:xfrm>
            <a:off x="9006591" y="8906071"/>
            <a:ext cx="2191336" cy="914732"/>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Engineer</a:t>
            </a:r>
            <a:endParaRPr lang="en-US" sz="1900" dirty="0"/>
          </a:p>
          <a:p>
            <a:pPr indent="0" marL="0">
              <a:buNone/>
            </a:pPr>
            <a:r>
              <a:rPr lang="en-US" sz="1500" dirty="0">
                <a:solidFill>
                  <a:schemeClr val="accent3"/>
                </a:solidFill>
                <a:latin typeface="Cambria" pitchFamily="34" charset="0"/>
                <a:ea typeface="Cambria" pitchFamily="34" charset="-122"/>
                <a:cs typeface="Cambria" pitchFamily="34" charset="-120"/>
              </a:rPr>
              <a:t>approves or rejects via dashboard</a:t>
            </a:r>
            <a:endParaRPr lang="en-US" sz="1900" dirty="0"/>
          </a:p>
        </p:txBody>
      </p:sp>
      <p:sp>
        <p:nvSpPr>
          <p:cNvPr id="79" name="Shape 72"/>
          <p:cNvSpPr/>
          <p:nvPr/>
        </p:nvSpPr>
        <p:spPr>
          <a:xfrm flipV="1">
            <a:off x="9690127" y="8323055"/>
            <a:ext cx="0" cy="552860"/>
          </a:xfrm>
          <a:prstGeom prst="line">
            <a:avLst/>
          </a:prstGeom>
          <a:noFill/>
          <a:ln w="28575">
            <a:solidFill>
              <a:schemeClr val="tx2"/>
            </a:solidFill>
            <a:prstDash val="solid"/>
            <a:tailEnd type="triangle"/>
          </a:ln>
        </p:spPr>
      </p:sp>
      <p:sp>
        <p:nvSpPr>
          <p:cNvPr id="80" name="Shape 73"/>
          <p:cNvSpPr/>
          <p:nvPr/>
        </p:nvSpPr>
        <p:spPr>
          <a:xfrm>
            <a:off x="11750787" y="8906071"/>
            <a:ext cx="6855463" cy="914732"/>
          </a:xfrm>
          <a:prstGeom prst="roundRect">
            <a:avLst>
              <a:gd name="adj" fmla="val 11996"/>
            </a:avLst>
          </a:prstGeom>
          <a:solidFill>
            <a:schemeClr val="bg1"/>
          </a:solidFill>
          <a:ln w="15875">
            <a:solidFill>
              <a:schemeClr val="tx2"/>
            </a:solidFill>
            <a:prstDash val="dash"/>
          </a:ln>
        </p:spPr>
      </p:sp>
      <p:sp>
        <p:nvSpPr>
          <p:cNvPr id="81" name="Shape 74"/>
          <p:cNvSpPr/>
          <p:nvPr/>
        </p:nvSpPr>
        <p:spPr>
          <a:xfrm>
            <a:off x="11951827" y="9081981"/>
            <a:ext cx="562912" cy="562912"/>
          </a:xfrm>
          <a:prstGeom prst="ellipse">
            <a:avLst/>
          </a:prstGeom>
          <a:solidFill>
            <a:schemeClr val="tx2"/>
          </a:solidFill>
          <a:ln/>
        </p:spPr>
      </p:sp>
      <p:pic>
        <p:nvPicPr>
          <p:cNvPr id="82" name="Image 4" descr="database">    </p:cNvPr>
          <p:cNvPicPr>
            <a:picLocks noChangeAspect="1"/>
          </p:cNvPicPr>
          <p:nvPr/>
        </p:nvPicPr>
        <p:blipFill>
          <a:blip r:embed="rId5"/>
          <a:stretch>
            <a:fillRect/>
          </a:stretch>
        </p:blipFill>
        <p:spPr>
          <a:xfrm>
            <a:off x="12075668" y="9205822"/>
            <a:ext cx="315231" cy="315231"/>
          </a:xfrm>
          <a:prstGeom prst="rect">
            <a:avLst/>
          </a:prstGeom>
        </p:spPr>
      </p:pic>
      <p:sp>
        <p:nvSpPr>
          <p:cNvPr id="83" name="Text 75"/>
          <p:cNvSpPr txBox="1"/>
          <p:nvPr/>
        </p:nvSpPr>
        <p:spPr>
          <a:xfrm>
            <a:off x="12665519" y="8906071"/>
            <a:ext cx="5850264" cy="914732"/>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Incident Records &amp; Audit Trail</a:t>
            </a:r>
            <a:endParaRPr lang="en-US" sz="1900" dirty="0"/>
          </a:p>
          <a:p>
            <a:pPr indent="0" marL="0">
              <a:buNone/>
            </a:pPr>
            <a:r>
              <a:rPr lang="en-US" sz="1500" dirty="0">
                <a:solidFill>
                  <a:schemeClr val="accent3"/>
                </a:solidFill>
                <a:latin typeface="Cambria" pitchFamily="34" charset="0"/>
                <a:ea typeface="Cambria" pitchFamily="34" charset="-122"/>
                <a:cs typeface="Cambria" pitchFamily="34" charset="-120"/>
              </a:rPr>
              <a:t>RCA reports · patches · validation results · approvals</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Project Design: Mathematical Model</a:t>
            </a:r>
            <a:endParaRPr lang="en-US" sz="6600" dirty="0"/>
          </a:p>
        </p:txBody>
      </p:sp>
      <p:sp>
        <p:nvSpPr>
          <p:cNvPr id="4" name="notation-card"/>
          <p:cNvSpPr/>
          <p:nvPr/>
        </p:nvSpPr>
        <p:spPr>
          <a:xfrm>
            <a:off x="1097280" y="2148840"/>
            <a:ext cx="7040880" cy="8046720"/>
          </a:xfrm>
          <a:prstGeom prst="roundRect">
            <a:avLst>
              <a:gd name="adj" fmla="val 3896"/>
            </a:avLst>
          </a:prstGeom>
          <a:solidFill>
            <a:schemeClr val="bg1"/>
          </a:solidFill>
          <a:ln/>
        </p:spPr>
      </p:sp>
      <p:sp>
        <p:nvSpPr>
          <p:cNvPr id="5" name="Text 2"/>
          <p:cNvSpPr txBox="1"/>
          <p:nvPr/>
        </p:nvSpPr>
        <p:spPr>
          <a:xfrm>
            <a:off x="1554480" y="2468880"/>
            <a:ext cx="612648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Notation</a:t>
            </a:r>
            <a:endParaRPr lang="en-US" sz="2700" dirty="0"/>
          </a:p>
        </p:txBody>
      </p:sp>
      <p:sp>
        <p:nvSpPr>
          <p:cNvPr id="6" name="Text 3"/>
          <p:cNvSpPr txBox="1"/>
          <p:nvPr/>
        </p:nvSpPr>
        <p:spPr>
          <a:xfrm>
            <a:off x="1554480" y="3246120"/>
            <a:ext cx="6309360" cy="6766560"/>
          </a:xfrm>
          <a:prstGeom prst="rect">
            <a:avLst/>
          </a:prstGeom>
          <a:noFill/>
          <a:ln/>
        </p:spPr>
        <p:txBody>
          <a:bodyPr wrap="square" lIns="0" tIns="0" rIns="0" bIns="0" rtlCol="0" anchor="t"/>
          <a:lstStyle/>
          <a:p>
            <a:pPr indent="0" marL="0">
              <a:spcAft>
                <a:spcPts val="1800"/>
              </a:spcAft>
              <a:buNone/>
            </a:pPr>
            <a:r>
              <a:rPr lang="en-US" sz="2400" dirty="0">
                <a:solidFill>
                  <a:schemeClr val="tx1"/>
                </a:solidFill>
              </a:rPr>
              <a:t>L = stream of application log events</a:t>
            </a:r>
            <a:endParaRPr lang="en-US" sz="2400" dirty="0"/>
          </a:p>
          <a:p>
            <a:pPr indent="0" marL="0">
              <a:spcAft>
                <a:spcPts val="1800"/>
              </a:spcAft>
              <a:buNone/>
            </a:pPr>
            <a:r>
              <a:rPr lang="en-US" sz="2400" dirty="0">
                <a:solidFill>
                  <a:schemeClr val="tx1"/>
                </a:solidFill>
              </a:rPr>
              <a:t>s = error signature (masked template + stack)</a:t>
            </a:r>
            <a:endParaRPr lang="en-US" sz="2400" dirty="0"/>
          </a:p>
          <a:p>
            <a:pPr indent="0" marL="0">
              <a:spcAft>
                <a:spcPts val="1800"/>
              </a:spcAft>
              <a:buNone/>
            </a:pPr>
            <a:r>
              <a:rPr lang="en-US" sz="2400" dirty="0">
                <a:solidFill>
                  <a:schemeClr val="tx1"/>
                </a:solidFill>
              </a:rPr>
              <a:t>c</a:t>
            </a:r>
            <a:pPr indent="0" marL="0">
              <a:spcAft>
                <a:spcPts val="1800"/>
              </a:spcAft>
              <a:buNone/>
            </a:pPr>
            <a:r>
              <a:rPr lang="en-US" sz="2400" baseline="-40000" dirty="0">
                <a:solidFill>
                  <a:schemeClr val="tx1"/>
                </a:solidFill>
              </a:rPr>
              <a:t>t</a:t>
            </a:r>
            <a:pPr indent="0" marL="0">
              <a:spcAft>
                <a:spcPts val="1800"/>
              </a:spcAft>
              <a:buNone/>
            </a:pPr>
            <a:r>
              <a:rPr lang="en-US" sz="2400" dirty="0">
                <a:solidFill>
                  <a:schemeClr val="tx1"/>
                </a:solidFill>
              </a:rPr>
              <a:t>(s) = occurrences of s in current window</a:t>
            </a:r>
            <a:endParaRPr lang="en-US" sz="2400" dirty="0"/>
          </a:p>
          <a:p>
            <a:pPr indent="0" marL="0">
              <a:spcAft>
                <a:spcPts val="1800"/>
              </a:spcAft>
              <a:buNone/>
            </a:pPr>
            <a:r>
              <a:rPr lang="en-US" sz="2400" dirty="0">
                <a:solidFill>
                  <a:schemeClr val="tx1"/>
                </a:solidFill>
              </a:rPr>
              <a:t>b(s) = average occurrences per baseline window</a:t>
            </a:r>
            <a:endParaRPr lang="en-US" sz="2400" dirty="0"/>
          </a:p>
          <a:p>
            <a:pPr indent="0" marL="0">
              <a:spcAft>
                <a:spcPts val="1800"/>
              </a:spcAft>
              <a:buNone/>
            </a:pPr>
            <a:r>
              <a:rPr lang="en-US" sz="2400" dirty="0">
                <a:solidFill>
                  <a:schemeClr val="tx1"/>
                </a:solidFill>
              </a:rPr>
              <a:t>C = recent commits,  D = deployments</a:t>
            </a:r>
            <a:endParaRPr lang="en-US" sz="2400" dirty="0"/>
          </a:p>
          <a:p>
            <a:pPr indent="0" marL="0">
              <a:spcAft>
                <a:spcPts val="1800"/>
              </a:spcAft>
              <a:buNone/>
            </a:pPr>
            <a:r>
              <a:rPr lang="en-US" sz="2400" dirty="0">
                <a:solidFill>
                  <a:schemeClr val="tx1"/>
                </a:solidFill>
              </a:rPr>
              <a:t>S(c) = suspicion score of commit c</a:t>
            </a:r>
            <a:endParaRPr lang="en-US" sz="2400" dirty="0"/>
          </a:p>
          <a:p>
            <a:pPr indent="0" marL="0">
              <a:spcAft>
                <a:spcPts val="1800"/>
              </a:spcAft>
              <a:buNone/>
            </a:pPr>
            <a:r>
              <a:rPr lang="en-US" sz="2400" dirty="0">
                <a:solidFill>
                  <a:schemeClr val="tx1"/>
                </a:solidFill>
              </a:rPr>
              <a:t>E = evidence pack,  R = root-cause report</a:t>
            </a:r>
            <a:endParaRPr lang="en-US" sz="2400" dirty="0"/>
          </a:p>
          <a:p>
            <a:pPr indent="0" marL="0">
              <a:spcAft>
                <a:spcPts val="1800"/>
              </a:spcAft>
              <a:buNone/>
            </a:pPr>
            <a:r>
              <a:rPr lang="en-US" sz="2400" dirty="0">
                <a:solidFill>
                  <a:schemeClr val="tx1"/>
                </a:solidFill>
              </a:rPr>
              <a:t>P = candidate patch,  A = human approval</a:t>
            </a:r>
            <a:endParaRPr lang="en-US" sz="2400" dirty="0"/>
          </a:p>
        </p:txBody>
      </p:sp>
      <p:sp>
        <p:nvSpPr>
          <p:cNvPr id="7" name="formulation-card"/>
          <p:cNvSpPr/>
          <p:nvPr/>
        </p:nvSpPr>
        <p:spPr>
          <a:xfrm>
            <a:off x="8503920" y="2148840"/>
            <a:ext cx="10515600" cy="8046720"/>
          </a:xfrm>
          <a:prstGeom prst="roundRect">
            <a:avLst>
              <a:gd name="adj" fmla="val 3409"/>
            </a:avLst>
          </a:prstGeom>
          <a:solidFill>
            <a:schemeClr val="bg1"/>
          </a:solidFill>
          <a:ln/>
        </p:spPr>
      </p:sp>
      <p:sp>
        <p:nvSpPr>
          <p:cNvPr id="8" name="Text 5"/>
          <p:cNvSpPr txBox="1"/>
          <p:nvPr/>
        </p:nvSpPr>
        <p:spPr>
          <a:xfrm>
            <a:off x="8961120" y="2468880"/>
            <a:ext cx="9601200" cy="54864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Formulation</a:t>
            </a:r>
            <a:endParaRPr lang="en-US" sz="2700" dirty="0"/>
          </a:p>
        </p:txBody>
      </p:sp>
      <p:sp>
        <p:nvSpPr>
          <p:cNvPr id="9" name="Text 6"/>
          <p:cNvSpPr txBox="1"/>
          <p:nvPr/>
        </p:nvSpPr>
        <p:spPr>
          <a:xfrm>
            <a:off x="8961120" y="3246120"/>
            <a:ext cx="9692640" cy="5394960"/>
          </a:xfrm>
          <a:prstGeom prst="rect">
            <a:avLst/>
          </a:prstGeom>
          <a:noFill/>
          <a:ln/>
        </p:spPr>
        <p:txBody>
          <a:bodyPr wrap="square" lIns="0" tIns="0" rIns="0" bIns="0" rtlCol="0" anchor="t"/>
          <a:lstStyle/>
          <a:p>
            <a:pPr indent="0" marL="0">
              <a:spcAft>
                <a:spcPts val="2200"/>
              </a:spcAft>
              <a:buNone/>
            </a:pPr>
            <a:r>
              <a:rPr lang="en-US" sz="2400" b="1" dirty="0">
                <a:solidFill>
                  <a:schemeClr val="tx1"/>
                </a:solidFill>
              </a:rPr>
              <a:t>Signature: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s = h(type, frames, mask(message))</a:t>
            </a:r>
            <a:endParaRPr lang="en-US" sz="2400" dirty="0"/>
          </a:p>
          <a:p>
            <a:pPr indent="0" marL="0">
              <a:spcAft>
                <a:spcPts val="2200"/>
              </a:spcAft>
              <a:buNone/>
            </a:pPr>
            <a:r>
              <a:rPr lang="en-US" sz="2400" b="1" dirty="0">
                <a:solidFill>
                  <a:schemeClr val="tx1"/>
                </a:solidFill>
              </a:rPr>
              <a:t>Incident: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c</a:t>
            </a:r>
            <a:pPr indent="0" marL="0">
              <a:spcAft>
                <a:spcPts val="2200"/>
              </a:spcAft>
              <a:buNone/>
            </a:pPr>
            <a:r>
              <a:rPr lang="en-US" sz="2400" baseline="-40000" dirty="0">
                <a:solidFill>
                  <a:schemeClr val="tx1"/>
                </a:solidFill>
                <a:latin typeface="Cambria Math" pitchFamily="34" charset="0"/>
                <a:ea typeface="Cambria Math" pitchFamily="34" charset="-122"/>
                <a:cs typeface="Cambria Math" pitchFamily="34" charset="-120"/>
              </a:rPr>
              <a:t>t</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(s) ≥ m  and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c</a:t>
            </a:r>
            <a:pPr indent="0" marL="0">
              <a:spcAft>
                <a:spcPts val="2200"/>
              </a:spcAft>
              <a:buNone/>
            </a:pPr>
            <a:r>
              <a:rPr lang="en-US" sz="2400" baseline="-40000" dirty="0">
                <a:solidFill>
                  <a:schemeClr val="tx1"/>
                </a:solidFill>
                <a:latin typeface="Cambria Math" pitchFamily="34" charset="0"/>
                <a:ea typeface="Cambria Math" pitchFamily="34" charset="-122"/>
                <a:cs typeface="Cambria Math" pitchFamily="34" charset="-120"/>
              </a:rPr>
              <a:t>t</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(s) ≥ ρ · b(s)</a:t>
            </a:r>
            <a:endParaRPr lang="en-US" sz="2400" dirty="0"/>
          </a:p>
          <a:p>
            <a:pPr indent="0" marL="0">
              <a:spcAft>
                <a:spcPts val="2200"/>
              </a:spcAft>
              <a:buNone/>
            </a:pPr>
            <a:r>
              <a:rPr lang="en-US" sz="2400" b="1" dirty="0">
                <a:solidFill>
                  <a:schemeClr val="tx1"/>
                </a:solidFill>
              </a:rPr>
              <a:t>Suspect score: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S(c) = min(1, Σ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w</a:t>
            </a:r>
            <a:pPr indent="0" marL="0">
              <a:spcAft>
                <a:spcPts val="2200"/>
              </a:spcAft>
              <a:buNone/>
            </a:pPr>
            <a:r>
              <a:rPr lang="en-US" sz="2400" baseline="-40000" dirty="0">
                <a:solidFill>
                  <a:schemeClr val="tx1"/>
                </a:solidFill>
                <a:latin typeface="Cambria Math" pitchFamily="34" charset="0"/>
                <a:ea typeface="Cambria Math" pitchFamily="34" charset="-122"/>
                <a:cs typeface="Cambria Math" pitchFamily="34" charset="-120"/>
              </a:rPr>
              <a:t>k</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 ·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f</a:t>
            </a:r>
            <a:pPr indent="0" marL="0">
              <a:spcAft>
                <a:spcPts val="2200"/>
              </a:spcAft>
              <a:buNone/>
            </a:pPr>
            <a:r>
              <a:rPr lang="en-US" sz="2400" baseline="-40000" dirty="0">
                <a:solidFill>
                  <a:schemeClr val="tx1"/>
                </a:solidFill>
                <a:latin typeface="Cambria Math" pitchFamily="34" charset="0"/>
                <a:ea typeface="Cambria Math" pitchFamily="34" charset="-122"/>
                <a:cs typeface="Cambria Math" pitchFamily="34" charset="-120"/>
              </a:rPr>
              <a:t>k</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(c)) · λ(c)</a:t>
            </a:r>
            <a:endParaRPr lang="en-US" sz="2400" dirty="0"/>
          </a:p>
          <a:p>
            <a:pPr indent="0" marL="0">
              <a:spcAft>
                <a:spcPts val="2200"/>
              </a:spcAft>
              <a:buNone/>
            </a:pPr>
            <a:r>
              <a:rPr lang="en-US" sz="2400" b="1" dirty="0">
                <a:solidFill>
                  <a:schemeClr val="tx1"/>
                </a:solidFill>
              </a:rPr>
              <a:t>Probable cause: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c* = arg max S(c)</a:t>
            </a:r>
            <a:endParaRPr lang="en-US" sz="2400" dirty="0"/>
          </a:p>
          <a:p>
            <a:pPr indent="0" marL="0">
              <a:spcAft>
                <a:spcPts val="2200"/>
              </a:spcAft>
              <a:buNone/>
            </a:pPr>
            <a:r>
              <a:rPr lang="en-US" sz="2400" b="1" dirty="0">
                <a:solidFill>
                  <a:schemeClr val="tx1"/>
                </a:solidFill>
              </a:rPr>
              <a:t>Validation: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V(P) = syntax ∧ fail-to-pass ∧ tests ∧ staging ∧ replay</a:t>
            </a:r>
            <a:endParaRPr lang="en-US" sz="2400" dirty="0"/>
          </a:p>
          <a:p>
            <a:pPr indent="0" marL="0">
              <a:spcAft>
                <a:spcPts val="2200"/>
              </a:spcAft>
              <a:buNone/>
            </a:pPr>
            <a:r>
              <a:rPr lang="en-US" sz="2400" b="1" dirty="0">
                <a:solidFill>
                  <a:schemeClr val="tx1"/>
                </a:solidFill>
              </a:rPr>
              <a:t>Deploy rule: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deploy(P) ⇔ V(P) = 1 ∧ A = approve ∧ sha(A) = sha(P)</a:t>
            </a:r>
            <a:endParaRPr lang="en-US" sz="2400" dirty="0"/>
          </a:p>
          <a:p>
            <a:pPr indent="0" marL="0">
              <a:spcAft>
                <a:spcPts val="2200"/>
              </a:spcAft>
              <a:buNone/>
            </a:pPr>
            <a:r>
              <a:rPr lang="en-US" sz="2400" b="1" dirty="0">
                <a:solidFill>
                  <a:schemeClr val="tx1"/>
                </a:solidFill>
              </a:rPr>
              <a:t>System output:   </a:t>
            </a:r>
            <a:pPr indent="0" marL="0">
              <a:spcAft>
                <a:spcPts val="2200"/>
              </a:spcAft>
              <a:buNone/>
            </a:pPr>
            <a:r>
              <a:rPr lang="en-US" sz="2400" dirty="0">
                <a:solidFill>
                  <a:schemeClr val="tx1"/>
                </a:solidFill>
                <a:latin typeface="Cambria Math" pitchFamily="34" charset="0"/>
                <a:ea typeface="Cambria Math" pitchFamily="34" charset="-122"/>
                <a:cs typeface="Cambria Math" pitchFamily="34" charset="-120"/>
              </a:rPr>
              <a:t>AION(L, C, D) → { I, c*, R, P, V, A }</a:t>
            </a:r>
            <a:endParaRPr lang="en-US" sz="2400" dirty="0"/>
          </a:p>
        </p:txBody>
      </p:sp>
      <p:sp>
        <p:nvSpPr>
          <p:cNvPr id="10" name="Text 7"/>
          <p:cNvSpPr txBox="1"/>
          <p:nvPr/>
        </p:nvSpPr>
        <p:spPr>
          <a:xfrm>
            <a:off x="8961120" y="8686800"/>
            <a:ext cx="9692640" cy="1325880"/>
          </a:xfrm>
          <a:prstGeom prst="rect">
            <a:avLst/>
          </a:prstGeom>
          <a:noFill/>
          <a:ln/>
        </p:spPr>
        <p:txBody>
          <a:bodyPr wrap="square" lIns="0" tIns="0" rIns="0" bIns="0" rtlCol="0" anchor="b"/>
          <a:lstStyle/>
          <a:p>
            <a:pPr indent="0" marL="0">
              <a:buNone/>
            </a:pPr>
            <a:r>
              <a:rPr lang="en-US" sz="1600" dirty="0">
                <a:solidFill>
                  <a:schemeClr val="accent3"/>
                </a:solidFill>
                <a:latin typeface="Calibri" pitchFamily="34" charset="0"/>
                <a:ea typeface="Calibri" pitchFamily="34" charset="-122"/>
                <a:cs typeface="Calibri" pitchFamily="34" charset="-120"/>
              </a:rPr>
              <a:t>Defaults: m = 5 errors, ρ = 3, window 60 s, baseline 30 min. Weights w: blame line 0.40, blame function 0.20, deployment 0.20, file 0.15, dependency 0.15, keyword 0.05; λ = 0.5 for code already stable before the incident. S(c) ranks suspects; it is not a probability.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Project Design: Use Case Diagram</a:t>
            </a:r>
            <a:endParaRPr lang="en-US" sz="6600" dirty="0"/>
          </a:p>
        </p:txBody>
      </p:sp>
      <p:sp>
        <p:nvSpPr>
          <p:cNvPr id="4" name="usecase-card"/>
          <p:cNvSpPr/>
          <p:nvPr/>
        </p:nvSpPr>
        <p:spPr>
          <a:xfrm>
            <a:off x="1097280" y="2103120"/>
            <a:ext cx="17922240" cy="8138160"/>
          </a:xfrm>
          <a:prstGeom prst="roundRect">
            <a:avLst>
              <a:gd name="adj" fmla="val 3371"/>
            </a:avLst>
          </a:prstGeom>
          <a:solidFill>
            <a:schemeClr val="bg1"/>
          </a:solidFill>
          <a:ln/>
        </p:spPr>
      </p:sp>
      <p:sp>
        <p:nvSpPr>
          <p:cNvPr id="5" name="Shape 2"/>
          <p:cNvSpPr/>
          <p:nvPr/>
        </p:nvSpPr>
        <p:spPr>
          <a:xfrm>
            <a:off x="4572000" y="2331720"/>
            <a:ext cx="10972800" cy="7680960"/>
          </a:xfrm>
          <a:prstGeom prst="rect">
            <a:avLst/>
          </a:prstGeom>
          <a:solidFill>
            <a:schemeClr val="bg1"/>
          </a:solidFill>
          <a:ln w="19050">
            <a:solidFill>
              <a:schemeClr val="tx2"/>
            </a:solidFill>
            <a:prstDash val="solid"/>
          </a:ln>
        </p:spPr>
      </p:sp>
      <p:sp>
        <p:nvSpPr>
          <p:cNvPr id="6" name="Text 3"/>
          <p:cNvSpPr txBox="1"/>
          <p:nvPr/>
        </p:nvSpPr>
        <p:spPr>
          <a:xfrm>
            <a:off x="4754880" y="2377440"/>
            <a:ext cx="365760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AION System</a:t>
            </a:r>
            <a:endParaRPr lang="en-US" sz="2000" dirty="0"/>
          </a:p>
        </p:txBody>
      </p:sp>
      <p:sp>
        <p:nvSpPr>
          <p:cNvPr id="7" name="Shape 4"/>
          <p:cNvSpPr/>
          <p:nvPr/>
        </p:nvSpPr>
        <p:spPr>
          <a:xfrm>
            <a:off x="5486400" y="2811780"/>
            <a:ext cx="3657600" cy="868680"/>
          </a:xfrm>
          <a:prstGeom prst="ellipse">
            <a:avLst/>
          </a:prstGeom>
          <a:solidFill>
            <a:schemeClr val="accent5"/>
          </a:solidFill>
          <a:ln w="15875">
            <a:solidFill>
              <a:schemeClr val="tx2"/>
            </a:solidFill>
            <a:prstDash val="solid"/>
          </a:ln>
        </p:spPr>
      </p:sp>
      <p:sp>
        <p:nvSpPr>
          <p:cNvPr id="8" name="Text 5"/>
          <p:cNvSpPr txBox="1"/>
          <p:nvPr/>
        </p:nvSpPr>
        <p:spPr>
          <a:xfrm>
            <a:off x="5623560" y="281178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Ingest Logs</a:t>
            </a:r>
            <a:endParaRPr lang="en-US" sz="2000" dirty="0"/>
          </a:p>
        </p:txBody>
      </p:sp>
      <p:sp>
        <p:nvSpPr>
          <p:cNvPr id="9" name="Shape 6"/>
          <p:cNvSpPr/>
          <p:nvPr/>
        </p:nvSpPr>
        <p:spPr>
          <a:xfrm>
            <a:off x="5486400" y="3909060"/>
            <a:ext cx="3657600" cy="868680"/>
          </a:xfrm>
          <a:prstGeom prst="ellipse">
            <a:avLst/>
          </a:prstGeom>
          <a:solidFill>
            <a:schemeClr val="accent5"/>
          </a:solidFill>
          <a:ln w="15875">
            <a:solidFill>
              <a:schemeClr val="tx2"/>
            </a:solidFill>
            <a:prstDash val="solid"/>
          </a:ln>
        </p:spPr>
      </p:sp>
      <p:sp>
        <p:nvSpPr>
          <p:cNvPr id="10" name="Text 7"/>
          <p:cNvSpPr txBox="1"/>
          <p:nvPr/>
        </p:nvSpPr>
        <p:spPr>
          <a:xfrm>
            <a:off x="5623560" y="390906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Detect Incident</a:t>
            </a:r>
            <a:endParaRPr lang="en-US" sz="2000" dirty="0"/>
          </a:p>
        </p:txBody>
      </p:sp>
      <p:sp>
        <p:nvSpPr>
          <p:cNvPr id="11" name="Shape 8"/>
          <p:cNvSpPr/>
          <p:nvPr/>
        </p:nvSpPr>
        <p:spPr>
          <a:xfrm>
            <a:off x="5486400" y="5006340"/>
            <a:ext cx="3657600" cy="868680"/>
          </a:xfrm>
          <a:prstGeom prst="ellipse">
            <a:avLst/>
          </a:prstGeom>
          <a:solidFill>
            <a:schemeClr val="accent5"/>
          </a:solidFill>
          <a:ln w="15875">
            <a:solidFill>
              <a:schemeClr val="tx2"/>
            </a:solidFill>
            <a:prstDash val="solid"/>
          </a:ln>
        </p:spPr>
      </p:sp>
      <p:sp>
        <p:nvSpPr>
          <p:cNvPr id="12" name="Text 9"/>
          <p:cNvSpPr txBox="1"/>
          <p:nvPr/>
        </p:nvSpPr>
        <p:spPr>
          <a:xfrm>
            <a:off x="5623560" y="500634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Review Incident</a:t>
            </a:r>
            <a:endParaRPr lang="en-US" sz="2000" dirty="0"/>
          </a:p>
        </p:txBody>
      </p:sp>
      <p:sp>
        <p:nvSpPr>
          <p:cNvPr id="13" name="Shape 10"/>
          <p:cNvSpPr/>
          <p:nvPr/>
        </p:nvSpPr>
        <p:spPr>
          <a:xfrm>
            <a:off x="5486400" y="6103620"/>
            <a:ext cx="3657600" cy="868680"/>
          </a:xfrm>
          <a:prstGeom prst="ellipse">
            <a:avLst/>
          </a:prstGeom>
          <a:solidFill>
            <a:schemeClr val="accent5"/>
          </a:solidFill>
          <a:ln w="15875">
            <a:solidFill>
              <a:schemeClr val="tx2"/>
            </a:solidFill>
            <a:prstDash val="solid"/>
          </a:ln>
        </p:spPr>
      </p:sp>
      <p:sp>
        <p:nvSpPr>
          <p:cNvPr id="14" name="Text 11"/>
          <p:cNvSpPr txBox="1"/>
          <p:nvPr/>
        </p:nvSpPr>
        <p:spPr>
          <a:xfrm>
            <a:off x="5623560" y="610362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Approve / Reject Fix</a:t>
            </a:r>
            <a:endParaRPr lang="en-US" sz="2000" dirty="0"/>
          </a:p>
        </p:txBody>
      </p:sp>
      <p:sp>
        <p:nvSpPr>
          <p:cNvPr id="15" name="Shape 12"/>
          <p:cNvSpPr/>
          <p:nvPr/>
        </p:nvSpPr>
        <p:spPr>
          <a:xfrm>
            <a:off x="5486400" y="7200900"/>
            <a:ext cx="3657600" cy="868680"/>
          </a:xfrm>
          <a:prstGeom prst="ellipse">
            <a:avLst/>
          </a:prstGeom>
          <a:solidFill>
            <a:schemeClr val="accent5"/>
          </a:solidFill>
          <a:ln w="15875">
            <a:solidFill>
              <a:schemeClr val="tx2"/>
            </a:solidFill>
            <a:prstDash val="solid"/>
          </a:ln>
        </p:spPr>
      </p:sp>
      <p:sp>
        <p:nvSpPr>
          <p:cNvPr id="16" name="Text 13"/>
          <p:cNvSpPr txBox="1"/>
          <p:nvPr/>
        </p:nvSpPr>
        <p:spPr>
          <a:xfrm>
            <a:off x="5623560" y="720090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Deploy Fix</a:t>
            </a:r>
            <a:endParaRPr lang="en-US" sz="2000" dirty="0"/>
          </a:p>
        </p:txBody>
      </p:sp>
      <p:sp>
        <p:nvSpPr>
          <p:cNvPr id="17" name="Shape 14"/>
          <p:cNvSpPr/>
          <p:nvPr/>
        </p:nvSpPr>
        <p:spPr>
          <a:xfrm>
            <a:off x="5486400" y="8298180"/>
            <a:ext cx="3657600" cy="868680"/>
          </a:xfrm>
          <a:prstGeom prst="ellipse">
            <a:avLst/>
          </a:prstGeom>
          <a:solidFill>
            <a:schemeClr val="accent5"/>
          </a:solidFill>
          <a:ln w="15875">
            <a:solidFill>
              <a:schemeClr val="tx2"/>
            </a:solidFill>
            <a:prstDash val="solid"/>
          </a:ln>
        </p:spPr>
      </p:sp>
      <p:sp>
        <p:nvSpPr>
          <p:cNvPr id="18" name="Text 15"/>
          <p:cNvSpPr txBox="1"/>
          <p:nvPr/>
        </p:nvSpPr>
        <p:spPr>
          <a:xfrm>
            <a:off x="5623560" y="829818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View Audit Trail</a:t>
            </a:r>
            <a:endParaRPr lang="en-US" sz="2000" dirty="0"/>
          </a:p>
        </p:txBody>
      </p:sp>
      <p:sp>
        <p:nvSpPr>
          <p:cNvPr id="19" name="Shape 16"/>
          <p:cNvSpPr/>
          <p:nvPr/>
        </p:nvSpPr>
        <p:spPr>
          <a:xfrm>
            <a:off x="10972800" y="3360420"/>
            <a:ext cx="3657600" cy="868680"/>
          </a:xfrm>
          <a:prstGeom prst="ellipse">
            <a:avLst/>
          </a:prstGeom>
          <a:solidFill>
            <a:schemeClr val="accent5"/>
          </a:solidFill>
          <a:ln w="15875">
            <a:solidFill>
              <a:schemeClr val="tx2"/>
            </a:solidFill>
            <a:prstDash val="solid"/>
          </a:ln>
        </p:spPr>
      </p:sp>
      <p:sp>
        <p:nvSpPr>
          <p:cNvPr id="20" name="Text 17"/>
          <p:cNvSpPr txBox="1"/>
          <p:nvPr/>
        </p:nvSpPr>
        <p:spPr>
          <a:xfrm>
            <a:off x="11109960" y="336042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Correlate Commits</a:t>
            </a:r>
            <a:endParaRPr lang="en-US" sz="2000" dirty="0"/>
          </a:p>
        </p:txBody>
      </p:sp>
      <p:sp>
        <p:nvSpPr>
          <p:cNvPr id="21" name="Shape 18"/>
          <p:cNvSpPr/>
          <p:nvPr/>
        </p:nvSpPr>
        <p:spPr>
          <a:xfrm>
            <a:off x="10972800" y="4640580"/>
            <a:ext cx="3657600" cy="868680"/>
          </a:xfrm>
          <a:prstGeom prst="ellipse">
            <a:avLst/>
          </a:prstGeom>
          <a:solidFill>
            <a:schemeClr val="accent5"/>
          </a:solidFill>
          <a:ln w="15875">
            <a:solidFill>
              <a:schemeClr val="tx2"/>
            </a:solidFill>
            <a:prstDash val="solid"/>
          </a:ln>
        </p:spPr>
      </p:sp>
      <p:sp>
        <p:nvSpPr>
          <p:cNvPr id="22" name="Text 19"/>
          <p:cNvSpPr txBox="1"/>
          <p:nvPr/>
        </p:nvSpPr>
        <p:spPr>
          <a:xfrm>
            <a:off x="11109960" y="464058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Analyse Root Cause</a:t>
            </a:r>
            <a:endParaRPr lang="en-US" sz="2000" dirty="0"/>
          </a:p>
        </p:txBody>
      </p:sp>
      <p:sp>
        <p:nvSpPr>
          <p:cNvPr id="23" name="Shape 20"/>
          <p:cNvSpPr/>
          <p:nvPr/>
        </p:nvSpPr>
        <p:spPr>
          <a:xfrm>
            <a:off x="10972800" y="5920740"/>
            <a:ext cx="3657600" cy="868680"/>
          </a:xfrm>
          <a:prstGeom prst="ellipse">
            <a:avLst/>
          </a:prstGeom>
          <a:solidFill>
            <a:schemeClr val="accent5"/>
          </a:solidFill>
          <a:ln w="15875">
            <a:solidFill>
              <a:schemeClr val="tx2"/>
            </a:solidFill>
            <a:prstDash val="solid"/>
          </a:ln>
        </p:spPr>
      </p:sp>
      <p:sp>
        <p:nvSpPr>
          <p:cNvPr id="24" name="Text 21"/>
          <p:cNvSpPr txBox="1"/>
          <p:nvPr/>
        </p:nvSpPr>
        <p:spPr>
          <a:xfrm>
            <a:off x="11109960" y="592074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Generate Patch</a:t>
            </a:r>
            <a:endParaRPr lang="en-US" sz="2000" dirty="0"/>
          </a:p>
        </p:txBody>
      </p:sp>
      <p:sp>
        <p:nvSpPr>
          <p:cNvPr id="25" name="Shape 22"/>
          <p:cNvSpPr/>
          <p:nvPr/>
        </p:nvSpPr>
        <p:spPr>
          <a:xfrm>
            <a:off x="10972800" y="7200900"/>
            <a:ext cx="3657600" cy="868680"/>
          </a:xfrm>
          <a:prstGeom prst="ellipse">
            <a:avLst/>
          </a:prstGeom>
          <a:solidFill>
            <a:schemeClr val="accent5"/>
          </a:solidFill>
          <a:ln w="15875">
            <a:solidFill>
              <a:schemeClr val="tx2"/>
            </a:solidFill>
            <a:prstDash val="solid"/>
          </a:ln>
        </p:spPr>
      </p:sp>
      <p:sp>
        <p:nvSpPr>
          <p:cNvPr id="26" name="Text 23"/>
          <p:cNvSpPr txBox="1"/>
          <p:nvPr/>
        </p:nvSpPr>
        <p:spPr>
          <a:xfrm>
            <a:off x="11109960" y="7200900"/>
            <a:ext cx="33832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libri" pitchFamily="34" charset="0"/>
                <a:ea typeface="Calibri" pitchFamily="34" charset="-122"/>
                <a:cs typeface="Calibri" pitchFamily="34" charset="-120"/>
              </a:rPr>
              <a:t>Validate Patch</a:t>
            </a:r>
            <a:endParaRPr lang="en-US" sz="2000" dirty="0"/>
          </a:p>
        </p:txBody>
      </p:sp>
      <p:sp>
        <p:nvSpPr>
          <p:cNvPr id="27" name="Shape 24"/>
          <p:cNvSpPr/>
          <p:nvPr/>
        </p:nvSpPr>
        <p:spPr>
          <a:xfrm>
            <a:off x="2395728" y="2514600"/>
            <a:ext cx="512064" cy="512064"/>
          </a:xfrm>
          <a:prstGeom prst="ellipse">
            <a:avLst/>
          </a:prstGeom>
          <a:solidFill>
            <a:schemeClr val="bg1"/>
          </a:solidFill>
          <a:ln w="25400">
            <a:solidFill>
              <a:schemeClr val="tx1"/>
            </a:solidFill>
            <a:prstDash val="solid"/>
          </a:ln>
        </p:spPr>
      </p:sp>
      <p:sp>
        <p:nvSpPr>
          <p:cNvPr id="28" name="Shape 25"/>
          <p:cNvSpPr/>
          <p:nvPr/>
        </p:nvSpPr>
        <p:spPr>
          <a:xfrm>
            <a:off x="2651760" y="3026664"/>
            <a:ext cx="0" cy="768096"/>
          </a:xfrm>
          <a:prstGeom prst="line">
            <a:avLst/>
          </a:prstGeom>
          <a:noFill/>
          <a:ln w="25400">
            <a:solidFill>
              <a:schemeClr val="tx1"/>
            </a:solidFill>
            <a:prstDash val="solid"/>
          </a:ln>
        </p:spPr>
      </p:sp>
      <p:sp>
        <p:nvSpPr>
          <p:cNvPr id="29" name="Shape 26"/>
          <p:cNvSpPr/>
          <p:nvPr/>
        </p:nvSpPr>
        <p:spPr>
          <a:xfrm>
            <a:off x="2194560" y="3291840"/>
            <a:ext cx="914400" cy="0"/>
          </a:xfrm>
          <a:prstGeom prst="line">
            <a:avLst/>
          </a:prstGeom>
          <a:noFill/>
          <a:ln w="25400">
            <a:solidFill>
              <a:schemeClr val="tx1"/>
            </a:solidFill>
            <a:prstDash val="solid"/>
          </a:ln>
        </p:spPr>
      </p:sp>
      <p:sp>
        <p:nvSpPr>
          <p:cNvPr id="30" name="Shape 27"/>
          <p:cNvSpPr/>
          <p:nvPr/>
        </p:nvSpPr>
        <p:spPr>
          <a:xfrm flipH="1">
            <a:off x="2267712" y="3794760"/>
            <a:ext cx="384048" cy="548640"/>
          </a:xfrm>
          <a:prstGeom prst="line">
            <a:avLst/>
          </a:prstGeom>
          <a:noFill/>
          <a:ln w="25400">
            <a:solidFill>
              <a:schemeClr val="tx1"/>
            </a:solidFill>
            <a:prstDash val="solid"/>
          </a:ln>
        </p:spPr>
      </p:sp>
      <p:sp>
        <p:nvSpPr>
          <p:cNvPr id="31" name="Shape 28"/>
          <p:cNvSpPr/>
          <p:nvPr/>
        </p:nvSpPr>
        <p:spPr>
          <a:xfrm>
            <a:off x="2651760" y="3794760"/>
            <a:ext cx="384048" cy="548640"/>
          </a:xfrm>
          <a:prstGeom prst="line">
            <a:avLst/>
          </a:prstGeom>
          <a:noFill/>
          <a:ln w="25400">
            <a:solidFill>
              <a:schemeClr val="tx1"/>
            </a:solidFill>
            <a:prstDash val="solid"/>
          </a:ln>
        </p:spPr>
      </p:sp>
      <p:sp>
        <p:nvSpPr>
          <p:cNvPr id="32" name="Text 29"/>
          <p:cNvSpPr txBox="1"/>
          <p:nvPr/>
        </p:nvSpPr>
        <p:spPr>
          <a:xfrm>
            <a:off x="1371600" y="4416552"/>
            <a:ext cx="2560320" cy="685800"/>
          </a:xfrm>
          <a:prstGeom prst="rect">
            <a:avLst/>
          </a:prstGeom>
          <a:noFill/>
          <a:ln/>
        </p:spPr>
        <p:txBody>
          <a:bodyPr wrap="square" lIns="0" tIns="0" rIns="0" bIns="0" rtlCol="0" anchor="t"/>
          <a:lstStyle/>
          <a:p>
            <a:pPr algn="ctr" indent="0" marL="0">
              <a:buNone/>
            </a:pPr>
            <a:r>
              <a:rPr lang="en-US" sz="1900" b="1" dirty="0">
                <a:solidFill>
                  <a:schemeClr val="tx1"/>
                </a:solidFill>
                <a:latin typeface="Calibri" pitchFamily="34" charset="0"/>
                <a:ea typeface="Calibri" pitchFamily="34" charset="-122"/>
                <a:cs typeface="Calibri" pitchFamily="34" charset="-120"/>
              </a:rPr>
              <a:t>Production</a:t>
            </a:r>
            <a:endParaRPr lang="en-US" sz="1900" dirty="0"/>
          </a:p>
          <a:p>
            <a:pPr algn="ctr" indent="0" marL="0">
              <a:buNone/>
            </a:pPr>
            <a:r>
              <a:rPr lang="en-US" sz="1900" b="1" dirty="0">
                <a:solidFill>
                  <a:schemeClr val="tx1"/>
                </a:solidFill>
                <a:latin typeface="Calibri" pitchFamily="34" charset="0"/>
                <a:ea typeface="Calibri" pitchFamily="34" charset="-122"/>
                <a:cs typeface="Calibri" pitchFamily="34" charset="-120"/>
              </a:rPr>
              <a:t>Service</a:t>
            </a:r>
            <a:endParaRPr lang="en-US" sz="1900" dirty="0"/>
          </a:p>
        </p:txBody>
      </p:sp>
      <p:sp>
        <p:nvSpPr>
          <p:cNvPr id="33" name="Shape 30"/>
          <p:cNvSpPr/>
          <p:nvPr/>
        </p:nvSpPr>
        <p:spPr>
          <a:xfrm>
            <a:off x="2395728" y="6035040"/>
            <a:ext cx="512064" cy="512064"/>
          </a:xfrm>
          <a:prstGeom prst="ellipse">
            <a:avLst/>
          </a:prstGeom>
          <a:solidFill>
            <a:schemeClr val="bg1"/>
          </a:solidFill>
          <a:ln w="25400">
            <a:solidFill>
              <a:schemeClr val="tx1"/>
            </a:solidFill>
            <a:prstDash val="solid"/>
          </a:ln>
        </p:spPr>
      </p:sp>
      <p:sp>
        <p:nvSpPr>
          <p:cNvPr id="34" name="Shape 31"/>
          <p:cNvSpPr/>
          <p:nvPr/>
        </p:nvSpPr>
        <p:spPr>
          <a:xfrm>
            <a:off x="2651760" y="6547104"/>
            <a:ext cx="0" cy="768096"/>
          </a:xfrm>
          <a:prstGeom prst="line">
            <a:avLst/>
          </a:prstGeom>
          <a:noFill/>
          <a:ln w="25400">
            <a:solidFill>
              <a:schemeClr val="tx1"/>
            </a:solidFill>
            <a:prstDash val="solid"/>
          </a:ln>
        </p:spPr>
      </p:sp>
      <p:sp>
        <p:nvSpPr>
          <p:cNvPr id="35" name="Shape 32"/>
          <p:cNvSpPr/>
          <p:nvPr/>
        </p:nvSpPr>
        <p:spPr>
          <a:xfrm>
            <a:off x="2194560" y="6812280"/>
            <a:ext cx="914400" cy="0"/>
          </a:xfrm>
          <a:prstGeom prst="line">
            <a:avLst/>
          </a:prstGeom>
          <a:noFill/>
          <a:ln w="25400">
            <a:solidFill>
              <a:schemeClr val="tx1"/>
            </a:solidFill>
            <a:prstDash val="solid"/>
          </a:ln>
        </p:spPr>
      </p:sp>
      <p:sp>
        <p:nvSpPr>
          <p:cNvPr id="36" name="Shape 33"/>
          <p:cNvSpPr/>
          <p:nvPr/>
        </p:nvSpPr>
        <p:spPr>
          <a:xfrm flipH="1">
            <a:off x="2267712" y="7315200"/>
            <a:ext cx="384048" cy="548640"/>
          </a:xfrm>
          <a:prstGeom prst="line">
            <a:avLst/>
          </a:prstGeom>
          <a:noFill/>
          <a:ln w="25400">
            <a:solidFill>
              <a:schemeClr val="tx1"/>
            </a:solidFill>
            <a:prstDash val="solid"/>
          </a:ln>
        </p:spPr>
      </p:sp>
      <p:sp>
        <p:nvSpPr>
          <p:cNvPr id="37" name="Shape 34"/>
          <p:cNvSpPr/>
          <p:nvPr/>
        </p:nvSpPr>
        <p:spPr>
          <a:xfrm>
            <a:off x="2651760" y="7315200"/>
            <a:ext cx="384048" cy="548640"/>
          </a:xfrm>
          <a:prstGeom prst="line">
            <a:avLst/>
          </a:prstGeom>
          <a:noFill/>
          <a:ln w="25400">
            <a:solidFill>
              <a:schemeClr val="tx1"/>
            </a:solidFill>
            <a:prstDash val="solid"/>
          </a:ln>
        </p:spPr>
      </p:sp>
      <p:sp>
        <p:nvSpPr>
          <p:cNvPr id="38" name="Text 35"/>
          <p:cNvSpPr txBox="1"/>
          <p:nvPr/>
        </p:nvSpPr>
        <p:spPr>
          <a:xfrm>
            <a:off x="1371600" y="7936992"/>
            <a:ext cx="2560320" cy="685800"/>
          </a:xfrm>
          <a:prstGeom prst="rect">
            <a:avLst/>
          </a:prstGeom>
          <a:noFill/>
          <a:ln/>
        </p:spPr>
        <p:txBody>
          <a:bodyPr wrap="square" lIns="0" tIns="0" rIns="0" bIns="0" rtlCol="0" anchor="t"/>
          <a:lstStyle/>
          <a:p>
            <a:pPr algn="ctr" indent="0" marL="0">
              <a:buNone/>
            </a:pPr>
            <a:r>
              <a:rPr lang="en-US" sz="1900" b="1" dirty="0">
                <a:solidFill>
                  <a:schemeClr val="tx1"/>
                </a:solidFill>
                <a:latin typeface="Calibri" pitchFamily="34" charset="0"/>
                <a:ea typeface="Calibri" pitchFamily="34" charset="-122"/>
                <a:cs typeface="Calibri" pitchFamily="34" charset="-120"/>
              </a:rPr>
              <a:t>Engineer /</a:t>
            </a:r>
            <a:endParaRPr lang="en-US" sz="1900" dirty="0"/>
          </a:p>
          <a:p>
            <a:pPr algn="ctr" indent="0" marL="0">
              <a:buNone/>
            </a:pPr>
            <a:r>
              <a:rPr lang="en-US" sz="1900" b="1" dirty="0">
                <a:solidFill>
                  <a:schemeClr val="tx1"/>
                </a:solidFill>
                <a:latin typeface="Calibri" pitchFamily="34" charset="0"/>
                <a:ea typeface="Calibri" pitchFamily="34" charset="-122"/>
                <a:cs typeface="Calibri" pitchFamily="34" charset="-120"/>
              </a:rPr>
              <a:t>SRE</a:t>
            </a:r>
            <a:endParaRPr lang="en-US" sz="1900" dirty="0"/>
          </a:p>
        </p:txBody>
      </p:sp>
      <p:sp>
        <p:nvSpPr>
          <p:cNvPr id="39" name="Shape 36"/>
          <p:cNvSpPr/>
          <p:nvPr/>
        </p:nvSpPr>
        <p:spPr>
          <a:xfrm>
            <a:off x="17209008" y="2651760"/>
            <a:ext cx="512064" cy="512064"/>
          </a:xfrm>
          <a:prstGeom prst="ellipse">
            <a:avLst/>
          </a:prstGeom>
          <a:solidFill>
            <a:schemeClr val="bg1"/>
          </a:solidFill>
          <a:ln w="25400">
            <a:solidFill>
              <a:schemeClr val="tx1"/>
            </a:solidFill>
            <a:prstDash val="solid"/>
          </a:ln>
        </p:spPr>
      </p:sp>
      <p:sp>
        <p:nvSpPr>
          <p:cNvPr id="40" name="Shape 37"/>
          <p:cNvSpPr/>
          <p:nvPr/>
        </p:nvSpPr>
        <p:spPr>
          <a:xfrm>
            <a:off x="17465040" y="3163824"/>
            <a:ext cx="0" cy="768096"/>
          </a:xfrm>
          <a:prstGeom prst="line">
            <a:avLst/>
          </a:prstGeom>
          <a:noFill/>
          <a:ln w="25400">
            <a:solidFill>
              <a:schemeClr val="tx1"/>
            </a:solidFill>
            <a:prstDash val="solid"/>
          </a:ln>
        </p:spPr>
      </p:sp>
      <p:sp>
        <p:nvSpPr>
          <p:cNvPr id="41" name="Shape 38"/>
          <p:cNvSpPr/>
          <p:nvPr/>
        </p:nvSpPr>
        <p:spPr>
          <a:xfrm>
            <a:off x="17007840" y="3429000"/>
            <a:ext cx="914400" cy="0"/>
          </a:xfrm>
          <a:prstGeom prst="line">
            <a:avLst/>
          </a:prstGeom>
          <a:noFill/>
          <a:ln w="25400">
            <a:solidFill>
              <a:schemeClr val="tx1"/>
            </a:solidFill>
            <a:prstDash val="solid"/>
          </a:ln>
        </p:spPr>
      </p:sp>
      <p:sp>
        <p:nvSpPr>
          <p:cNvPr id="42" name="Shape 39"/>
          <p:cNvSpPr/>
          <p:nvPr/>
        </p:nvSpPr>
        <p:spPr>
          <a:xfrm flipH="1">
            <a:off x="17080992" y="3931920"/>
            <a:ext cx="384048" cy="548640"/>
          </a:xfrm>
          <a:prstGeom prst="line">
            <a:avLst/>
          </a:prstGeom>
          <a:noFill/>
          <a:ln w="25400">
            <a:solidFill>
              <a:schemeClr val="tx1"/>
            </a:solidFill>
            <a:prstDash val="solid"/>
          </a:ln>
        </p:spPr>
      </p:sp>
      <p:sp>
        <p:nvSpPr>
          <p:cNvPr id="43" name="Shape 40"/>
          <p:cNvSpPr/>
          <p:nvPr/>
        </p:nvSpPr>
        <p:spPr>
          <a:xfrm>
            <a:off x="17465040" y="3931920"/>
            <a:ext cx="384048" cy="548640"/>
          </a:xfrm>
          <a:prstGeom prst="line">
            <a:avLst/>
          </a:prstGeom>
          <a:noFill/>
          <a:ln w="25400">
            <a:solidFill>
              <a:schemeClr val="tx1"/>
            </a:solidFill>
            <a:prstDash val="solid"/>
          </a:ln>
        </p:spPr>
      </p:sp>
      <p:sp>
        <p:nvSpPr>
          <p:cNvPr id="44" name="Text 41"/>
          <p:cNvSpPr txBox="1"/>
          <p:nvPr/>
        </p:nvSpPr>
        <p:spPr>
          <a:xfrm>
            <a:off x="16184880" y="4553712"/>
            <a:ext cx="2560320" cy="685800"/>
          </a:xfrm>
          <a:prstGeom prst="rect">
            <a:avLst/>
          </a:prstGeom>
          <a:noFill/>
          <a:ln/>
        </p:spPr>
        <p:txBody>
          <a:bodyPr wrap="square" lIns="0" tIns="0" rIns="0" bIns="0" rtlCol="0" anchor="t"/>
          <a:lstStyle/>
          <a:p>
            <a:pPr algn="ctr" indent="0" marL="0">
              <a:buNone/>
            </a:pPr>
            <a:r>
              <a:rPr lang="en-US" sz="1900" b="1" dirty="0">
                <a:solidFill>
                  <a:schemeClr val="tx1"/>
                </a:solidFill>
                <a:latin typeface="Calibri" pitchFamily="34" charset="0"/>
                <a:ea typeface="Calibri" pitchFamily="34" charset="-122"/>
                <a:cs typeface="Calibri" pitchFamily="34" charset="-120"/>
              </a:rPr>
              <a:t>Git</a:t>
            </a:r>
            <a:endParaRPr lang="en-US" sz="1900" dirty="0"/>
          </a:p>
          <a:p>
            <a:pPr algn="ctr" indent="0" marL="0">
              <a:buNone/>
            </a:pPr>
            <a:r>
              <a:rPr lang="en-US" sz="1900" b="1" dirty="0">
                <a:solidFill>
                  <a:schemeClr val="tx1"/>
                </a:solidFill>
                <a:latin typeface="Calibri" pitchFamily="34" charset="0"/>
                <a:ea typeface="Calibri" pitchFamily="34" charset="-122"/>
                <a:cs typeface="Calibri" pitchFamily="34" charset="-120"/>
              </a:rPr>
              <a:t>Repository</a:t>
            </a:r>
            <a:endParaRPr lang="en-US" sz="1900" dirty="0"/>
          </a:p>
        </p:txBody>
      </p:sp>
      <p:sp>
        <p:nvSpPr>
          <p:cNvPr id="45" name="Shape 42"/>
          <p:cNvSpPr/>
          <p:nvPr/>
        </p:nvSpPr>
        <p:spPr>
          <a:xfrm>
            <a:off x="17209008" y="6035040"/>
            <a:ext cx="512064" cy="512064"/>
          </a:xfrm>
          <a:prstGeom prst="ellipse">
            <a:avLst/>
          </a:prstGeom>
          <a:solidFill>
            <a:schemeClr val="bg1"/>
          </a:solidFill>
          <a:ln w="25400">
            <a:solidFill>
              <a:schemeClr val="tx1"/>
            </a:solidFill>
            <a:prstDash val="solid"/>
          </a:ln>
        </p:spPr>
      </p:sp>
      <p:sp>
        <p:nvSpPr>
          <p:cNvPr id="46" name="Shape 43"/>
          <p:cNvSpPr/>
          <p:nvPr/>
        </p:nvSpPr>
        <p:spPr>
          <a:xfrm>
            <a:off x="17465040" y="6547104"/>
            <a:ext cx="0" cy="768096"/>
          </a:xfrm>
          <a:prstGeom prst="line">
            <a:avLst/>
          </a:prstGeom>
          <a:noFill/>
          <a:ln w="25400">
            <a:solidFill>
              <a:schemeClr val="tx1"/>
            </a:solidFill>
            <a:prstDash val="solid"/>
          </a:ln>
        </p:spPr>
      </p:sp>
      <p:sp>
        <p:nvSpPr>
          <p:cNvPr id="47" name="Shape 44"/>
          <p:cNvSpPr/>
          <p:nvPr/>
        </p:nvSpPr>
        <p:spPr>
          <a:xfrm>
            <a:off x="17007840" y="6812280"/>
            <a:ext cx="914400" cy="0"/>
          </a:xfrm>
          <a:prstGeom prst="line">
            <a:avLst/>
          </a:prstGeom>
          <a:noFill/>
          <a:ln w="25400">
            <a:solidFill>
              <a:schemeClr val="tx1"/>
            </a:solidFill>
            <a:prstDash val="solid"/>
          </a:ln>
        </p:spPr>
      </p:sp>
      <p:sp>
        <p:nvSpPr>
          <p:cNvPr id="48" name="Shape 45"/>
          <p:cNvSpPr/>
          <p:nvPr/>
        </p:nvSpPr>
        <p:spPr>
          <a:xfrm flipH="1">
            <a:off x="17080992" y="7315200"/>
            <a:ext cx="384048" cy="548640"/>
          </a:xfrm>
          <a:prstGeom prst="line">
            <a:avLst/>
          </a:prstGeom>
          <a:noFill/>
          <a:ln w="25400">
            <a:solidFill>
              <a:schemeClr val="tx1"/>
            </a:solidFill>
            <a:prstDash val="solid"/>
          </a:ln>
        </p:spPr>
      </p:sp>
      <p:sp>
        <p:nvSpPr>
          <p:cNvPr id="49" name="Shape 46"/>
          <p:cNvSpPr/>
          <p:nvPr/>
        </p:nvSpPr>
        <p:spPr>
          <a:xfrm>
            <a:off x="17465040" y="7315200"/>
            <a:ext cx="384048" cy="548640"/>
          </a:xfrm>
          <a:prstGeom prst="line">
            <a:avLst/>
          </a:prstGeom>
          <a:noFill/>
          <a:ln w="25400">
            <a:solidFill>
              <a:schemeClr val="tx1"/>
            </a:solidFill>
            <a:prstDash val="solid"/>
          </a:ln>
        </p:spPr>
      </p:sp>
      <p:sp>
        <p:nvSpPr>
          <p:cNvPr id="50" name="Text 47"/>
          <p:cNvSpPr txBox="1"/>
          <p:nvPr/>
        </p:nvSpPr>
        <p:spPr>
          <a:xfrm>
            <a:off x="16184880" y="7936992"/>
            <a:ext cx="2560320" cy="685800"/>
          </a:xfrm>
          <a:prstGeom prst="rect">
            <a:avLst/>
          </a:prstGeom>
          <a:noFill/>
          <a:ln/>
        </p:spPr>
        <p:txBody>
          <a:bodyPr wrap="square" lIns="0" tIns="0" rIns="0" bIns="0" rtlCol="0" anchor="t"/>
          <a:lstStyle/>
          <a:p>
            <a:pPr algn="ctr" indent="0" marL="0">
              <a:buNone/>
            </a:pPr>
            <a:r>
              <a:rPr lang="en-US" sz="1900" b="1" dirty="0">
                <a:solidFill>
                  <a:schemeClr val="tx1"/>
                </a:solidFill>
                <a:latin typeface="Calibri" pitchFamily="34" charset="0"/>
                <a:ea typeface="Calibri" pitchFamily="34" charset="-122"/>
                <a:cs typeface="Calibri" pitchFamily="34" charset="-120"/>
              </a:rPr>
              <a:t>LLM</a:t>
            </a:r>
            <a:endParaRPr lang="en-US" sz="1900" dirty="0"/>
          </a:p>
          <a:p>
            <a:pPr algn="ctr" indent="0" marL="0">
              <a:buNone/>
            </a:pPr>
            <a:r>
              <a:rPr lang="en-US" sz="1900" b="1" dirty="0">
                <a:solidFill>
                  <a:schemeClr val="tx1"/>
                </a:solidFill>
                <a:latin typeface="Calibri" pitchFamily="34" charset="0"/>
                <a:ea typeface="Calibri" pitchFamily="34" charset="-122"/>
                <a:cs typeface="Calibri" pitchFamily="34" charset="-120"/>
              </a:rPr>
              <a:t>Provider</a:t>
            </a:r>
            <a:endParaRPr lang="en-US" sz="1900" dirty="0"/>
          </a:p>
        </p:txBody>
      </p:sp>
      <p:sp>
        <p:nvSpPr>
          <p:cNvPr id="51" name="Shape 48"/>
          <p:cNvSpPr/>
          <p:nvPr/>
        </p:nvSpPr>
        <p:spPr>
          <a:xfrm flipV="1">
            <a:off x="3154680" y="3246120"/>
            <a:ext cx="2331720" cy="45720"/>
          </a:xfrm>
          <a:prstGeom prst="line">
            <a:avLst/>
          </a:prstGeom>
          <a:noFill/>
          <a:ln w="19050">
            <a:solidFill>
              <a:schemeClr val="tx1"/>
            </a:solidFill>
            <a:prstDash val="solid"/>
          </a:ln>
        </p:spPr>
      </p:sp>
      <p:sp>
        <p:nvSpPr>
          <p:cNvPr id="52" name="Shape 49"/>
          <p:cNvSpPr/>
          <p:nvPr/>
        </p:nvSpPr>
        <p:spPr>
          <a:xfrm flipV="1">
            <a:off x="3154680" y="5440680"/>
            <a:ext cx="2331720" cy="1371600"/>
          </a:xfrm>
          <a:prstGeom prst="line">
            <a:avLst/>
          </a:prstGeom>
          <a:noFill/>
          <a:ln w="19050">
            <a:solidFill>
              <a:schemeClr val="tx1"/>
            </a:solidFill>
            <a:prstDash val="solid"/>
          </a:ln>
        </p:spPr>
      </p:sp>
      <p:sp>
        <p:nvSpPr>
          <p:cNvPr id="53" name="Shape 50"/>
          <p:cNvSpPr/>
          <p:nvPr/>
        </p:nvSpPr>
        <p:spPr>
          <a:xfrm flipV="1">
            <a:off x="3154680" y="6537960"/>
            <a:ext cx="2331720" cy="274320"/>
          </a:xfrm>
          <a:prstGeom prst="line">
            <a:avLst/>
          </a:prstGeom>
          <a:noFill/>
          <a:ln w="19050">
            <a:solidFill>
              <a:schemeClr val="tx1"/>
            </a:solidFill>
            <a:prstDash val="solid"/>
          </a:ln>
        </p:spPr>
      </p:sp>
      <p:sp>
        <p:nvSpPr>
          <p:cNvPr id="54" name="Shape 51"/>
          <p:cNvSpPr/>
          <p:nvPr/>
        </p:nvSpPr>
        <p:spPr>
          <a:xfrm>
            <a:off x="3154680" y="6812280"/>
            <a:ext cx="2331720" cy="822960"/>
          </a:xfrm>
          <a:prstGeom prst="line">
            <a:avLst/>
          </a:prstGeom>
          <a:noFill/>
          <a:ln w="19050">
            <a:solidFill>
              <a:schemeClr val="tx1"/>
            </a:solidFill>
            <a:prstDash val="solid"/>
          </a:ln>
        </p:spPr>
      </p:sp>
      <p:sp>
        <p:nvSpPr>
          <p:cNvPr id="55" name="Shape 52"/>
          <p:cNvSpPr/>
          <p:nvPr/>
        </p:nvSpPr>
        <p:spPr>
          <a:xfrm>
            <a:off x="3154680" y="6812280"/>
            <a:ext cx="2331720" cy="1920240"/>
          </a:xfrm>
          <a:prstGeom prst="line">
            <a:avLst/>
          </a:prstGeom>
          <a:noFill/>
          <a:ln w="19050">
            <a:solidFill>
              <a:schemeClr val="tx1"/>
            </a:solidFill>
            <a:prstDash val="solid"/>
          </a:ln>
        </p:spPr>
      </p:sp>
      <p:sp>
        <p:nvSpPr>
          <p:cNvPr id="56" name="Shape 53"/>
          <p:cNvSpPr/>
          <p:nvPr/>
        </p:nvSpPr>
        <p:spPr>
          <a:xfrm flipH="1">
            <a:off x="14630400" y="3429000"/>
            <a:ext cx="2331720" cy="365760"/>
          </a:xfrm>
          <a:prstGeom prst="line">
            <a:avLst/>
          </a:prstGeom>
          <a:noFill/>
          <a:ln w="19050">
            <a:solidFill>
              <a:schemeClr val="tx1"/>
            </a:solidFill>
            <a:prstDash val="solid"/>
          </a:ln>
        </p:spPr>
      </p:sp>
      <p:sp>
        <p:nvSpPr>
          <p:cNvPr id="57" name="Shape 54"/>
          <p:cNvSpPr/>
          <p:nvPr/>
        </p:nvSpPr>
        <p:spPr>
          <a:xfrm flipH="1">
            <a:off x="14630400" y="3429000"/>
            <a:ext cx="2331720" cy="2926080"/>
          </a:xfrm>
          <a:prstGeom prst="line">
            <a:avLst/>
          </a:prstGeom>
          <a:noFill/>
          <a:ln w="19050">
            <a:solidFill>
              <a:schemeClr val="tx1"/>
            </a:solidFill>
            <a:prstDash val="solid"/>
          </a:ln>
        </p:spPr>
      </p:sp>
      <p:sp>
        <p:nvSpPr>
          <p:cNvPr id="58" name="Shape 55"/>
          <p:cNvSpPr/>
          <p:nvPr/>
        </p:nvSpPr>
        <p:spPr>
          <a:xfrm flipH="1" flipV="1">
            <a:off x="14630400" y="5074920"/>
            <a:ext cx="2331720" cy="1737360"/>
          </a:xfrm>
          <a:prstGeom prst="line">
            <a:avLst/>
          </a:prstGeom>
          <a:noFill/>
          <a:ln w="19050">
            <a:solidFill>
              <a:schemeClr val="tx1"/>
            </a:solidFill>
            <a:prstDash val="solid"/>
          </a:ln>
        </p:spPr>
      </p:sp>
      <p:sp>
        <p:nvSpPr>
          <p:cNvPr id="59" name="Shape 56"/>
          <p:cNvSpPr/>
          <p:nvPr/>
        </p:nvSpPr>
        <p:spPr>
          <a:xfrm flipH="1" flipV="1">
            <a:off x="14630400" y="6355080"/>
            <a:ext cx="2331720" cy="457200"/>
          </a:xfrm>
          <a:prstGeom prst="line">
            <a:avLst/>
          </a:prstGeom>
          <a:noFill/>
          <a:ln w="19050">
            <a:solidFill>
              <a:schemeClr val="tx1"/>
            </a:solidFill>
            <a:prstDash val="solid"/>
          </a:ln>
        </p:spPr>
      </p:sp>
      <p:sp>
        <p:nvSpPr>
          <p:cNvPr id="60" name="Shape 57"/>
          <p:cNvSpPr/>
          <p:nvPr/>
        </p:nvSpPr>
        <p:spPr>
          <a:xfrm flipV="1">
            <a:off x="9144000" y="3794760"/>
            <a:ext cx="1828800" cy="548640"/>
          </a:xfrm>
          <a:prstGeom prst="line">
            <a:avLst/>
          </a:prstGeom>
          <a:noFill/>
          <a:ln w="15875">
            <a:solidFill>
              <a:schemeClr val="tx1"/>
            </a:solidFill>
            <a:prstDash val="dash"/>
          </a:ln>
        </p:spPr>
      </p:sp>
      <p:sp>
        <p:nvSpPr>
          <p:cNvPr id="61" name="Text 58"/>
          <p:cNvSpPr txBox="1"/>
          <p:nvPr/>
        </p:nvSpPr>
        <p:spPr>
          <a:xfrm>
            <a:off x="9281160" y="3611880"/>
            <a:ext cx="1645920" cy="365760"/>
          </a:xfrm>
          <a:prstGeom prst="rect">
            <a:avLst/>
          </a:prstGeom>
          <a:noFill/>
          <a:ln/>
        </p:spPr>
        <p:txBody>
          <a:bodyPr wrap="square" lIns="0" tIns="0" rIns="0" bIns="0" rtlCol="0" anchor="t"/>
          <a:lstStyle/>
          <a:p>
            <a:pPr algn="ctr" indent="0" marL="0">
              <a:buNone/>
            </a:pPr>
            <a:r>
              <a:rPr lang="en-US" sz="1500" i="1" dirty="0">
                <a:solidFill>
                  <a:schemeClr val="accent3"/>
                </a:solidFill>
                <a:latin typeface="Calibri" pitchFamily="34" charset="0"/>
                <a:ea typeface="Calibri" pitchFamily="34" charset="-122"/>
                <a:cs typeface="Calibri" pitchFamily="34" charset="-120"/>
              </a:rPr>
              <a:t>«include»</a:t>
            </a:r>
            <a:endParaRPr lang="en-US" sz="1500" dirty="0"/>
          </a:p>
        </p:txBody>
      </p:sp>
      <p:sp>
        <p:nvSpPr>
          <p:cNvPr id="62" name="Shape 59"/>
          <p:cNvSpPr/>
          <p:nvPr/>
        </p:nvSpPr>
        <p:spPr>
          <a:xfrm>
            <a:off x="9144000" y="7635240"/>
            <a:ext cx="1828800" cy="0"/>
          </a:xfrm>
          <a:prstGeom prst="line">
            <a:avLst/>
          </a:prstGeom>
          <a:noFill/>
          <a:ln w="15875">
            <a:solidFill>
              <a:schemeClr val="tx1"/>
            </a:solidFill>
            <a:prstDash val="dash"/>
          </a:ln>
        </p:spPr>
      </p:sp>
      <p:sp>
        <p:nvSpPr>
          <p:cNvPr id="63" name="Text 60"/>
          <p:cNvSpPr txBox="1"/>
          <p:nvPr/>
        </p:nvSpPr>
        <p:spPr>
          <a:xfrm>
            <a:off x="9281160" y="7223760"/>
            <a:ext cx="1645920" cy="365760"/>
          </a:xfrm>
          <a:prstGeom prst="rect">
            <a:avLst/>
          </a:prstGeom>
          <a:noFill/>
          <a:ln/>
        </p:spPr>
        <p:txBody>
          <a:bodyPr wrap="square" lIns="0" tIns="0" rIns="0" bIns="0" rtlCol="0" anchor="t"/>
          <a:lstStyle/>
          <a:p>
            <a:pPr algn="ctr" indent="0" marL="0">
              <a:buNone/>
            </a:pPr>
            <a:r>
              <a:rPr lang="en-US" sz="1500" i="1" dirty="0">
                <a:solidFill>
                  <a:schemeClr val="accent3"/>
                </a:solidFill>
                <a:latin typeface="Calibri" pitchFamily="34" charset="0"/>
                <a:ea typeface="Calibri" pitchFamily="34" charset="-122"/>
                <a:cs typeface="Calibri" pitchFamily="34" charset="-120"/>
              </a:rPr>
              <a:t>«precedes»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Project Design: Class Diagram</a:t>
            </a:r>
            <a:endParaRPr lang="en-US" sz="6600" dirty="0"/>
          </a:p>
        </p:txBody>
      </p:sp>
      <p:sp>
        <p:nvSpPr>
          <p:cNvPr id="4" name="class-card"/>
          <p:cNvSpPr/>
          <p:nvPr/>
        </p:nvSpPr>
        <p:spPr>
          <a:xfrm>
            <a:off x="1097280" y="2103120"/>
            <a:ext cx="17922240" cy="8138160"/>
          </a:xfrm>
          <a:prstGeom prst="roundRect">
            <a:avLst>
              <a:gd name="adj" fmla="val 3371"/>
            </a:avLst>
          </a:prstGeom>
          <a:solidFill>
            <a:schemeClr val="bg1"/>
          </a:solidFill>
          <a:ln/>
        </p:spPr>
      </p:sp>
      <p:sp>
        <p:nvSpPr>
          <p:cNvPr id="5" name="Shape 2"/>
          <p:cNvSpPr/>
          <p:nvPr/>
        </p:nvSpPr>
        <p:spPr>
          <a:xfrm>
            <a:off x="1463040" y="2423160"/>
            <a:ext cx="3931920" cy="502920"/>
          </a:xfrm>
          <a:prstGeom prst="rect">
            <a:avLst/>
          </a:prstGeom>
          <a:solidFill>
            <a:schemeClr val="tx2"/>
          </a:solidFill>
          <a:ln w="15875">
            <a:solidFill>
              <a:schemeClr val="tx2"/>
            </a:solidFill>
            <a:prstDash val="solid"/>
          </a:ln>
        </p:spPr>
      </p:sp>
      <p:sp>
        <p:nvSpPr>
          <p:cNvPr id="6" name="Text 3"/>
          <p:cNvSpPr txBox="1"/>
          <p:nvPr/>
        </p:nvSpPr>
        <p:spPr>
          <a:xfrm>
            <a:off x="1463040" y="2423160"/>
            <a:ext cx="3931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Service</a:t>
            </a:r>
            <a:endParaRPr lang="en-US" sz="2000" dirty="0"/>
          </a:p>
        </p:txBody>
      </p:sp>
      <p:sp>
        <p:nvSpPr>
          <p:cNvPr id="7" name="Shape 4"/>
          <p:cNvSpPr/>
          <p:nvPr/>
        </p:nvSpPr>
        <p:spPr>
          <a:xfrm>
            <a:off x="1463040" y="2926080"/>
            <a:ext cx="3931920" cy="1499616"/>
          </a:xfrm>
          <a:prstGeom prst="rect">
            <a:avLst/>
          </a:prstGeom>
          <a:solidFill>
            <a:schemeClr val="bg1"/>
          </a:solidFill>
          <a:ln w="15875">
            <a:solidFill>
              <a:schemeClr val="tx2"/>
            </a:solidFill>
            <a:prstDash val="solid"/>
          </a:ln>
        </p:spPr>
      </p:sp>
      <p:sp>
        <p:nvSpPr>
          <p:cNvPr id="8" name="Text 5"/>
          <p:cNvSpPr txBox="1"/>
          <p:nvPr/>
        </p:nvSpPr>
        <p:spPr>
          <a:xfrm>
            <a:off x="1600200" y="2999232"/>
            <a:ext cx="3657600" cy="1389888"/>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name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repo_path</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production_branch</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health_path</a:t>
            </a:r>
            <a:endParaRPr lang="en-US" sz="1500" dirty="0"/>
          </a:p>
        </p:txBody>
      </p:sp>
      <p:sp>
        <p:nvSpPr>
          <p:cNvPr id="9" name="Shape 6"/>
          <p:cNvSpPr/>
          <p:nvPr/>
        </p:nvSpPr>
        <p:spPr>
          <a:xfrm>
            <a:off x="1463040" y="4892040"/>
            <a:ext cx="3931920" cy="502920"/>
          </a:xfrm>
          <a:prstGeom prst="rect">
            <a:avLst/>
          </a:prstGeom>
          <a:solidFill>
            <a:schemeClr val="tx2"/>
          </a:solidFill>
          <a:ln w="15875">
            <a:solidFill>
              <a:schemeClr val="tx2"/>
            </a:solidFill>
            <a:prstDash val="solid"/>
          </a:ln>
        </p:spPr>
      </p:sp>
      <p:sp>
        <p:nvSpPr>
          <p:cNvPr id="10" name="Text 7"/>
          <p:cNvSpPr txBox="1"/>
          <p:nvPr/>
        </p:nvSpPr>
        <p:spPr>
          <a:xfrm>
            <a:off x="1463040" y="4892040"/>
            <a:ext cx="3931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LogSignature</a:t>
            </a:r>
            <a:endParaRPr lang="en-US" sz="2000" dirty="0"/>
          </a:p>
        </p:txBody>
      </p:sp>
      <p:sp>
        <p:nvSpPr>
          <p:cNvPr id="11" name="Shape 8"/>
          <p:cNvSpPr/>
          <p:nvPr/>
        </p:nvSpPr>
        <p:spPr>
          <a:xfrm>
            <a:off x="1463040" y="5394960"/>
            <a:ext cx="3931920" cy="1499616"/>
          </a:xfrm>
          <a:prstGeom prst="rect">
            <a:avLst/>
          </a:prstGeom>
          <a:solidFill>
            <a:schemeClr val="bg1"/>
          </a:solidFill>
          <a:ln w="15875">
            <a:solidFill>
              <a:schemeClr val="tx2"/>
            </a:solidFill>
            <a:prstDash val="solid"/>
          </a:ln>
        </p:spPr>
      </p:sp>
      <p:sp>
        <p:nvSpPr>
          <p:cNvPr id="12" name="Text 9"/>
          <p:cNvSpPr txBox="1"/>
          <p:nvPr/>
        </p:nvSpPr>
        <p:spPr>
          <a:xfrm>
            <a:off x="1600200" y="5468112"/>
            <a:ext cx="3657600" cy="1389888"/>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signature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template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count</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first_seen, last_seen</a:t>
            </a:r>
            <a:endParaRPr lang="en-US" sz="1500" dirty="0"/>
          </a:p>
        </p:txBody>
      </p:sp>
      <p:sp>
        <p:nvSpPr>
          <p:cNvPr id="13" name="Shape 10"/>
          <p:cNvSpPr/>
          <p:nvPr/>
        </p:nvSpPr>
        <p:spPr>
          <a:xfrm>
            <a:off x="1463040" y="7269480"/>
            <a:ext cx="3931920" cy="502920"/>
          </a:xfrm>
          <a:prstGeom prst="rect">
            <a:avLst/>
          </a:prstGeom>
          <a:solidFill>
            <a:schemeClr val="tx2"/>
          </a:solidFill>
          <a:ln w="15875">
            <a:solidFill>
              <a:schemeClr val="tx2"/>
            </a:solidFill>
            <a:prstDash val="solid"/>
          </a:ln>
        </p:spPr>
      </p:sp>
      <p:sp>
        <p:nvSpPr>
          <p:cNvPr id="14" name="Text 11"/>
          <p:cNvSpPr txBox="1"/>
          <p:nvPr/>
        </p:nvSpPr>
        <p:spPr>
          <a:xfrm>
            <a:off x="1463040" y="7269480"/>
            <a:ext cx="3931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LogEvent</a:t>
            </a:r>
            <a:endParaRPr lang="en-US" sz="2000" dirty="0"/>
          </a:p>
        </p:txBody>
      </p:sp>
      <p:sp>
        <p:nvSpPr>
          <p:cNvPr id="15" name="Shape 12"/>
          <p:cNvSpPr/>
          <p:nvPr/>
        </p:nvSpPr>
        <p:spPr>
          <a:xfrm>
            <a:off x="1463040" y="7772400"/>
            <a:ext cx="3931920" cy="1828800"/>
          </a:xfrm>
          <a:prstGeom prst="rect">
            <a:avLst/>
          </a:prstGeom>
          <a:solidFill>
            <a:schemeClr val="bg1"/>
          </a:solidFill>
          <a:ln w="15875">
            <a:solidFill>
              <a:schemeClr val="tx2"/>
            </a:solidFill>
            <a:prstDash val="solid"/>
          </a:ln>
        </p:spPr>
      </p:sp>
      <p:sp>
        <p:nvSpPr>
          <p:cNvPr id="16" name="Text 13"/>
          <p:cNvSpPr txBox="1"/>
          <p:nvPr/>
        </p:nvSpPr>
        <p:spPr>
          <a:xfrm>
            <a:off x="1600200" y="7845552"/>
            <a:ext cx="3657600" cy="1719072"/>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timestamp</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level</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message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signature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stack_trace</a:t>
            </a:r>
            <a:endParaRPr lang="en-US" sz="1500" dirty="0"/>
          </a:p>
        </p:txBody>
      </p:sp>
      <p:sp>
        <p:nvSpPr>
          <p:cNvPr id="17" name="Shape 14"/>
          <p:cNvSpPr/>
          <p:nvPr/>
        </p:nvSpPr>
        <p:spPr>
          <a:xfrm>
            <a:off x="7589520" y="2423160"/>
            <a:ext cx="3931920" cy="502920"/>
          </a:xfrm>
          <a:prstGeom prst="rect">
            <a:avLst/>
          </a:prstGeom>
          <a:solidFill>
            <a:schemeClr val="tx2"/>
          </a:solidFill>
          <a:ln w="15875">
            <a:solidFill>
              <a:schemeClr val="tx2"/>
            </a:solidFill>
            <a:prstDash val="solid"/>
          </a:ln>
        </p:spPr>
      </p:sp>
      <p:sp>
        <p:nvSpPr>
          <p:cNvPr id="18" name="Text 15"/>
          <p:cNvSpPr txBox="1"/>
          <p:nvPr/>
        </p:nvSpPr>
        <p:spPr>
          <a:xfrm>
            <a:off x="7589520" y="2423160"/>
            <a:ext cx="3931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Incident</a:t>
            </a:r>
            <a:endParaRPr lang="en-US" sz="2000" dirty="0"/>
          </a:p>
        </p:txBody>
      </p:sp>
      <p:sp>
        <p:nvSpPr>
          <p:cNvPr id="19" name="Shape 16"/>
          <p:cNvSpPr/>
          <p:nvPr/>
        </p:nvSpPr>
        <p:spPr>
          <a:xfrm>
            <a:off x="7589520" y="2926080"/>
            <a:ext cx="3931920" cy="2157984"/>
          </a:xfrm>
          <a:prstGeom prst="rect">
            <a:avLst/>
          </a:prstGeom>
          <a:solidFill>
            <a:schemeClr val="bg1"/>
          </a:solidFill>
          <a:ln w="15875">
            <a:solidFill>
              <a:schemeClr val="tx2"/>
            </a:solidFill>
            <a:prstDash val="solid"/>
          </a:ln>
        </p:spPr>
      </p:sp>
      <p:sp>
        <p:nvSpPr>
          <p:cNvPr id="20" name="Text 17"/>
          <p:cNvSpPr txBox="1"/>
          <p:nvPr/>
        </p:nvSpPr>
        <p:spPr>
          <a:xfrm>
            <a:off x="7726680" y="2999232"/>
            <a:ext cx="3657600" cy="2048256"/>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title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status</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severity</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signature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event_count</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first_seen, last_seen</a:t>
            </a:r>
            <a:endParaRPr lang="en-US" sz="1500" dirty="0"/>
          </a:p>
        </p:txBody>
      </p:sp>
      <p:sp>
        <p:nvSpPr>
          <p:cNvPr id="21" name="Shape 18"/>
          <p:cNvSpPr/>
          <p:nvPr/>
        </p:nvSpPr>
        <p:spPr>
          <a:xfrm>
            <a:off x="7589520" y="5486400"/>
            <a:ext cx="3931920" cy="502920"/>
          </a:xfrm>
          <a:prstGeom prst="rect">
            <a:avLst/>
          </a:prstGeom>
          <a:solidFill>
            <a:schemeClr val="tx2"/>
          </a:solidFill>
          <a:ln w="15875">
            <a:solidFill>
              <a:schemeClr val="tx2"/>
            </a:solidFill>
            <a:prstDash val="solid"/>
          </a:ln>
        </p:spPr>
      </p:sp>
      <p:sp>
        <p:nvSpPr>
          <p:cNvPr id="22" name="Text 19"/>
          <p:cNvSpPr txBox="1"/>
          <p:nvPr/>
        </p:nvSpPr>
        <p:spPr>
          <a:xfrm>
            <a:off x="7589520" y="5486400"/>
            <a:ext cx="3931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CommitSuspect</a:t>
            </a:r>
            <a:endParaRPr lang="en-US" sz="2000" dirty="0"/>
          </a:p>
        </p:txBody>
      </p:sp>
      <p:sp>
        <p:nvSpPr>
          <p:cNvPr id="23" name="Shape 20"/>
          <p:cNvSpPr/>
          <p:nvPr/>
        </p:nvSpPr>
        <p:spPr>
          <a:xfrm>
            <a:off x="7589520" y="5989320"/>
            <a:ext cx="3931920" cy="1499616"/>
          </a:xfrm>
          <a:prstGeom prst="rect">
            <a:avLst/>
          </a:prstGeom>
          <a:solidFill>
            <a:schemeClr val="bg1"/>
          </a:solidFill>
          <a:ln w="15875">
            <a:solidFill>
              <a:schemeClr val="tx2"/>
            </a:solidFill>
            <a:prstDash val="solid"/>
          </a:ln>
        </p:spPr>
      </p:sp>
      <p:sp>
        <p:nvSpPr>
          <p:cNvPr id="24" name="Text 21"/>
          <p:cNvSpPr txBox="1"/>
          <p:nvPr/>
        </p:nvSpPr>
        <p:spPr>
          <a:xfrm>
            <a:off x="7726680" y="6062472"/>
            <a:ext cx="3657600" cy="1389888"/>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commit_sha</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message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score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reasons</a:t>
            </a:r>
            <a:endParaRPr lang="en-US" sz="1500" dirty="0"/>
          </a:p>
        </p:txBody>
      </p:sp>
      <p:sp>
        <p:nvSpPr>
          <p:cNvPr id="25" name="Shape 22"/>
          <p:cNvSpPr/>
          <p:nvPr/>
        </p:nvSpPr>
        <p:spPr>
          <a:xfrm>
            <a:off x="7589520" y="7818120"/>
            <a:ext cx="3931920" cy="502920"/>
          </a:xfrm>
          <a:prstGeom prst="rect">
            <a:avLst/>
          </a:prstGeom>
          <a:solidFill>
            <a:schemeClr val="tx2"/>
          </a:solidFill>
          <a:ln w="15875">
            <a:solidFill>
              <a:schemeClr val="tx2"/>
            </a:solidFill>
            <a:prstDash val="solid"/>
          </a:ln>
        </p:spPr>
      </p:sp>
      <p:sp>
        <p:nvSpPr>
          <p:cNvPr id="26" name="Text 23"/>
          <p:cNvSpPr txBox="1"/>
          <p:nvPr/>
        </p:nvSpPr>
        <p:spPr>
          <a:xfrm>
            <a:off x="7589520" y="7818120"/>
            <a:ext cx="3931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AuditEvent</a:t>
            </a:r>
            <a:endParaRPr lang="en-US" sz="2000" dirty="0"/>
          </a:p>
        </p:txBody>
      </p:sp>
      <p:sp>
        <p:nvSpPr>
          <p:cNvPr id="27" name="Shape 24"/>
          <p:cNvSpPr/>
          <p:nvPr/>
        </p:nvSpPr>
        <p:spPr>
          <a:xfrm>
            <a:off x="7589520" y="8321040"/>
            <a:ext cx="3931920" cy="1499616"/>
          </a:xfrm>
          <a:prstGeom prst="rect">
            <a:avLst/>
          </a:prstGeom>
          <a:solidFill>
            <a:schemeClr val="bg1"/>
          </a:solidFill>
          <a:ln w="15875">
            <a:solidFill>
              <a:schemeClr val="tx2"/>
            </a:solidFill>
            <a:prstDash val="solid"/>
          </a:ln>
        </p:spPr>
      </p:sp>
      <p:sp>
        <p:nvSpPr>
          <p:cNvPr id="28" name="Text 25"/>
          <p:cNvSpPr txBox="1"/>
          <p:nvPr/>
        </p:nvSpPr>
        <p:spPr>
          <a:xfrm>
            <a:off x="7726680" y="8394192"/>
            <a:ext cx="3657600" cy="1389888"/>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timestamp</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actor</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action</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details</a:t>
            </a:r>
            <a:endParaRPr lang="en-US" sz="1500" dirty="0"/>
          </a:p>
        </p:txBody>
      </p:sp>
      <p:sp>
        <p:nvSpPr>
          <p:cNvPr id="29" name="Shape 26"/>
          <p:cNvSpPr/>
          <p:nvPr/>
        </p:nvSpPr>
        <p:spPr>
          <a:xfrm>
            <a:off x="13624560" y="2423160"/>
            <a:ext cx="4937760" cy="502920"/>
          </a:xfrm>
          <a:prstGeom prst="rect">
            <a:avLst/>
          </a:prstGeom>
          <a:solidFill>
            <a:schemeClr val="tx2"/>
          </a:solidFill>
          <a:ln w="15875">
            <a:solidFill>
              <a:schemeClr val="tx2"/>
            </a:solidFill>
            <a:prstDash val="solid"/>
          </a:ln>
        </p:spPr>
      </p:sp>
      <p:sp>
        <p:nvSpPr>
          <p:cNvPr id="30" name="Text 27"/>
          <p:cNvSpPr txBox="1"/>
          <p:nvPr/>
        </p:nvSpPr>
        <p:spPr>
          <a:xfrm>
            <a:off x="13624560" y="2423160"/>
            <a:ext cx="493776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RCAReport</a:t>
            </a:r>
            <a:endParaRPr lang="en-US" sz="2000" dirty="0"/>
          </a:p>
        </p:txBody>
      </p:sp>
      <p:sp>
        <p:nvSpPr>
          <p:cNvPr id="31" name="Shape 28"/>
          <p:cNvSpPr/>
          <p:nvPr/>
        </p:nvSpPr>
        <p:spPr>
          <a:xfrm>
            <a:off x="13624560" y="2926080"/>
            <a:ext cx="4937760" cy="1499616"/>
          </a:xfrm>
          <a:prstGeom prst="rect">
            <a:avLst/>
          </a:prstGeom>
          <a:solidFill>
            <a:schemeClr val="bg1"/>
          </a:solidFill>
          <a:ln w="15875">
            <a:solidFill>
              <a:schemeClr val="tx2"/>
            </a:solidFill>
            <a:prstDash val="solid"/>
          </a:ln>
        </p:spPr>
      </p:sp>
      <p:sp>
        <p:nvSpPr>
          <p:cNvPr id="32" name="Text 29"/>
          <p:cNvSpPr txBox="1"/>
          <p:nvPr/>
        </p:nvSpPr>
        <p:spPr>
          <a:xfrm>
            <a:off x="13761720" y="2999232"/>
            <a:ext cx="4663440" cy="1389888"/>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probable_root_cause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suspected_commit</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confidence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evidence_pack</a:t>
            </a:r>
            <a:endParaRPr lang="en-US" sz="1500" dirty="0"/>
          </a:p>
        </p:txBody>
      </p:sp>
      <p:sp>
        <p:nvSpPr>
          <p:cNvPr id="33" name="Shape 30"/>
          <p:cNvSpPr/>
          <p:nvPr/>
        </p:nvSpPr>
        <p:spPr>
          <a:xfrm>
            <a:off x="13624560" y="4709160"/>
            <a:ext cx="4937760" cy="502920"/>
          </a:xfrm>
          <a:prstGeom prst="rect">
            <a:avLst/>
          </a:prstGeom>
          <a:solidFill>
            <a:schemeClr val="tx2"/>
          </a:solidFill>
          <a:ln w="15875">
            <a:solidFill>
              <a:schemeClr val="tx2"/>
            </a:solidFill>
            <a:prstDash val="solid"/>
          </a:ln>
        </p:spPr>
      </p:sp>
      <p:sp>
        <p:nvSpPr>
          <p:cNvPr id="34" name="Text 31"/>
          <p:cNvSpPr txBox="1"/>
          <p:nvPr/>
        </p:nvSpPr>
        <p:spPr>
          <a:xfrm>
            <a:off x="13624560" y="4709160"/>
            <a:ext cx="493776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PatchProposal</a:t>
            </a:r>
            <a:endParaRPr lang="en-US" sz="2000" dirty="0"/>
          </a:p>
        </p:txBody>
      </p:sp>
      <p:sp>
        <p:nvSpPr>
          <p:cNvPr id="35" name="Shape 32"/>
          <p:cNvSpPr/>
          <p:nvPr/>
        </p:nvSpPr>
        <p:spPr>
          <a:xfrm>
            <a:off x="13624560" y="5212080"/>
            <a:ext cx="4937760" cy="1828800"/>
          </a:xfrm>
          <a:prstGeom prst="rect">
            <a:avLst/>
          </a:prstGeom>
          <a:solidFill>
            <a:schemeClr val="bg1"/>
          </a:solidFill>
          <a:ln w="15875">
            <a:solidFill>
              <a:schemeClr val="tx2"/>
            </a:solidFill>
            <a:prstDash val="solid"/>
          </a:ln>
        </p:spPr>
      </p:sp>
      <p:sp>
        <p:nvSpPr>
          <p:cNvPr id="36" name="Text 33"/>
          <p:cNvSpPr txBox="1"/>
          <p:nvPr/>
        </p:nvSpPr>
        <p:spPr>
          <a:xfrm>
            <a:off x="13761720" y="5285232"/>
            <a:ext cx="4663440" cy="1719072"/>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strategy</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diff</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branch</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commit_sha</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status</a:t>
            </a:r>
            <a:endParaRPr lang="en-US" sz="1500" dirty="0"/>
          </a:p>
        </p:txBody>
      </p:sp>
      <p:sp>
        <p:nvSpPr>
          <p:cNvPr id="37" name="Shape 34"/>
          <p:cNvSpPr/>
          <p:nvPr/>
        </p:nvSpPr>
        <p:spPr>
          <a:xfrm>
            <a:off x="13624560" y="6995160"/>
            <a:ext cx="2377440" cy="502920"/>
          </a:xfrm>
          <a:prstGeom prst="rect">
            <a:avLst/>
          </a:prstGeom>
          <a:solidFill>
            <a:schemeClr val="tx2"/>
          </a:solidFill>
          <a:ln w="15875">
            <a:solidFill>
              <a:schemeClr val="tx2"/>
            </a:solidFill>
            <a:prstDash val="solid"/>
          </a:ln>
        </p:spPr>
      </p:sp>
      <p:sp>
        <p:nvSpPr>
          <p:cNvPr id="38" name="Text 35"/>
          <p:cNvSpPr txBox="1"/>
          <p:nvPr/>
        </p:nvSpPr>
        <p:spPr>
          <a:xfrm>
            <a:off x="13624560" y="6995160"/>
            <a:ext cx="237744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ValidationRun</a:t>
            </a:r>
            <a:endParaRPr lang="en-US" sz="2000" dirty="0"/>
          </a:p>
        </p:txBody>
      </p:sp>
      <p:sp>
        <p:nvSpPr>
          <p:cNvPr id="39" name="Shape 36"/>
          <p:cNvSpPr/>
          <p:nvPr/>
        </p:nvSpPr>
        <p:spPr>
          <a:xfrm>
            <a:off x="13624560" y="7498080"/>
            <a:ext cx="2377440" cy="841248"/>
          </a:xfrm>
          <a:prstGeom prst="rect">
            <a:avLst/>
          </a:prstGeom>
          <a:solidFill>
            <a:schemeClr val="bg1"/>
          </a:solidFill>
          <a:ln w="15875">
            <a:solidFill>
              <a:schemeClr val="tx2"/>
            </a:solidFill>
            <a:prstDash val="solid"/>
          </a:ln>
        </p:spPr>
      </p:sp>
      <p:sp>
        <p:nvSpPr>
          <p:cNvPr id="40" name="Text 37"/>
          <p:cNvSpPr txBox="1"/>
          <p:nvPr/>
        </p:nvSpPr>
        <p:spPr>
          <a:xfrm>
            <a:off x="13761720" y="7571232"/>
            <a:ext cx="2103120" cy="731520"/>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status</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steps</a:t>
            </a:r>
            <a:endParaRPr lang="en-US" sz="1500" dirty="0"/>
          </a:p>
        </p:txBody>
      </p:sp>
      <p:sp>
        <p:nvSpPr>
          <p:cNvPr id="41" name="Shape 38"/>
          <p:cNvSpPr/>
          <p:nvPr/>
        </p:nvSpPr>
        <p:spPr>
          <a:xfrm>
            <a:off x="16184880" y="6995160"/>
            <a:ext cx="2377440" cy="502920"/>
          </a:xfrm>
          <a:prstGeom prst="rect">
            <a:avLst/>
          </a:prstGeom>
          <a:solidFill>
            <a:schemeClr val="tx2"/>
          </a:solidFill>
          <a:ln w="15875">
            <a:solidFill>
              <a:schemeClr val="tx2"/>
            </a:solidFill>
            <a:prstDash val="solid"/>
          </a:ln>
        </p:spPr>
      </p:sp>
      <p:sp>
        <p:nvSpPr>
          <p:cNvPr id="42" name="Text 39"/>
          <p:cNvSpPr txBox="1"/>
          <p:nvPr/>
        </p:nvSpPr>
        <p:spPr>
          <a:xfrm>
            <a:off x="16184880" y="6995160"/>
            <a:ext cx="237744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Approval</a:t>
            </a:r>
            <a:endParaRPr lang="en-US" sz="2000" dirty="0"/>
          </a:p>
        </p:txBody>
      </p:sp>
      <p:sp>
        <p:nvSpPr>
          <p:cNvPr id="43" name="Shape 40"/>
          <p:cNvSpPr/>
          <p:nvPr/>
        </p:nvSpPr>
        <p:spPr>
          <a:xfrm>
            <a:off x="16184880" y="7498080"/>
            <a:ext cx="2377440" cy="1170432"/>
          </a:xfrm>
          <a:prstGeom prst="rect">
            <a:avLst/>
          </a:prstGeom>
          <a:solidFill>
            <a:schemeClr val="bg1"/>
          </a:solidFill>
          <a:ln w="15875">
            <a:solidFill>
              <a:schemeClr val="tx2"/>
            </a:solidFill>
            <a:prstDash val="solid"/>
          </a:ln>
        </p:spPr>
      </p:sp>
      <p:sp>
        <p:nvSpPr>
          <p:cNvPr id="44" name="Text 41"/>
          <p:cNvSpPr txBox="1"/>
          <p:nvPr/>
        </p:nvSpPr>
        <p:spPr>
          <a:xfrm>
            <a:off x="16322040" y="7571232"/>
            <a:ext cx="2103120" cy="1060704"/>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 decision</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approver</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commit_sha</a:t>
            </a:r>
            <a:endParaRPr lang="en-US" sz="1500" dirty="0"/>
          </a:p>
        </p:txBody>
      </p:sp>
      <p:sp>
        <p:nvSpPr>
          <p:cNvPr id="45" name="Shape 42"/>
          <p:cNvSpPr/>
          <p:nvPr/>
        </p:nvSpPr>
        <p:spPr>
          <a:xfrm>
            <a:off x="5394960" y="3291840"/>
            <a:ext cx="2194560" cy="0"/>
          </a:xfrm>
          <a:prstGeom prst="line">
            <a:avLst/>
          </a:prstGeom>
          <a:noFill/>
          <a:ln w="25400">
            <a:solidFill>
              <a:schemeClr val="tx1"/>
            </a:solidFill>
            <a:prstDash val="solid"/>
          </a:ln>
        </p:spPr>
      </p:sp>
      <p:sp>
        <p:nvSpPr>
          <p:cNvPr id="46" name="Text 43"/>
          <p:cNvSpPr txBox="1"/>
          <p:nvPr/>
        </p:nvSpPr>
        <p:spPr>
          <a:xfrm>
            <a:off x="5394960" y="292608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47" name="Text 44"/>
          <p:cNvSpPr txBox="1"/>
          <p:nvPr/>
        </p:nvSpPr>
        <p:spPr>
          <a:xfrm>
            <a:off x="6949440" y="292608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48" name="Shape 45"/>
          <p:cNvSpPr/>
          <p:nvPr/>
        </p:nvSpPr>
        <p:spPr>
          <a:xfrm>
            <a:off x="3429000" y="4425696"/>
            <a:ext cx="0" cy="466344"/>
          </a:xfrm>
          <a:prstGeom prst="line">
            <a:avLst/>
          </a:prstGeom>
          <a:noFill/>
          <a:ln w="25400">
            <a:solidFill>
              <a:schemeClr val="tx1"/>
            </a:solidFill>
            <a:prstDash val="solid"/>
          </a:ln>
        </p:spPr>
      </p:sp>
      <p:sp>
        <p:nvSpPr>
          <p:cNvPr id="49" name="Text 46"/>
          <p:cNvSpPr txBox="1"/>
          <p:nvPr/>
        </p:nvSpPr>
        <p:spPr>
          <a:xfrm>
            <a:off x="3429000" y="4425696"/>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50" name="Text 47"/>
          <p:cNvSpPr txBox="1"/>
          <p:nvPr/>
        </p:nvSpPr>
        <p:spPr>
          <a:xfrm>
            <a:off x="3429000" y="457200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51" name="Shape 48"/>
          <p:cNvSpPr/>
          <p:nvPr/>
        </p:nvSpPr>
        <p:spPr>
          <a:xfrm>
            <a:off x="3429000" y="6894576"/>
            <a:ext cx="0" cy="374904"/>
          </a:xfrm>
          <a:prstGeom prst="line">
            <a:avLst/>
          </a:prstGeom>
          <a:noFill/>
          <a:ln w="25400">
            <a:solidFill>
              <a:schemeClr val="tx1"/>
            </a:solidFill>
            <a:prstDash val="solid"/>
          </a:ln>
        </p:spPr>
      </p:sp>
      <p:sp>
        <p:nvSpPr>
          <p:cNvPr id="52" name="Text 49"/>
          <p:cNvSpPr txBox="1"/>
          <p:nvPr/>
        </p:nvSpPr>
        <p:spPr>
          <a:xfrm>
            <a:off x="3429000" y="6894576"/>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53" name="Text 50"/>
          <p:cNvSpPr txBox="1"/>
          <p:nvPr/>
        </p:nvSpPr>
        <p:spPr>
          <a:xfrm>
            <a:off x="3429000" y="694944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54" name="Shape 51"/>
          <p:cNvSpPr/>
          <p:nvPr/>
        </p:nvSpPr>
        <p:spPr>
          <a:xfrm>
            <a:off x="9555480" y="5084064"/>
            <a:ext cx="0" cy="402336"/>
          </a:xfrm>
          <a:prstGeom prst="line">
            <a:avLst/>
          </a:prstGeom>
          <a:noFill/>
          <a:ln w="25400">
            <a:solidFill>
              <a:schemeClr val="tx1"/>
            </a:solidFill>
            <a:prstDash val="solid"/>
          </a:ln>
        </p:spPr>
      </p:sp>
      <p:sp>
        <p:nvSpPr>
          <p:cNvPr id="55" name="Text 52"/>
          <p:cNvSpPr txBox="1"/>
          <p:nvPr/>
        </p:nvSpPr>
        <p:spPr>
          <a:xfrm>
            <a:off x="9555480" y="5084064"/>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56" name="Text 53"/>
          <p:cNvSpPr txBox="1"/>
          <p:nvPr/>
        </p:nvSpPr>
        <p:spPr>
          <a:xfrm>
            <a:off x="9555480" y="516636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57" name="Shape 54"/>
          <p:cNvSpPr/>
          <p:nvPr/>
        </p:nvSpPr>
        <p:spPr>
          <a:xfrm flipH="1">
            <a:off x="7269480" y="4480560"/>
            <a:ext cx="320040" cy="0"/>
          </a:xfrm>
          <a:prstGeom prst="line">
            <a:avLst/>
          </a:prstGeom>
          <a:noFill/>
          <a:ln w="25400">
            <a:solidFill>
              <a:schemeClr val="tx1"/>
            </a:solidFill>
            <a:prstDash val="solid"/>
          </a:ln>
        </p:spPr>
      </p:sp>
      <p:sp>
        <p:nvSpPr>
          <p:cNvPr id="58" name="Shape 55"/>
          <p:cNvSpPr/>
          <p:nvPr/>
        </p:nvSpPr>
        <p:spPr>
          <a:xfrm>
            <a:off x="7269480" y="4480560"/>
            <a:ext cx="0" cy="3611880"/>
          </a:xfrm>
          <a:prstGeom prst="line">
            <a:avLst/>
          </a:prstGeom>
          <a:noFill/>
          <a:ln w="25400">
            <a:solidFill>
              <a:schemeClr val="tx1"/>
            </a:solidFill>
            <a:prstDash val="solid"/>
          </a:ln>
        </p:spPr>
      </p:sp>
      <p:sp>
        <p:nvSpPr>
          <p:cNvPr id="59" name="Shape 56"/>
          <p:cNvSpPr/>
          <p:nvPr/>
        </p:nvSpPr>
        <p:spPr>
          <a:xfrm>
            <a:off x="7269480" y="8092440"/>
            <a:ext cx="320040" cy="0"/>
          </a:xfrm>
          <a:prstGeom prst="line">
            <a:avLst/>
          </a:prstGeom>
          <a:noFill/>
          <a:ln w="25400">
            <a:solidFill>
              <a:schemeClr val="tx1"/>
            </a:solidFill>
            <a:prstDash val="solid"/>
          </a:ln>
        </p:spPr>
      </p:sp>
      <p:sp>
        <p:nvSpPr>
          <p:cNvPr id="60" name="Text 57"/>
          <p:cNvSpPr txBox="1"/>
          <p:nvPr/>
        </p:nvSpPr>
        <p:spPr>
          <a:xfrm>
            <a:off x="6629400" y="411480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61" name="Text 58"/>
          <p:cNvSpPr txBox="1"/>
          <p:nvPr/>
        </p:nvSpPr>
        <p:spPr>
          <a:xfrm>
            <a:off x="6949440" y="772668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62" name="Shape 59"/>
          <p:cNvSpPr/>
          <p:nvPr/>
        </p:nvSpPr>
        <p:spPr>
          <a:xfrm>
            <a:off x="11521440" y="3017520"/>
            <a:ext cx="2103120" cy="0"/>
          </a:xfrm>
          <a:prstGeom prst="line">
            <a:avLst/>
          </a:prstGeom>
          <a:noFill/>
          <a:ln w="25400">
            <a:solidFill>
              <a:schemeClr val="tx1"/>
            </a:solidFill>
            <a:prstDash val="solid"/>
          </a:ln>
        </p:spPr>
      </p:sp>
      <p:sp>
        <p:nvSpPr>
          <p:cNvPr id="63" name="Text 60"/>
          <p:cNvSpPr txBox="1"/>
          <p:nvPr/>
        </p:nvSpPr>
        <p:spPr>
          <a:xfrm>
            <a:off x="11521440" y="265176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64" name="Text 61"/>
          <p:cNvSpPr txBox="1"/>
          <p:nvPr/>
        </p:nvSpPr>
        <p:spPr>
          <a:xfrm>
            <a:off x="12984480" y="265176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65" name="Shape 62"/>
          <p:cNvSpPr/>
          <p:nvPr/>
        </p:nvSpPr>
        <p:spPr>
          <a:xfrm>
            <a:off x="11521440" y="4206240"/>
            <a:ext cx="914400" cy="0"/>
          </a:xfrm>
          <a:prstGeom prst="line">
            <a:avLst/>
          </a:prstGeom>
          <a:noFill/>
          <a:ln w="25400">
            <a:solidFill>
              <a:schemeClr val="tx1"/>
            </a:solidFill>
            <a:prstDash val="solid"/>
          </a:ln>
        </p:spPr>
      </p:sp>
      <p:sp>
        <p:nvSpPr>
          <p:cNvPr id="66" name="Shape 63"/>
          <p:cNvSpPr/>
          <p:nvPr/>
        </p:nvSpPr>
        <p:spPr>
          <a:xfrm>
            <a:off x="12435840" y="4206240"/>
            <a:ext cx="0" cy="1371600"/>
          </a:xfrm>
          <a:prstGeom prst="line">
            <a:avLst/>
          </a:prstGeom>
          <a:noFill/>
          <a:ln w="25400">
            <a:solidFill>
              <a:schemeClr val="tx1"/>
            </a:solidFill>
            <a:prstDash val="solid"/>
          </a:ln>
        </p:spPr>
      </p:sp>
      <p:sp>
        <p:nvSpPr>
          <p:cNvPr id="67" name="Shape 64"/>
          <p:cNvSpPr/>
          <p:nvPr/>
        </p:nvSpPr>
        <p:spPr>
          <a:xfrm>
            <a:off x="12435840" y="5577840"/>
            <a:ext cx="1188720" cy="0"/>
          </a:xfrm>
          <a:prstGeom prst="line">
            <a:avLst/>
          </a:prstGeom>
          <a:noFill/>
          <a:ln w="25400">
            <a:solidFill>
              <a:schemeClr val="tx1"/>
            </a:solidFill>
            <a:prstDash val="solid"/>
          </a:ln>
        </p:spPr>
      </p:sp>
      <p:sp>
        <p:nvSpPr>
          <p:cNvPr id="68" name="Text 65"/>
          <p:cNvSpPr txBox="1"/>
          <p:nvPr/>
        </p:nvSpPr>
        <p:spPr>
          <a:xfrm>
            <a:off x="11521440" y="384048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69" name="Text 66"/>
          <p:cNvSpPr txBox="1"/>
          <p:nvPr/>
        </p:nvSpPr>
        <p:spPr>
          <a:xfrm>
            <a:off x="12984480" y="521208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70" name="Shape 67"/>
          <p:cNvSpPr/>
          <p:nvPr/>
        </p:nvSpPr>
        <p:spPr>
          <a:xfrm flipV="1">
            <a:off x="14813280" y="6995160"/>
            <a:ext cx="0" cy="45720"/>
          </a:xfrm>
          <a:prstGeom prst="line">
            <a:avLst/>
          </a:prstGeom>
          <a:noFill/>
          <a:ln w="25400">
            <a:solidFill>
              <a:schemeClr val="tx1"/>
            </a:solidFill>
            <a:prstDash val="solid"/>
          </a:ln>
        </p:spPr>
      </p:sp>
      <p:sp>
        <p:nvSpPr>
          <p:cNvPr id="71" name="Text 68"/>
          <p:cNvSpPr txBox="1"/>
          <p:nvPr/>
        </p:nvSpPr>
        <p:spPr>
          <a:xfrm>
            <a:off x="14813280" y="704088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72" name="Text 69"/>
          <p:cNvSpPr txBox="1"/>
          <p:nvPr/>
        </p:nvSpPr>
        <p:spPr>
          <a:xfrm>
            <a:off x="14813280" y="667512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
        <p:nvSpPr>
          <p:cNvPr id="73" name="Shape 70"/>
          <p:cNvSpPr/>
          <p:nvPr/>
        </p:nvSpPr>
        <p:spPr>
          <a:xfrm flipV="1">
            <a:off x="17373600" y="6995160"/>
            <a:ext cx="0" cy="45720"/>
          </a:xfrm>
          <a:prstGeom prst="line">
            <a:avLst/>
          </a:prstGeom>
          <a:noFill/>
          <a:ln w="25400">
            <a:solidFill>
              <a:schemeClr val="tx1"/>
            </a:solidFill>
            <a:prstDash val="solid"/>
          </a:ln>
        </p:spPr>
      </p:sp>
      <p:sp>
        <p:nvSpPr>
          <p:cNvPr id="74" name="Text 71"/>
          <p:cNvSpPr txBox="1"/>
          <p:nvPr/>
        </p:nvSpPr>
        <p:spPr>
          <a:xfrm>
            <a:off x="17373600" y="704088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1</a:t>
            </a:r>
            <a:endParaRPr lang="en-US" sz="1500" dirty="0"/>
          </a:p>
        </p:txBody>
      </p:sp>
      <p:sp>
        <p:nvSpPr>
          <p:cNvPr id="75" name="Text 72"/>
          <p:cNvSpPr txBox="1"/>
          <p:nvPr/>
        </p:nvSpPr>
        <p:spPr>
          <a:xfrm>
            <a:off x="17373600" y="6675120"/>
            <a:ext cx="640080" cy="32004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Project Design: Sequence Diagram</a:t>
            </a:r>
            <a:endParaRPr lang="en-US" sz="6600" dirty="0"/>
          </a:p>
        </p:txBody>
      </p:sp>
      <p:sp>
        <p:nvSpPr>
          <p:cNvPr id="4" name="sequence-card"/>
          <p:cNvSpPr/>
          <p:nvPr/>
        </p:nvSpPr>
        <p:spPr>
          <a:xfrm>
            <a:off x="1097280" y="2103120"/>
            <a:ext cx="17922240" cy="8138160"/>
          </a:xfrm>
          <a:prstGeom prst="roundRect">
            <a:avLst>
              <a:gd name="adj" fmla="val 3371"/>
            </a:avLst>
          </a:prstGeom>
          <a:solidFill>
            <a:schemeClr val="bg1"/>
          </a:solidFill>
          <a:ln/>
        </p:spPr>
      </p:sp>
      <p:sp>
        <p:nvSpPr>
          <p:cNvPr id="5" name="Shape 2"/>
          <p:cNvSpPr/>
          <p:nvPr/>
        </p:nvSpPr>
        <p:spPr>
          <a:xfrm>
            <a:off x="1417320" y="2286000"/>
            <a:ext cx="1920240" cy="777240"/>
          </a:xfrm>
          <a:prstGeom prst="rect">
            <a:avLst/>
          </a:prstGeom>
          <a:solidFill>
            <a:srgbClr val="E4E7F2"/>
          </a:solidFill>
          <a:ln w="15875">
            <a:solidFill>
              <a:schemeClr val="tx2"/>
            </a:solidFill>
            <a:prstDash val="solid"/>
          </a:ln>
        </p:spPr>
      </p:sp>
      <p:sp>
        <p:nvSpPr>
          <p:cNvPr id="6" name="Text 3"/>
          <p:cNvSpPr txBox="1"/>
          <p:nvPr/>
        </p:nvSpPr>
        <p:spPr>
          <a:xfrm>
            <a:off x="141732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Production</a:t>
            </a:r>
            <a:endParaRPr lang="en-US" sz="1600" dirty="0"/>
          </a:p>
          <a:p>
            <a:pPr algn="ctr" indent="0" marL="0">
              <a:buNone/>
            </a:pPr>
            <a:r>
              <a:rPr lang="en-US" sz="1600" b="1" dirty="0">
                <a:solidFill>
                  <a:schemeClr val="tx1"/>
                </a:solidFill>
                <a:latin typeface="Calibri" pitchFamily="34" charset="0"/>
                <a:ea typeface="Calibri" pitchFamily="34" charset="-122"/>
                <a:cs typeface="Calibri" pitchFamily="34" charset="-120"/>
              </a:rPr>
              <a:t>Service</a:t>
            </a:r>
            <a:endParaRPr lang="en-US" sz="1600" dirty="0"/>
          </a:p>
        </p:txBody>
      </p:sp>
      <p:sp>
        <p:nvSpPr>
          <p:cNvPr id="7" name="Shape 4"/>
          <p:cNvSpPr/>
          <p:nvPr/>
        </p:nvSpPr>
        <p:spPr>
          <a:xfrm>
            <a:off x="2377440" y="3063240"/>
            <a:ext cx="0" cy="6949440"/>
          </a:xfrm>
          <a:prstGeom prst="line">
            <a:avLst/>
          </a:prstGeom>
          <a:noFill/>
          <a:ln w="12700">
            <a:solidFill>
              <a:srgbClr val="8C8C8C"/>
            </a:solidFill>
            <a:prstDash val="dash"/>
          </a:ln>
        </p:spPr>
      </p:sp>
      <p:sp>
        <p:nvSpPr>
          <p:cNvPr id="8" name="Shape 5"/>
          <p:cNvSpPr/>
          <p:nvPr/>
        </p:nvSpPr>
        <p:spPr>
          <a:xfrm>
            <a:off x="3611880" y="2286000"/>
            <a:ext cx="1920240" cy="777240"/>
          </a:xfrm>
          <a:prstGeom prst="rect">
            <a:avLst/>
          </a:prstGeom>
          <a:solidFill>
            <a:srgbClr val="E4E7F2"/>
          </a:solidFill>
          <a:ln w="15875">
            <a:solidFill>
              <a:schemeClr val="tx2"/>
            </a:solidFill>
            <a:prstDash val="solid"/>
          </a:ln>
        </p:spPr>
      </p:sp>
      <p:sp>
        <p:nvSpPr>
          <p:cNvPr id="9" name="Text 6"/>
          <p:cNvSpPr txBox="1"/>
          <p:nvPr/>
        </p:nvSpPr>
        <p:spPr>
          <a:xfrm>
            <a:off x="361188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Ingest API &amp;</a:t>
            </a:r>
            <a:endParaRPr lang="en-US" sz="1600" dirty="0"/>
          </a:p>
          <a:p>
            <a:pPr algn="ctr" indent="0" marL="0">
              <a:buNone/>
            </a:pPr>
            <a:r>
              <a:rPr lang="en-US" sz="1600" b="1" dirty="0">
                <a:solidFill>
                  <a:schemeClr val="tx1"/>
                </a:solidFill>
                <a:latin typeface="Calibri" pitchFamily="34" charset="0"/>
                <a:ea typeface="Calibri" pitchFamily="34" charset="-122"/>
                <a:cs typeface="Calibri" pitchFamily="34" charset="-120"/>
              </a:rPr>
              <a:t>Detector</a:t>
            </a:r>
            <a:endParaRPr lang="en-US" sz="1600" dirty="0"/>
          </a:p>
        </p:txBody>
      </p:sp>
      <p:sp>
        <p:nvSpPr>
          <p:cNvPr id="10" name="Shape 7"/>
          <p:cNvSpPr/>
          <p:nvPr/>
        </p:nvSpPr>
        <p:spPr>
          <a:xfrm>
            <a:off x="4572000" y="3063240"/>
            <a:ext cx="0" cy="6949440"/>
          </a:xfrm>
          <a:prstGeom prst="line">
            <a:avLst/>
          </a:prstGeom>
          <a:noFill/>
          <a:ln w="12700">
            <a:solidFill>
              <a:srgbClr val="8C8C8C"/>
            </a:solidFill>
            <a:prstDash val="dash"/>
          </a:ln>
        </p:spPr>
      </p:sp>
      <p:sp>
        <p:nvSpPr>
          <p:cNvPr id="11" name="Shape 8"/>
          <p:cNvSpPr/>
          <p:nvPr/>
        </p:nvSpPr>
        <p:spPr>
          <a:xfrm>
            <a:off x="5806440" y="2286000"/>
            <a:ext cx="1920240" cy="777240"/>
          </a:xfrm>
          <a:prstGeom prst="rect">
            <a:avLst/>
          </a:prstGeom>
          <a:solidFill>
            <a:srgbClr val="E4E7F2"/>
          </a:solidFill>
          <a:ln w="15875">
            <a:solidFill>
              <a:schemeClr val="tx2"/>
            </a:solidFill>
            <a:prstDash val="solid"/>
          </a:ln>
        </p:spPr>
      </p:sp>
      <p:sp>
        <p:nvSpPr>
          <p:cNvPr id="12" name="Text 9"/>
          <p:cNvSpPr txBox="1"/>
          <p:nvPr/>
        </p:nvSpPr>
        <p:spPr>
          <a:xfrm>
            <a:off x="580644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Orchestrator</a:t>
            </a:r>
            <a:endParaRPr lang="en-US" sz="1600" dirty="0"/>
          </a:p>
        </p:txBody>
      </p:sp>
      <p:sp>
        <p:nvSpPr>
          <p:cNvPr id="13" name="Shape 10"/>
          <p:cNvSpPr/>
          <p:nvPr/>
        </p:nvSpPr>
        <p:spPr>
          <a:xfrm>
            <a:off x="6766560" y="3063240"/>
            <a:ext cx="0" cy="6949440"/>
          </a:xfrm>
          <a:prstGeom prst="line">
            <a:avLst/>
          </a:prstGeom>
          <a:noFill/>
          <a:ln w="12700">
            <a:solidFill>
              <a:srgbClr val="8C8C8C"/>
            </a:solidFill>
            <a:prstDash val="dash"/>
          </a:ln>
        </p:spPr>
      </p:sp>
      <p:sp>
        <p:nvSpPr>
          <p:cNvPr id="14" name="Shape 11"/>
          <p:cNvSpPr/>
          <p:nvPr/>
        </p:nvSpPr>
        <p:spPr>
          <a:xfrm>
            <a:off x="8001000" y="2286000"/>
            <a:ext cx="1920240" cy="777240"/>
          </a:xfrm>
          <a:prstGeom prst="rect">
            <a:avLst/>
          </a:prstGeom>
          <a:solidFill>
            <a:srgbClr val="E4E7F2"/>
          </a:solidFill>
          <a:ln w="15875">
            <a:solidFill>
              <a:schemeClr val="tx2"/>
            </a:solidFill>
            <a:prstDash val="solid"/>
          </a:ln>
        </p:spPr>
      </p:sp>
      <p:sp>
        <p:nvSpPr>
          <p:cNvPr id="15" name="Text 12"/>
          <p:cNvSpPr txBox="1"/>
          <p:nvPr/>
        </p:nvSpPr>
        <p:spPr>
          <a:xfrm>
            <a:off x="800100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Correlator</a:t>
            </a:r>
            <a:endParaRPr lang="en-US" sz="1600" dirty="0"/>
          </a:p>
          <a:p>
            <a:pPr algn="ctr" indent="0" marL="0">
              <a:buNone/>
            </a:pPr>
            <a:r>
              <a:rPr lang="en-US" sz="1600" b="1" dirty="0">
                <a:solidFill>
                  <a:schemeClr val="tx1"/>
                </a:solidFill>
                <a:latin typeface="Calibri" pitchFamily="34" charset="0"/>
                <a:ea typeface="Calibri" pitchFamily="34" charset="-122"/>
                <a:cs typeface="Calibri" pitchFamily="34" charset="-120"/>
              </a:rPr>
              <a:t>&amp; Git</a:t>
            </a:r>
            <a:endParaRPr lang="en-US" sz="1600" dirty="0"/>
          </a:p>
        </p:txBody>
      </p:sp>
      <p:sp>
        <p:nvSpPr>
          <p:cNvPr id="16" name="Shape 13"/>
          <p:cNvSpPr/>
          <p:nvPr/>
        </p:nvSpPr>
        <p:spPr>
          <a:xfrm>
            <a:off x="8961120" y="3063240"/>
            <a:ext cx="0" cy="6949440"/>
          </a:xfrm>
          <a:prstGeom prst="line">
            <a:avLst/>
          </a:prstGeom>
          <a:noFill/>
          <a:ln w="12700">
            <a:solidFill>
              <a:srgbClr val="8C8C8C"/>
            </a:solidFill>
            <a:prstDash val="dash"/>
          </a:ln>
        </p:spPr>
      </p:sp>
      <p:sp>
        <p:nvSpPr>
          <p:cNvPr id="17" name="Shape 14"/>
          <p:cNvSpPr/>
          <p:nvPr/>
        </p:nvSpPr>
        <p:spPr>
          <a:xfrm>
            <a:off x="10195560" y="2286000"/>
            <a:ext cx="1920240" cy="777240"/>
          </a:xfrm>
          <a:prstGeom prst="rect">
            <a:avLst/>
          </a:prstGeom>
          <a:solidFill>
            <a:srgbClr val="E4E7F2"/>
          </a:solidFill>
          <a:ln w="15875">
            <a:solidFill>
              <a:schemeClr val="tx2"/>
            </a:solidFill>
            <a:prstDash val="solid"/>
          </a:ln>
        </p:spPr>
      </p:sp>
      <p:sp>
        <p:nvSpPr>
          <p:cNvPr id="18" name="Text 15"/>
          <p:cNvSpPr txBox="1"/>
          <p:nvPr/>
        </p:nvSpPr>
        <p:spPr>
          <a:xfrm>
            <a:off x="1019556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LLM</a:t>
            </a:r>
            <a:endParaRPr lang="en-US" sz="1600" dirty="0"/>
          </a:p>
        </p:txBody>
      </p:sp>
      <p:sp>
        <p:nvSpPr>
          <p:cNvPr id="19" name="Shape 16"/>
          <p:cNvSpPr/>
          <p:nvPr/>
        </p:nvSpPr>
        <p:spPr>
          <a:xfrm>
            <a:off x="11155680" y="3063240"/>
            <a:ext cx="0" cy="6949440"/>
          </a:xfrm>
          <a:prstGeom prst="line">
            <a:avLst/>
          </a:prstGeom>
          <a:noFill/>
          <a:ln w="12700">
            <a:solidFill>
              <a:srgbClr val="8C8C8C"/>
            </a:solidFill>
            <a:prstDash val="dash"/>
          </a:ln>
        </p:spPr>
      </p:sp>
      <p:sp>
        <p:nvSpPr>
          <p:cNvPr id="20" name="Shape 17"/>
          <p:cNvSpPr/>
          <p:nvPr/>
        </p:nvSpPr>
        <p:spPr>
          <a:xfrm>
            <a:off x="12390120" y="2286000"/>
            <a:ext cx="1920240" cy="777240"/>
          </a:xfrm>
          <a:prstGeom prst="rect">
            <a:avLst/>
          </a:prstGeom>
          <a:solidFill>
            <a:srgbClr val="E4E7F2"/>
          </a:solidFill>
          <a:ln w="15875">
            <a:solidFill>
              <a:schemeClr val="tx2"/>
            </a:solidFill>
            <a:prstDash val="solid"/>
          </a:ln>
        </p:spPr>
      </p:sp>
      <p:sp>
        <p:nvSpPr>
          <p:cNvPr id="21" name="Text 18"/>
          <p:cNvSpPr txBox="1"/>
          <p:nvPr/>
        </p:nvSpPr>
        <p:spPr>
          <a:xfrm>
            <a:off x="1239012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Validation</a:t>
            </a:r>
            <a:endParaRPr lang="en-US" sz="1600" dirty="0"/>
          </a:p>
          <a:p>
            <a:pPr algn="ctr" indent="0" marL="0">
              <a:buNone/>
            </a:pPr>
            <a:r>
              <a:rPr lang="en-US" sz="1600" b="1" dirty="0">
                <a:solidFill>
                  <a:schemeClr val="tx1"/>
                </a:solidFill>
                <a:latin typeface="Calibri" pitchFamily="34" charset="0"/>
                <a:ea typeface="Calibri" pitchFamily="34" charset="-122"/>
                <a:cs typeface="Calibri" pitchFamily="34" charset="-120"/>
              </a:rPr>
              <a:t>Runner</a:t>
            </a:r>
            <a:endParaRPr lang="en-US" sz="1600" dirty="0"/>
          </a:p>
        </p:txBody>
      </p:sp>
      <p:sp>
        <p:nvSpPr>
          <p:cNvPr id="22" name="Shape 19"/>
          <p:cNvSpPr/>
          <p:nvPr/>
        </p:nvSpPr>
        <p:spPr>
          <a:xfrm>
            <a:off x="13350240" y="3063240"/>
            <a:ext cx="0" cy="6949440"/>
          </a:xfrm>
          <a:prstGeom prst="line">
            <a:avLst/>
          </a:prstGeom>
          <a:noFill/>
          <a:ln w="12700">
            <a:solidFill>
              <a:srgbClr val="8C8C8C"/>
            </a:solidFill>
            <a:prstDash val="dash"/>
          </a:ln>
        </p:spPr>
      </p:sp>
      <p:sp>
        <p:nvSpPr>
          <p:cNvPr id="23" name="Shape 20"/>
          <p:cNvSpPr/>
          <p:nvPr/>
        </p:nvSpPr>
        <p:spPr>
          <a:xfrm>
            <a:off x="14584680" y="2286000"/>
            <a:ext cx="1920240" cy="777240"/>
          </a:xfrm>
          <a:prstGeom prst="rect">
            <a:avLst/>
          </a:prstGeom>
          <a:solidFill>
            <a:srgbClr val="F3EAD7"/>
          </a:solidFill>
          <a:ln w="15875">
            <a:solidFill>
              <a:schemeClr val="tx2"/>
            </a:solidFill>
            <a:prstDash val="solid"/>
          </a:ln>
        </p:spPr>
      </p:sp>
      <p:sp>
        <p:nvSpPr>
          <p:cNvPr id="24" name="Text 21"/>
          <p:cNvSpPr txBox="1"/>
          <p:nvPr/>
        </p:nvSpPr>
        <p:spPr>
          <a:xfrm>
            <a:off x="1458468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Engineer</a:t>
            </a:r>
            <a:endParaRPr lang="en-US" sz="1600" dirty="0"/>
          </a:p>
        </p:txBody>
      </p:sp>
      <p:sp>
        <p:nvSpPr>
          <p:cNvPr id="25" name="Shape 22"/>
          <p:cNvSpPr/>
          <p:nvPr/>
        </p:nvSpPr>
        <p:spPr>
          <a:xfrm>
            <a:off x="15544800" y="3063240"/>
            <a:ext cx="0" cy="6949440"/>
          </a:xfrm>
          <a:prstGeom prst="line">
            <a:avLst/>
          </a:prstGeom>
          <a:noFill/>
          <a:ln w="12700">
            <a:solidFill>
              <a:srgbClr val="8C8C8C"/>
            </a:solidFill>
            <a:prstDash val="dash"/>
          </a:ln>
        </p:spPr>
      </p:sp>
      <p:sp>
        <p:nvSpPr>
          <p:cNvPr id="26" name="Shape 23"/>
          <p:cNvSpPr/>
          <p:nvPr/>
        </p:nvSpPr>
        <p:spPr>
          <a:xfrm>
            <a:off x="16779240" y="2286000"/>
            <a:ext cx="1920240" cy="777240"/>
          </a:xfrm>
          <a:prstGeom prst="rect">
            <a:avLst/>
          </a:prstGeom>
          <a:solidFill>
            <a:srgbClr val="E4E7F2"/>
          </a:solidFill>
          <a:ln w="15875">
            <a:solidFill>
              <a:schemeClr val="tx2"/>
            </a:solidFill>
            <a:prstDash val="solid"/>
          </a:ln>
        </p:spPr>
      </p:sp>
      <p:sp>
        <p:nvSpPr>
          <p:cNvPr id="27" name="Text 24"/>
          <p:cNvSpPr txBox="1"/>
          <p:nvPr/>
        </p:nvSpPr>
        <p:spPr>
          <a:xfrm>
            <a:off x="16779240" y="2286000"/>
            <a:ext cx="1920240" cy="7772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Deployer</a:t>
            </a:r>
            <a:endParaRPr lang="en-US" sz="1600" dirty="0"/>
          </a:p>
        </p:txBody>
      </p:sp>
      <p:sp>
        <p:nvSpPr>
          <p:cNvPr id="28" name="Shape 25"/>
          <p:cNvSpPr/>
          <p:nvPr/>
        </p:nvSpPr>
        <p:spPr>
          <a:xfrm>
            <a:off x="17739360" y="3063240"/>
            <a:ext cx="0" cy="6949440"/>
          </a:xfrm>
          <a:prstGeom prst="line">
            <a:avLst/>
          </a:prstGeom>
          <a:noFill/>
          <a:ln w="12700">
            <a:solidFill>
              <a:srgbClr val="8C8C8C"/>
            </a:solidFill>
            <a:prstDash val="dash"/>
          </a:ln>
        </p:spPr>
      </p:sp>
      <p:sp>
        <p:nvSpPr>
          <p:cNvPr id="29" name="Shape 26"/>
          <p:cNvSpPr/>
          <p:nvPr/>
        </p:nvSpPr>
        <p:spPr>
          <a:xfrm>
            <a:off x="2377440" y="3429000"/>
            <a:ext cx="2194560" cy="0"/>
          </a:xfrm>
          <a:prstGeom prst="line">
            <a:avLst/>
          </a:prstGeom>
          <a:noFill/>
          <a:ln w="19050">
            <a:solidFill>
              <a:schemeClr val="tx1"/>
            </a:solidFill>
            <a:prstDash val="solid"/>
            <a:tailEnd type="triangle"/>
          </a:ln>
        </p:spPr>
      </p:sp>
      <p:sp>
        <p:nvSpPr>
          <p:cNvPr id="30" name="Text 27"/>
          <p:cNvSpPr txBox="1"/>
          <p:nvPr/>
        </p:nvSpPr>
        <p:spPr>
          <a:xfrm>
            <a:off x="2468880" y="3063240"/>
            <a:ext cx="320040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1: JSON error logs</a:t>
            </a:r>
            <a:endParaRPr lang="en-US" sz="1500" dirty="0"/>
          </a:p>
        </p:txBody>
      </p:sp>
      <p:sp>
        <p:nvSpPr>
          <p:cNvPr id="31" name="Shape 28"/>
          <p:cNvSpPr/>
          <p:nvPr/>
        </p:nvSpPr>
        <p:spPr>
          <a:xfrm>
            <a:off x="4572000" y="3977640"/>
            <a:ext cx="2194560" cy="0"/>
          </a:xfrm>
          <a:prstGeom prst="line">
            <a:avLst/>
          </a:prstGeom>
          <a:noFill/>
          <a:ln w="19050">
            <a:solidFill>
              <a:schemeClr val="tx1"/>
            </a:solidFill>
            <a:prstDash val="solid"/>
            <a:tailEnd type="triangle"/>
          </a:ln>
        </p:spPr>
      </p:sp>
      <p:sp>
        <p:nvSpPr>
          <p:cNvPr id="32" name="Text 29"/>
          <p:cNvSpPr txBox="1"/>
          <p:nvPr/>
        </p:nvSpPr>
        <p:spPr>
          <a:xfrm>
            <a:off x="4663440" y="3611880"/>
            <a:ext cx="320040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2: incident opened (error spike)</a:t>
            </a:r>
            <a:endParaRPr lang="en-US" sz="1500" dirty="0"/>
          </a:p>
        </p:txBody>
      </p:sp>
      <p:sp>
        <p:nvSpPr>
          <p:cNvPr id="33" name="Shape 30"/>
          <p:cNvSpPr/>
          <p:nvPr/>
        </p:nvSpPr>
        <p:spPr>
          <a:xfrm>
            <a:off x="6766560" y="4526280"/>
            <a:ext cx="2194560" cy="0"/>
          </a:xfrm>
          <a:prstGeom prst="line">
            <a:avLst/>
          </a:prstGeom>
          <a:noFill/>
          <a:ln w="19050">
            <a:solidFill>
              <a:schemeClr val="tx1"/>
            </a:solidFill>
            <a:prstDash val="solid"/>
            <a:tailEnd type="triangle"/>
          </a:ln>
        </p:spPr>
      </p:sp>
      <p:sp>
        <p:nvSpPr>
          <p:cNvPr id="34" name="Text 31"/>
          <p:cNvSpPr txBox="1"/>
          <p:nvPr/>
        </p:nvSpPr>
        <p:spPr>
          <a:xfrm>
            <a:off x="6858000" y="4160520"/>
            <a:ext cx="320040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3: correlate(incident)</a:t>
            </a:r>
            <a:endParaRPr lang="en-US" sz="1500" dirty="0"/>
          </a:p>
        </p:txBody>
      </p:sp>
      <p:sp>
        <p:nvSpPr>
          <p:cNvPr id="35" name="Shape 32"/>
          <p:cNvSpPr/>
          <p:nvPr/>
        </p:nvSpPr>
        <p:spPr>
          <a:xfrm flipH="1">
            <a:off x="6766560" y="5074920"/>
            <a:ext cx="2194560" cy="0"/>
          </a:xfrm>
          <a:prstGeom prst="line">
            <a:avLst/>
          </a:prstGeom>
          <a:noFill/>
          <a:ln w="19050">
            <a:solidFill>
              <a:schemeClr val="accent3"/>
            </a:solidFill>
            <a:prstDash val="dash"/>
            <a:tailEnd type="triangle"/>
          </a:ln>
        </p:spPr>
      </p:sp>
      <p:sp>
        <p:nvSpPr>
          <p:cNvPr id="36" name="Text 33"/>
          <p:cNvSpPr txBox="1"/>
          <p:nvPr/>
        </p:nvSpPr>
        <p:spPr>
          <a:xfrm>
            <a:off x="6858000" y="4709160"/>
            <a:ext cx="320040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4: ranked suspect commits</a:t>
            </a:r>
            <a:endParaRPr lang="en-US" sz="1500" dirty="0"/>
          </a:p>
        </p:txBody>
      </p:sp>
      <p:sp>
        <p:nvSpPr>
          <p:cNvPr id="37" name="Shape 34"/>
          <p:cNvSpPr/>
          <p:nvPr/>
        </p:nvSpPr>
        <p:spPr>
          <a:xfrm>
            <a:off x="6766560" y="5623560"/>
            <a:ext cx="4389120" cy="0"/>
          </a:xfrm>
          <a:prstGeom prst="line">
            <a:avLst/>
          </a:prstGeom>
          <a:noFill/>
          <a:ln w="19050">
            <a:solidFill>
              <a:schemeClr val="tx1"/>
            </a:solidFill>
            <a:prstDash val="solid"/>
            <a:tailEnd type="triangle"/>
          </a:ln>
        </p:spPr>
      </p:sp>
      <p:sp>
        <p:nvSpPr>
          <p:cNvPr id="38" name="Text 35"/>
          <p:cNvSpPr txBox="1"/>
          <p:nvPr/>
        </p:nvSpPr>
        <p:spPr>
          <a:xfrm>
            <a:off x="6858000" y="5257800"/>
            <a:ext cx="420624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5: analyse(evidence pack)</a:t>
            </a:r>
            <a:endParaRPr lang="en-US" sz="1500" dirty="0"/>
          </a:p>
        </p:txBody>
      </p:sp>
      <p:sp>
        <p:nvSpPr>
          <p:cNvPr id="39" name="Shape 36"/>
          <p:cNvSpPr/>
          <p:nvPr/>
        </p:nvSpPr>
        <p:spPr>
          <a:xfrm flipH="1">
            <a:off x="6766560" y="6172200"/>
            <a:ext cx="4389120" cy="0"/>
          </a:xfrm>
          <a:prstGeom prst="line">
            <a:avLst/>
          </a:prstGeom>
          <a:noFill/>
          <a:ln w="19050">
            <a:solidFill>
              <a:schemeClr val="accent3"/>
            </a:solidFill>
            <a:prstDash val="dash"/>
            <a:tailEnd type="triangle"/>
          </a:ln>
        </p:spPr>
      </p:sp>
      <p:sp>
        <p:nvSpPr>
          <p:cNvPr id="40" name="Text 37"/>
          <p:cNvSpPr txBox="1"/>
          <p:nvPr/>
        </p:nvSpPr>
        <p:spPr>
          <a:xfrm>
            <a:off x="6858000" y="5806440"/>
            <a:ext cx="420624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6: root cause + patch edits</a:t>
            </a:r>
            <a:endParaRPr lang="en-US" sz="1500" dirty="0"/>
          </a:p>
        </p:txBody>
      </p:sp>
      <p:sp>
        <p:nvSpPr>
          <p:cNvPr id="41" name="Shape 38"/>
          <p:cNvSpPr/>
          <p:nvPr/>
        </p:nvSpPr>
        <p:spPr>
          <a:xfrm>
            <a:off x="6766560" y="6720840"/>
            <a:ext cx="6583680" cy="0"/>
          </a:xfrm>
          <a:prstGeom prst="line">
            <a:avLst/>
          </a:prstGeom>
          <a:noFill/>
          <a:ln w="19050">
            <a:solidFill>
              <a:schemeClr val="tx1"/>
            </a:solidFill>
            <a:prstDash val="solid"/>
            <a:tailEnd type="triangle"/>
          </a:ln>
        </p:spPr>
      </p:sp>
      <p:sp>
        <p:nvSpPr>
          <p:cNvPr id="42" name="Text 39"/>
          <p:cNvSpPr txBox="1"/>
          <p:nvPr/>
        </p:nvSpPr>
        <p:spPr>
          <a:xfrm>
            <a:off x="6858000" y="6355080"/>
            <a:ext cx="640080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7: validate(patch branch)</a:t>
            </a:r>
            <a:endParaRPr lang="en-US" sz="1500" dirty="0"/>
          </a:p>
        </p:txBody>
      </p:sp>
      <p:sp>
        <p:nvSpPr>
          <p:cNvPr id="43" name="Shape 40"/>
          <p:cNvSpPr/>
          <p:nvPr/>
        </p:nvSpPr>
        <p:spPr>
          <a:xfrm flipH="1">
            <a:off x="6766560" y="7269480"/>
            <a:ext cx="6583680" cy="0"/>
          </a:xfrm>
          <a:prstGeom prst="line">
            <a:avLst/>
          </a:prstGeom>
          <a:noFill/>
          <a:ln w="19050">
            <a:solidFill>
              <a:schemeClr val="accent3"/>
            </a:solidFill>
            <a:prstDash val="dash"/>
            <a:tailEnd type="triangle"/>
          </a:ln>
        </p:spPr>
      </p:sp>
      <p:sp>
        <p:nvSpPr>
          <p:cNvPr id="44" name="Text 41"/>
          <p:cNvSpPr txBox="1"/>
          <p:nvPr/>
        </p:nvSpPr>
        <p:spPr>
          <a:xfrm>
            <a:off x="6858000" y="6903720"/>
            <a:ext cx="640080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8: tests, staging, replay passed</a:t>
            </a:r>
            <a:endParaRPr lang="en-US" sz="1500" dirty="0"/>
          </a:p>
        </p:txBody>
      </p:sp>
      <p:sp>
        <p:nvSpPr>
          <p:cNvPr id="45" name="Shape 42"/>
          <p:cNvSpPr/>
          <p:nvPr/>
        </p:nvSpPr>
        <p:spPr>
          <a:xfrm>
            <a:off x="6766560" y="7818120"/>
            <a:ext cx="8778240" cy="0"/>
          </a:xfrm>
          <a:prstGeom prst="line">
            <a:avLst/>
          </a:prstGeom>
          <a:noFill/>
          <a:ln w="19050">
            <a:solidFill>
              <a:schemeClr val="tx1"/>
            </a:solidFill>
            <a:prstDash val="solid"/>
            <a:tailEnd type="triangle"/>
          </a:ln>
        </p:spPr>
      </p:sp>
      <p:sp>
        <p:nvSpPr>
          <p:cNvPr id="46" name="Text 43"/>
          <p:cNvSpPr txBox="1"/>
          <p:nvPr/>
        </p:nvSpPr>
        <p:spPr>
          <a:xfrm>
            <a:off x="6858000" y="7452360"/>
            <a:ext cx="859536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9: request approval</a:t>
            </a:r>
            <a:endParaRPr lang="en-US" sz="1500" dirty="0"/>
          </a:p>
        </p:txBody>
      </p:sp>
      <p:sp>
        <p:nvSpPr>
          <p:cNvPr id="47" name="Shape 44"/>
          <p:cNvSpPr/>
          <p:nvPr/>
        </p:nvSpPr>
        <p:spPr>
          <a:xfrm>
            <a:off x="15544800" y="8366760"/>
            <a:ext cx="2194560" cy="0"/>
          </a:xfrm>
          <a:prstGeom prst="line">
            <a:avLst/>
          </a:prstGeom>
          <a:noFill/>
          <a:ln w="19050">
            <a:solidFill>
              <a:schemeClr val="tx1"/>
            </a:solidFill>
            <a:prstDash val="solid"/>
            <a:tailEnd type="triangle"/>
          </a:ln>
        </p:spPr>
      </p:sp>
      <p:sp>
        <p:nvSpPr>
          <p:cNvPr id="48" name="Text 45"/>
          <p:cNvSpPr txBox="1"/>
          <p:nvPr/>
        </p:nvSpPr>
        <p:spPr>
          <a:xfrm>
            <a:off x="15636240" y="8001000"/>
            <a:ext cx="320040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10: approve &amp; deploy(commit SHA)</a:t>
            </a:r>
            <a:endParaRPr lang="en-US" sz="1500" dirty="0"/>
          </a:p>
        </p:txBody>
      </p:sp>
      <p:sp>
        <p:nvSpPr>
          <p:cNvPr id="49" name="Shape 46"/>
          <p:cNvSpPr/>
          <p:nvPr/>
        </p:nvSpPr>
        <p:spPr>
          <a:xfrm flipH="1">
            <a:off x="2377440" y="8915400"/>
            <a:ext cx="15361920" cy="0"/>
          </a:xfrm>
          <a:prstGeom prst="line">
            <a:avLst/>
          </a:prstGeom>
          <a:noFill/>
          <a:ln w="19050">
            <a:solidFill>
              <a:schemeClr val="tx1"/>
            </a:solidFill>
            <a:prstDash val="solid"/>
            <a:tailEnd type="triangle"/>
          </a:ln>
        </p:spPr>
      </p:sp>
      <p:sp>
        <p:nvSpPr>
          <p:cNvPr id="50" name="Text 47"/>
          <p:cNvSpPr txBox="1"/>
          <p:nvPr/>
        </p:nvSpPr>
        <p:spPr>
          <a:xfrm>
            <a:off x="2468880" y="8549640"/>
            <a:ext cx="1517904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11: fast-forward merge, reload</a:t>
            </a:r>
            <a:endParaRPr lang="en-US" sz="1500" dirty="0"/>
          </a:p>
        </p:txBody>
      </p:sp>
      <p:sp>
        <p:nvSpPr>
          <p:cNvPr id="51" name="Shape 48"/>
          <p:cNvSpPr/>
          <p:nvPr/>
        </p:nvSpPr>
        <p:spPr>
          <a:xfrm flipH="1">
            <a:off x="6766560" y="9464040"/>
            <a:ext cx="10972800" cy="0"/>
          </a:xfrm>
          <a:prstGeom prst="line">
            <a:avLst/>
          </a:prstGeom>
          <a:noFill/>
          <a:ln w="19050">
            <a:solidFill>
              <a:schemeClr val="tx1"/>
            </a:solidFill>
            <a:prstDash val="solid"/>
            <a:tailEnd type="triangle"/>
          </a:ln>
        </p:spPr>
      </p:sp>
      <p:sp>
        <p:nvSpPr>
          <p:cNvPr id="52" name="Text 49"/>
          <p:cNvSpPr txBox="1"/>
          <p:nvPr/>
        </p:nvSpPr>
        <p:spPr>
          <a:xfrm>
            <a:off x="6858000" y="9098280"/>
            <a:ext cx="10789920" cy="347472"/>
          </a:xfrm>
          <a:prstGeom prst="rect">
            <a:avLst/>
          </a:prstGeom>
          <a:noFill/>
          <a:ln/>
        </p:spPr>
        <p:txBody>
          <a:bodyPr wrap="square" lIns="0" tIns="0" rIns="0" bIns="0" rtlCol="0" anchor="b"/>
          <a:lstStyle/>
          <a:p>
            <a:pPr algn="ctr" indent="0" marL="0">
              <a:buNone/>
            </a:pPr>
            <a:r>
              <a:rPr lang="en-US" sz="1500" dirty="0">
                <a:solidFill>
                  <a:schemeClr val="tx1"/>
                </a:solidFill>
                <a:latin typeface="Calibri" pitchFamily="34" charset="0"/>
                <a:ea typeface="Calibri" pitchFamily="34" charset="-122"/>
                <a:cs typeface="Calibri" pitchFamily="34" charset="-120"/>
              </a:rPr>
              <a:t>12: verified → incident resolved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Project Design: Activity Diagram</a:t>
            </a:r>
            <a:endParaRPr lang="en-US" sz="6600" dirty="0"/>
          </a:p>
        </p:txBody>
      </p:sp>
      <p:sp>
        <p:nvSpPr>
          <p:cNvPr id="4" name="activity-card"/>
          <p:cNvSpPr/>
          <p:nvPr/>
        </p:nvSpPr>
        <p:spPr>
          <a:xfrm>
            <a:off x="1097280" y="2103120"/>
            <a:ext cx="17922240" cy="8138160"/>
          </a:xfrm>
          <a:prstGeom prst="roundRect">
            <a:avLst>
              <a:gd name="adj" fmla="val 3371"/>
            </a:avLst>
          </a:prstGeom>
          <a:solidFill>
            <a:schemeClr val="bg1"/>
          </a:solidFill>
          <a:ln/>
        </p:spPr>
      </p:sp>
      <p:sp>
        <p:nvSpPr>
          <p:cNvPr id="5" name="Shape 2"/>
          <p:cNvSpPr/>
          <p:nvPr/>
        </p:nvSpPr>
        <p:spPr>
          <a:xfrm>
            <a:off x="1554480" y="3291840"/>
            <a:ext cx="548640" cy="548640"/>
          </a:xfrm>
          <a:prstGeom prst="ellipse">
            <a:avLst/>
          </a:prstGeom>
          <a:solidFill>
            <a:schemeClr val="tx2"/>
          </a:solidFill>
          <a:ln/>
        </p:spPr>
      </p:sp>
      <p:sp>
        <p:nvSpPr>
          <p:cNvPr id="6" name="Shape 3"/>
          <p:cNvSpPr/>
          <p:nvPr/>
        </p:nvSpPr>
        <p:spPr>
          <a:xfrm>
            <a:off x="2103120" y="3566160"/>
            <a:ext cx="411480" cy="0"/>
          </a:xfrm>
          <a:prstGeom prst="line">
            <a:avLst/>
          </a:prstGeom>
          <a:noFill/>
          <a:ln w="25400">
            <a:solidFill>
              <a:schemeClr val="tx1"/>
            </a:solidFill>
            <a:prstDash val="solid"/>
            <a:tailEnd type="triangle"/>
          </a:ln>
        </p:spPr>
      </p:sp>
      <p:sp>
        <p:nvSpPr>
          <p:cNvPr id="7" name="Shape 4"/>
          <p:cNvSpPr/>
          <p:nvPr/>
        </p:nvSpPr>
        <p:spPr>
          <a:xfrm>
            <a:off x="2514600" y="3108960"/>
            <a:ext cx="2651760" cy="914400"/>
          </a:xfrm>
          <a:prstGeom prst="roundRect">
            <a:avLst>
              <a:gd name="adj" fmla="val 35000"/>
            </a:avLst>
          </a:prstGeom>
          <a:solidFill>
            <a:schemeClr val="accent5"/>
          </a:solidFill>
          <a:ln w="15875">
            <a:solidFill>
              <a:schemeClr val="tx2"/>
            </a:solidFill>
            <a:prstDash val="solid"/>
          </a:ln>
        </p:spPr>
      </p:sp>
      <p:sp>
        <p:nvSpPr>
          <p:cNvPr id="8" name="Text 5"/>
          <p:cNvSpPr txBox="1"/>
          <p:nvPr/>
        </p:nvSpPr>
        <p:spPr>
          <a:xfrm>
            <a:off x="2606040" y="3108960"/>
            <a:ext cx="246888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Collect &amp; normalize logs</a:t>
            </a:r>
            <a:endParaRPr lang="en-US" sz="1800" dirty="0"/>
          </a:p>
        </p:txBody>
      </p:sp>
      <p:sp>
        <p:nvSpPr>
          <p:cNvPr id="9" name="Shape 6"/>
          <p:cNvSpPr/>
          <p:nvPr/>
        </p:nvSpPr>
        <p:spPr>
          <a:xfrm>
            <a:off x="5166360" y="3566160"/>
            <a:ext cx="640080" cy="0"/>
          </a:xfrm>
          <a:prstGeom prst="line">
            <a:avLst/>
          </a:prstGeom>
          <a:noFill/>
          <a:ln w="25400">
            <a:solidFill>
              <a:schemeClr val="tx1"/>
            </a:solidFill>
            <a:prstDash val="solid"/>
            <a:tailEnd type="triangle"/>
          </a:ln>
        </p:spPr>
      </p:sp>
      <p:sp>
        <p:nvSpPr>
          <p:cNvPr id="10" name="Shape 7"/>
          <p:cNvSpPr/>
          <p:nvPr/>
        </p:nvSpPr>
        <p:spPr>
          <a:xfrm>
            <a:off x="5806440" y="2926080"/>
            <a:ext cx="1828800" cy="1280160"/>
          </a:xfrm>
          <a:prstGeom prst="diamond">
            <a:avLst/>
          </a:prstGeom>
          <a:solidFill>
            <a:srgbClr val="F3EAD7"/>
          </a:solidFill>
          <a:ln w="19050">
            <a:solidFill>
              <a:schemeClr val="accent2"/>
            </a:solidFill>
            <a:prstDash val="solid"/>
          </a:ln>
        </p:spPr>
      </p:sp>
      <p:sp>
        <p:nvSpPr>
          <p:cNvPr id="11" name="Text 8"/>
          <p:cNvSpPr txBox="1"/>
          <p:nvPr/>
        </p:nvSpPr>
        <p:spPr>
          <a:xfrm>
            <a:off x="5897880" y="3108960"/>
            <a:ext cx="164592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Error spike?</a:t>
            </a:r>
            <a:endParaRPr lang="en-US" sz="1500" dirty="0"/>
          </a:p>
        </p:txBody>
      </p:sp>
      <p:sp>
        <p:nvSpPr>
          <p:cNvPr id="12" name="Text 9"/>
          <p:cNvSpPr txBox="1"/>
          <p:nvPr/>
        </p:nvSpPr>
        <p:spPr>
          <a:xfrm>
            <a:off x="6172200" y="2423160"/>
            <a:ext cx="1097280" cy="320040"/>
          </a:xfrm>
          <a:prstGeom prst="rect">
            <a:avLst/>
          </a:prstGeom>
          <a:noFill/>
          <a:ln/>
        </p:spPr>
        <p:txBody>
          <a:bodyPr wrap="square" lIns="0" tIns="0" rIns="0" bIns="0" rtlCol="0" anchor="ctr"/>
          <a:lstStyle/>
          <a:p>
            <a:pPr algn="ctr" indent="0" marL="0">
              <a:buNone/>
            </a:pPr>
            <a:r>
              <a:rPr lang="en-US" sz="1500" i="1" dirty="0">
                <a:solidFill>
                  <a:schemeClr val="accent3"/>
                </a:solidFill>
                <a:latin typeface="Calibri" pitchFamily="34" charset="0"/>
                <a:ea typeface="Calibri" pitchFamily="34" charset="-122"/>
                <a:cs typeface="Calibri" pitchFamily="34" charset="-120"/>
              </a:rPr>
              <a:t>no</a:t>
            </a:r>
            <a:endParaRPr lang="en-US" sz="1500" dirty="0"/>
          </a:p>
        </p:txBody>
      </p:sp>
      <p:sp>
        <p:nvSpPr>
          <p:cNvPr id="13" name="Shape 10"/>
          <p:cNvSpPr/>
          <p:nvPr/>
        </p:nvSpPr>
        <p:spPr>
          <a:xfrm flipV="1">
            <a:off x="6720840" y="2651760"/>
            <a:ext cx="0" cy="274320"/>
          </a:xfrm>
          <a:prstGeom prst="line">
            <a:avLst/>
          </a:prstGeom>
          <a:noFill/>
          <a:ln w="25400">
            <a:solidFill>
              <a:schemeClr val="tx1"/>
            </a:solidFill>
            <a:prstDash val="solid"/>
          </a:ln>
        </p:spPr>
      </p:sp>
      <p:sp>
        <p:nvSpPr>
          <p:cNvPr id="14" name="Shape 11"/>
          <p:cNvSpPr/>
          <p:nvPr/>
        </p:nvSpPr>
        <p:spPr>
          <a:xfrm flipH="1">
            <a:off x="3840480" y="2651760"/>
            <a:ext cx="2880360" cy="0"/>
          </a:xfrm>
          <a:prstGeom prst="line">
            <a:avLst/>
          </a:prstGeom>
          <a:noFill/>
          <a:ln w="25400">
            <a:solidFill>
              <a:schemeClr val="tx1"/>
            </a:solidFill>
            <a:prstDash val="solid"/>
          </a:ln>
        </p:spPr>
      </p:sp>
      <p:sp>
        <p:nvSpPr>
          <p:cNvPr id="15" name="Shape 12"/>
          <p:cNvSpPr/>
          <p:nvPr/>
        </p:nvSpPr>
        <p:spPr>
          <a:xfrm>
            <a:off x="3840480" y="2651760"/>
            <a:ext cx="0" cy="438912"/>
          </a:xfrm>
          <a:prstGeom prst="line">
            <a:avLst/>
          </a:prstGeom>
          <a:noFill/>
          <a:ln w="25400">
            <a:solidFill>
              <a:schemeClr val="tx1"/>
            </a:solidFill>
            <a:prstDash val="solid"/>
            <a:tailEnd type="triangle"/>
          </a:ln>
        </p:spPr>
      </p:sp>
      <p:sp>
        <p:nvSpPr>
          <p:cNvPr id="16" name="Shape 13"/>
          <p:cNvSpPr/>
          <p:nvPr/>
        </p:nvSpPr>
        <p:spPr>
          <a:xfrm>
            <a:off x="7635240" y="3566160"/>
            <a:ext cx="640080" cy="0"/>
          </a:xfrm>
          <a:prstGeom prst="line">
            <a:avLst/>
          </a:prstGeom>
          <a:noFill/>
          <a:ln w="25400">
            <a:solidFill>
              <a:schemeClr val="tx1"/>
            </a:solidFill>
            <a:prstDash val="solid"/>
            <a:tailEnd type="triangle"/>
          </a:ln>
        </p:spPr>
      </p:sp>
      <p:sp>
        <p:nvSpPr>
          <p:cNvPr id="17" name="Text 14"/>
          <p:cNvSpPr txBox="1"/>
          <p:nvPr/>
        </p:nvSpPr>
        <p:spPr>
          <a:xfrm>
            <a:off x="7406640" y="3154680"/>
            <a:ext cx="1097280" cy="320040"/>
          </a:xfrm>
          <a:prstGeom prst="rect">
            <a:avLst/>
          </a:prstGeom>
          <a:noFill/>
          <a:ln/>
        </p:spPr>
        <p:txBody>
          <a:bodyPr wrap="square" lIns="0" tIns="0" rIns="0" bIns="0" rtlCol="0" anchor="ctr"/>
          <a:lstStyle/>
          <a:p>
            <a:pPr algn="ctr" indent="0" marL="0">
              <a:buNone/>
            </a:pPr>
            <a:r>
              <a:rPr lang="en-US" sz="1500" i="1" dirty="0">
                <a:solidFill>
                  <a:schemeClr val="accent3"/>
                </a:solidFill>
                <a:latin typeface="Calibri" pitchFamily="34" charset="0"/>
                <a:ea typeface="Calibri" pitchFamily="34" charset="-122"/>
                <a:cs typeface="Calibri" pitchFamily="34" charset="-120"/>
              </a:rPr>
              <a:t>yes</a:t>
            </a:r>
            <a:endParaRPr lang="en-US" sz="1500" dirty="0"/>
          </a:p>
        </p:txBody>
      </p:sp>
      <p:sp>
        <p:nvSpPr>
          <p:cNvPr id="18" name="Shape 15"/>
          <p:cNvSpPr/>
          <p:nvPr/>
        </p:nvSpPr>
        <p:spPr>
          <a:xfrm>
            <a:off x="8275320" y="3108960"/>
            <a:ext cx="2651760" cy="914400"/>
          </a:xfrm>
          <a:prstGeom prst="roundRect">
            <a:avLst>
              <a:gd name="adj" fmla="val 35000"/>
            </a:avLst>
          </a:prstGeom>
          <a:solidFill>
            <a:schemeClr val="accent5"/>
          </a:solidFill>
          <a:ln w="15875">
            <a:solidFill>
              <a:schemeClr val="tx2"/>
            </a:solidFill>
            <a:prstDash val="solid"/>
          </a:ln>
        </p:spPr>
      </p:sp>
      <p:sp>
        <p:nvSpPr>
          <p:cNvPr id="19" name="Text 16"/>
          <p:cNvSpPr txBox="1"/>
          <p:nvPr/>
        </p:nvSpPr>
        <p:spPr>
          <a:xfrm>
            <a:off x="8366760" y="3108960"/>
            <a:ext cx="246888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Correlate with Git commits</a:t>
            </a:r>
            <a:endParaRPr lang="en-US" sz="1800" dirty="0"/>
          </a:p>
        </p:txBody>
      </p:sp>
      <p:sp>
        <p:nvSpPr>
          <p:cNvPr id="20" name="Shape 17"/>
          <p:cNvSpPr/>
          <p:nvPr/>
        </p:nvSpPr>
        <p:spPr>
          <a:xfrm>
            <a:off x="10927080" y="3566160"/>
            <a:ext cx="640080" cy="0"/>
          </a:xfrm>
          <a:prstGeom prst="line">
            <a:avLst/>
          </a:prstGeom>
          <a:noFill/>
          <a:ln w="25400">
            <a:solidFill>
              <a:schemeClr val="tx1"/>
            </a:solidFill>
            <a:prstDash val="solid"/>
            <a:tailEnd type="triangle"/>
          </a:ln>
        </p:spPr>
      </p:sp>
      <p:sp>
        <p:nvSpPr>
          <p:cNvPr id="21" name="Shape 18"/>
          <p:cNvSpPr/>
          <p:nvPr/>
        </p:nvSpPr>
        <p:spPr>
          <a:xfrm>
            <a:off x="11567160" y="3108960"/>
            <a:ext cx="2651760" cy="914400"/>
          </a:xfrm>
          <a:prstGeom prst="roundRect">
            <a:avLst>
              <a:gd name="adj" fmla="val 35000"/>
            </a:avLst>
          </a:prstGeom>
          <a:solidFill>
            <a:schemeClr val="accent5"/>
          </a:solidFill>
          <a:ln w="15875">
            <a:solidFill>
              <a:schemeClr val="tx2"/>
            </a:solidFill>
            <a:prstDash val="solid"/>
          </a:ln>
        </p:spPr>
      </p:sp>
      <p:sp>
        <p:nvSpPr>
          <p:cNvPr id="22" name="Text 19"/>
          <p:cNvSpPr txBox="1"/>
          <p:nvPr/>
        </p:nvSpPr>
        <p:spPr>
          <a:xfrm>
            <a:off x="11658600" y="3108960"/>
            <a:ext cx="246888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LLM root-cause analysis</a:t>
            </a:r>
            <a:endParaRPr lang="en-US" sz="1800" dirty="0"/>
          </a:p>
        </p:txBody>
      </p:sp>
      <p:sp>
        <p:nvSpPr>
          <p:cNvPr id="23" name="Shape 20"/>
          <p:cNvSpPr/>
          <p:nvPr/>
        </p:nvSpPr>
        <p:spPr>
          <a:xfrm>
            <a:off x="14218920" y="3566160"/>
            <a:ext cx="640080" cy="0"/>
          </a:xfrm>
          <a:prstGeom prst="line">
            <a:avLst/>
          </a:prstGeom>
          <a:noFill/>
          <a:ln w="25400">
            <a:solidFill>
              <a:schemeClr val="tx1"/>
            </a:solidFill>
            <a:prstDash val="solid"/>
            <a:tailEnd type="triangle"/>
          </a:ln>
        </p:spPr>
      </p:sp>
      <p:sp>
        <p:nvSpPr>
          <p:cNvPr id="24" name="Shape 21"/>
          <p:cNvSpPr/>
          <p:nvPr/>
        </p:nvSpPr>
        <p:spPr>
          <a:xfrm>
            <a:off x="14859000" y="3108960"/>
            <a:ext cx="2651760" cy="914400"/>
          </a:xfrm>
          <a:prstGeom prst="roundRect">
            <a:avLst>
              <a:gd name="adj" fmla="val 35000"/>
            </a:avLst>
          </a:prstGeom>
          <a:solidFill>
            <a:schemeClr val="accent5"/>
          </a:solidFill>
          <a:ln w="15875">
            <a:solidFill>
              <a:schemeClr val="tx2"/>
            </a:solidFill>
            <a:prstDash val="solid"/>
          </a:ln>
        </p:spPr>
      </p:sp>
      <p:sp>
        <p:nvSpPr>
          <p:cNvPr id="25" name="Text 22"/>
          <p:cNvSpPr txBox="1"/>
          <p:nvPr/>
        </p:nvSpPr>
        <p:spPr>
          <a:xfrm>
            <a:off x="14950440" y="3108960"/>
            <a:ext cx="246888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Generate patch + test</a:t>
            </a:r>
            <a:endParaRPr lang="en-US" sz="1800" dirty="0"/>
          </a:p>
        </p:txBody>
      </p:sp>
      <p:sp>
        <p:nvSpPr>
          <p:cNvPr id="26" name="Shape 23"/>
          <p:cNvSpPr/>
          <p:nvPr/>
        </p:nvSpPr>
        <p:spPr>
          <a:xfrm>
            <a:off x="16184880" y="4023360"/>
            <a:ext cx="0" cy="1901952"/>
          </a:xfrm>
          <a:prstGeom prst="line">
            <a:avLst/>
          </a:prstGeom>
          <a:noFill/>
          <a:ln w="25400">
            <a:solidFill>
              <a:schemeClr val="tx1"/>
            </a:solidFill>
            <a:prstDash val="solid"/>
            <a:tailEnd type="triangle"/>
          </a:ln>
        </p:spPr>
      </p:sp>
      <p:sp>
        <p:nvSpPr>
          <p:cNvPr id="27" name="Shape 24"/>
          <p:cNvSpPr/>
          <p:nvPr/>
        </p:nvSpPr>
        <p:spPr>
          <a:xfrm>
            <a:off x="14721840" y="5943600"/>
            <a:ext cx="2926080" cy="914400"/>
          </a:xfrm>
          <a:prstGeom prst="roundRect">
            <a:avLst>
              <a:gd name="adj" fmla="val 35000"/>
            </a:avLst>
          </a:prstGeom>
          <a:solidFill>
            <a:schemeClr val="accent5"/>
          </a:solidFill>
          <a:ln w="15875">
            <a:solidFill>
              <a:schemeClr val="tx2"/>
            </a:solidFill>
            <a:prstDash val="solid"/>
          </a:ln>
        </p:spPr>
      </p:sp>
      <p:sp>
        <p:nvSpPr>
          <p:cNvPr id="28" name="Text 25"/>
          <p:cNvSpPr txBox="1"/>
          <p:nvPr/>
        </p:nvSpPr>
        <p:spPr>
          <a:xfrm>
            <a:off x="14813280" y="5943600"/>
            <a:ext cx="274320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Validate: tests, staging, replay</a:t>
            </a:r>
            <a:endParaRPr lang="en-US" sz="1800" dirty="0"/>
          </a:p>
        </p:txBody>
      </p:sp>
      <p:sp>
        <p:nvSpPr>
          <p:cNvPr id="29" name="Shape 26"/>
          <p:cNvSpPr/>
          <p:nvPr/>
        </p:nvSpPr>
        <p:spPr>
          <a:xfrm flipH="1">
            <a:off x="13807440" y="6400800"/>
            <a:ext cx="914400" cy="0"/>
          </a:xfrm>
          <a:prstGeom prst="line">
            <a:avLst/>
          </a:prstGeom>
          <a:noFill/>
          <a:ln w="25400">
            <a:solidFill>
              <a:schemeClr val="tx1"/>
            </a:solidFill>
            <a:prstDash val="solid"/>
            <a:tailEnd type="triangle"/>
          </a:ln>
        </p:spPr>
      </p:sp>
      <p:sp>
        <p:nvSpPr>
          <p:cNvPr id="30" name="Shape 27"/>
          <p:cNvSpPr/>
          <p:nvPr/>
        </p:nvSpPr>
        <p:spPr>
          <a:xfrm>
            <a:off x="11978640" y="5760720"/>
            <a:ext cx="1828800" cy="1280160"/>
          </a:xfrm>
          <a:prstGeom prst="diamond">
            <a:avLst/>
          </a:prstGeom>
          <a:solidFill>
            <a:srgbClr val="F3EAD7"/>
          </a:solidFill>
          <a:ln w="19050">
            <a:solidFill>
              <a:schemeClr val="accent2"/>
            </a:solidFill>
            <a:prstDash val="solid"/>
          </a:ln>
        </p:spPr>
      </p:sp>
      <p:sp>
        <p:nvSpPr>
          <p:cNvPr id="31" name="Text 28"/>
          <p:cNvSpPr txBox="1"/>
          <p:nvPr/>
        </p:nvSpPr>
        <p:spPr>
          <a:xfrm>
            <a:off x="12070080" y="5943600"/>
            <a:ext cx="164592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Passed?</a:t>
            </a:r>
            <a:endParaRPr lang="en-US" sz="1500" dirty="0"/>
          </a:p>
        </p:txBody>
      </p:sp>
      <p:sp>
        <p:nvSpPr>
          <p:cNvPr id="32" name="Text 29"/>
          <p:cNvSpPr txBox="1"/>
          <p:nvPr/>
        </p:nvSpPr>
        <p:spPr>
          <a:xfrm>
            <a:off x="13807440" y="4251960"/>
            <a:ext cx="2194560" cy="320040"/>
          </a:xfrm>
          <a:prstGeom prst="rect">
            <a:avLst/>
          </a:prstGeom>
          <a:noFill/>
          <a:ln/>
        </p:spPr>
        <p:txBody>
          <a:bodyPr wrap="square" lIns="0" tIns="0" rIns="0" bIns="0" rtlCol="0" anchor="ctr"/>
          <a:lstStyle/>
          <a:p>
            <a:pPr algn="ctr" indent="0" marL="0">
              <a:buNone/>
            </a:pPr>
            <a:r>
              <a:rPr lang="en-US" sz="1500" i="1" dirty="0">
                <a:solidFill>
                  <a:schemeClr val="accent3"/>
                </a:solidFill>
                <a:latin typeface="Calibri" pitchFamily="34" charset="0"/>
                <a:ea typeface="Calibri" pitchFamily="34" charset="-122"/>
                <a:cs typeface="Calibri" pitchFamily="34" charset="-120"/>
              </a:rPr>
              <a:t>no (retry / revert)</a:t>
            </a:r>
            <a:endParaRPr lang="en-US" sz="1500" dirty="0"/>
          </a:p>
        </p:txBody>
      </p:sp>
      <p:sp>
        <p:nvSpPr>
          <p:cNvPr id="33" name="Shape 30"/>
          <p:cNvSpPr/>
          <p:nvPr/>
        </p:nvSpPr>
        <p:spPr>
          <a:xfrm flipV="1">
            <a:off x="12893040" y="4526280"/>
            <a:ext cx="0" cy="1234440"/>
          </a:xfrm>
          <a:prstGeom prst="line">
            <a:avLst/>
          </a:prstGeom>
          <a:noFill/>
          <a:ln w="25400">
            <a:solidFill>
              <a:schemeClr val="tx1"/>
            </a:solidFill>
            <a:prstDash val="solid"/>
          </a:ln>
        </p:spPr>
      </p:sp>
      <p:sp>
        <p:nvSpPr>
          <p:cNvPr id="34" name="Shape 31"/>
          <p:cNvSpPr/>
          <p:nvPr/>
        </p:nvSpPr>
        <p:spPr>
          <a:xfrm>
            <a:off x="12893040" y="4526280"/>
            <a:ext cx="2560320" cy="0"/>
          </a:xfrm>
          <a:prstGeom prst="line">
            <a:avLst/>
          </a:prstGeom>
          <a:noFill/>
          <a:ln w="25400">
            <a:solidFill>
              <a:schemeClr val="tx1"/>
            </a:solidFill>
            <a:prstDash val="solid"/>
          </a:ln>
        </p:spPr>
      </p:sp>
      <p:sp>
        <p:nvSpPr>
          <p:cNvPr id="35" name="Shape 32"/>
          <p:cNvSpPr/>
          <p:nvPr/>
        </p:nvSpPr>
        <p:spPr>
          <a:xfrm flipV="1">
            <a:off x="15453360" y="4041648"/>
            <a:ext cx="0" cy="484632"/>
          </a:xfrm>
          <a:prstGeom prst="line">
            <a:avLst/>
          </a:prstGeom>
          <a:noFill/>
          <a:ln w="25400">
            <a:solidFill>
              <a:schemeClr val="tx1"/>
            </a:solidFill>
            <a:prstDash val="solid"/>
            <a:tailEnd type="triangle"/>
          </a:ln>
        </p:spPr>
      </p:sp>
      <p:sp>
        <p:nvSpPr>
          <p:cNvPr id="36" name="Shape 33"/>
          <p:cNvSpPr/>
          <p:nvPr/>
        </p:nvSpPr>
        <p:spPr>
          <a:xfrm flipH="1">
            <a:off x="10972800" y="6400800"/>
            <a:ext cx="1005840" cy="0"/>
          </a:xfrm>
          <a:prstGeom prst="line">
            <a:avLst/>
          </a:prstGeom>
          <a:noFill/>
          <a:ln w="25400">
            <a:solidFill>
              <a:schemeClr val="tx1"/>
            </a:solidFill>
            <a:prstDash val="solid"/>
            <a:tailEnd type="triangle"/>
          </a:ln>
        </p:spPr>
      </p:sp>
      <p:sp>
        <p:nvSpPr>
          <p:cNvPr id="37" name="Text 34"/>
          <p:cNvSpPr txBox="1"/>
          <p:nvPr/>
        </p:nvSpPr>
        <p:spPr>
          <a:xfrm>
            <a:off x="11155680" y="5989320"/>
            <a:ext cx="731520" cy="320040"/>
          </a:xfrm>
          <a:prstGeom prst="rect">
            <a:avLst/>
          </a:prstGeom>
          <a:noFill/>
          <a:ln/>
        </p:spPr>
        <p:txBody>
          <a:bodyPr wrap="square" lIns="0" tIns="0" rIns="0" bIns="0" rtlCol="0" anchor="ctr"/>
          <a:lstStyle/>
          <a:p>
            <a:pPr algn="ctr" indent="0" marL="0">
              <a:buNone/>
            </a:pPr>
            <a:r>
              <a:rPr lang="en-US" sz="1500" i="1" dirty="0">
                <a:solidFill>
                  <a:schemeClr val="accent3"/>
                </a:solidFill>
                <a:latin typeface="Calibri" pitchFamily="34" charset="0"/>
                <a:ea typeface="Calibri" pitchFamily="34" charset="-122"/>
                <a:cs typeface="Calibri" pitchFamily="34" charset="-120"/>
              </a:rPr>
              <a:t>yes</a:t>
            </a:r>
            <a:endParaRPr lang="en-US" sz="1500" dirty="0"/>
          </a:p>
        </p:txBody>
      </p:sp>
      <p:sp>
        <p:nvSpPr>
          <p:cNvPr id="38" name="Shape 35"/>
          <p:cNvSpPr/>
          <p:nvPr/>
        </p:nvSpPr>
        <p:spPr>
          <a:xfrm>
            <a:off x="8138160" y="5943600"/>
            <a:ext cx="2834640" cy="914400"/>
          </a:xfrm>
          <a:prstGeom prst="roundRect">
            <a:avLst>
              <a:gd name="adj" fmla="val 35000"/>
            </a:avLst>
          </a:prstGeom>
          <a:solidFill>
            <a:schemeClr val="accent5"/>
          </a:solidFill>
          <a:ln w="15875">
            <a:solidFill>
              <a:schemeClr val="tx2"/>
            </a:solidFill>
            <a:prstDash val="solid"/>
          </a:ln>
        </p:spPr>
      </p:sp>
      <p:sp>
        <p:nvSpPr>
          <p:cNvPr id="39" name="Text 36"/>
          <p:cNvSpPr txBox="1"/>
          <p:nvPr/>
        </p:nvSpPr>
        <p:spPr>
          <a:xfrm>
            <a:off x="8229600" y="5943600"/>
            <a:ext cx="265176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Engineer reviews evidence &amp; diff</a:t>
            </a:r>
            <a:endParaRPr lang="en-US" sz="1800" dirty="0"/>
          </a:p>
        </p:txBody>
      </p:sp>
      <p:sp>
        <p:nvSpPr>
          <p:cNvPr id="40" name="Shape 37"/>
          <p:cNvSpPr/>
          <p:nvPr/>
        </p:nvSpPr>
        <p:spPr>
          <a:xfrm flipH="1">
            <a:off x="7635240" y="6400800"/>
            <a:ext cx="502920" cy="0"/>
          </a:xfrm>
          <a:prstGeom prst="line">
            <a:avLst/>
          </a:prstGeom>
          <a:noFill/>
          <a:ln w="25400">
            <a:solidFill>
              <a:schemeClr val="tx1"/>
            </a:solidFill>
            <a:prstDash val="solid"/>
            <a:tailEnd type="triangle"/>
          </a:ln>
        </p:spPr>
      </p:sp>
      <p:sp>
        <p:nvSpPr>
          <p:cNvPr id="41" name="Shape 38"/>
          <p:cNvSpPr/>
          <p:nvPr/>
        </p:nvSpPr>
        <p:spPr>
          <a:xfrm>
            <a:off x="5806440" y="5760720"/>
            <a:ext cx="1828800" cy="1280160"/>
          </a:xfrm>
          <a:prstGeom prst="diamond">
            <a:avLst/>
          </a:prstGeom>
          <a:solidFill>
            <a:srgbClr val="F3EAD7"/>
          </a:solidFill>
          <a:ln w="19050">
            <a:solidFill>
              <a:schemeClr val="accent2"/>
            </a:solidFill>
            <a:prstDash val="solid"/>
          </a:ln>
        </p:spPr>
      </p:sp>
      <p:sp>
        <p:nvSpPr>
          <p:cNvPr id="42" name="Text 39"/>
          <p:cNvSpPr txBox="1"/>
          <p:nvPr/>
        </p:nvSpPr>
        <p:spPr>
          <a:xfrm>
            <a:off x="5897880" y="5943600"/>
            <a:ext cx="164592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Approved?</a:t>
            </a:r>
            <a:endParaRPr lang="en-US" sz="1500" dirty="0"/>
          </a:p>
        </p:txBody>
      </p:sp>
      <p:sp>
        <p:nvSpPr>
          <p:cNvPr id="43" name="Shape 40"/>
          <p:cNvSpPr/>
          <p:nvPr/>
        </p:nvSpPr>
        <p:spPr>
          <a:xfrm flipH="1">
            <a:off x="5166360" y="6400800"/>
            <a:ext cx="640080" cy="0"/>
          </a:xfrm>
          <a:prstGeom prst="line">
            <a:avLst/>
          </a:prstGeom>
          <a:noFill/>
          <a:ln w="25400">
            <a:solidFill>
              <a:schemeClr val="tx1"/>
            </a:solidFill>
            <a:prstDash val="solid"/>
            <a:tailEnd type="triangle"/>
          </a:ln>
        </p:spPr>
      </p:sp>
      <p:sp>
        <p:nvSpPr>
          <p:cNvPr id="44" name="Text 41"/>
          <p:cNvSpPr txBox="1"/>
          <p:nvPr/>
        </p:nvSpPr>
        <p:spPr>
          <a:xfrm>
            <a:off x="5120640" y="5989320"/>
            <a:ext cx="731520" cy="320040"/>
          </a:xfrm>
          <a:prstGeom prst="rect">
            <a:avLst/>
          </a:prstGeom>
          <a:noFill/>
          <a:ln/>
        </p:spPr>
        <p:txBody>
          <a:bodyPr wrap="square" lIns="0" tIns="0" rIns="0" bIns="0" rtlCol="0" anchor="ctr"/>
          <a:lstStyle/>
          <a:p>
            <a:pPr algn="ctr" indent="0" marL="0">
              <a:buNone/>
            </a:pPr>
            <a:r>
              <a:rPr lang="en-US" sz="1500" i="1" dirty="0">
                <a:solidFill>
                  <a:schemeClr val="accent3"/>
                </a:solidFill>
                <a:latin typeface="Calibri" pitchFamily="34" charset="0"/>
                <a:ea typeface="Calibri" pitchFamily="34" charset="-122"/>
                <a:cs typeface="Calibri" pitchFamily="34" charset="-120"/>
              </a:rPr>
              <a:t>no</a:t>
            </a:r>
            <a:endParaRPr lang="en-US" sz="1500" dirty="0"/>
          </a:p>
        </p:txBody>
      </p:sp>
      <p:sp>
        <p:nvSpPr>
          <p:cNvPr id="45" name="Shape 42"/>
          <p:cNvSpPr/>
          <p:nvPr/>
        </p:nvSpPr>
        <p:spPr>
          <a:xfrm>
            <a:off x="2514600" y="5943600"/>
            <a:ext cx="2651760" cy="914400"/>
          </a:xfrm>
          <a:prstGeom prst="roundRect">
            <a:avLst>
              <a:gd name="adj" fmla="val 35000"/>
            </a:avLst>
          </a:prstGeom>
          <a:solidFill>
            <a:schemeClr val="accent5"/>
          </a:solidFill>
          <a:ln w="15875">
            <a:solidFill>
              <a:schemeClr val="tx2"/>
            </a:solidFill>
            <a:prstDash val="solid"/>
          </a:ln>
        </p:spPr>
      </p:sp>
      <p:sp>
        <p:nvSpPr>
          <p:cNvPr id="46" name="Text 43"/>
          <p:cNvSpPr txBox="1"/>
          <p:nvPr/>
        </p:nvSpPr>
        <p:spPr>
          <a:xfrm>
            <a:off x="2606040" y="5943600"/>
            <a:ext cx="246888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Reject / re-investigate</a:t>
            </a:r>
            <a:endParaRPr lang="en-US" sz="1800" dirty="0"/>
          </a:p>
        </p:txBody>
      </p:sp>
      <p:sp>
        <p:nvSpPr>
          <p:cNvPr id="47" name="Shape 44"/>
          <p:cNvSpPr/>
          <p:nvPr/>
        </p:nvSpPr>
        <p:spPr>
          <a:xfrm>
            <a:off x="3840480" y="6858000"/>
            <a:ext cx="0" cy="1764792"/>
          </a:xfrm>
          <a:prstGeom prst="line">
            <a:avLst/>
          </a:prstGeom>
          <a:noFill/>
          <a:ln w="25400">
            <a:solidFill>
              <a:schemeClr val="tx1"/>
            </a:solidFill>
            <a:prstDash val="solid"/>
            <a:tailEnd type="triangle"/>
          </a:ln>
        </p:spPr>
      </p:sp>
      <p:sp>
        <p:nvSpPr>
          <p:cNvPr id="48" name="Shape 45"/>
          <p:cNvSpPr/>
          <p:nvPr/>
        </p:nvSpPr>
        <p:spPr>
          <a:xfrm>
            <a:off x="3566160" y="8641080"/>
            <a:ext cx="548640" cy="548640"/>
          </a:xfrm>
          <a:prstGeom prst="ellipse">
            <a:avLst/>
          </a:prstGeom>
          <a:solidFill>
            <a:schemeClr val="bg1"/>
          </a:solidFill>
          <a:ln w="25400">
            <a:solidFill>
              <a:schemeClr val="tx2"/>
            </a:solidFill>
            <a:prstDash val="solid"/>
          </a:ln>
        </p:spPr>
      </p:sp>
      <p:sp>
        <p:nvSpPr>
          <p:cNvPr id="49" name="Shape 46"/>
          <p:cNvSpPr/>
          <p:nvPr/>
        </p:nvSpPr>
        <p:spPr>
          <a:xfrm>
            <a:off x="3675888" y="8750808"/>
            <a:ext cx="329184" cy="329184"/>
          </a:xfrm>
          <a:prstGeom prst="ellipse">
            <a:avLst/>
          </a:prstGeom>
          <a:solidFill>
            <a:schemeClr val="tx2"/>
          </a:solidFill>
          <a:ln/>
        </p:spPr>
      </p:sp>
      <p:sp>
        <p:nvSpPr>
          <p:cNvPr id="50" name="Shape 47"/>
          <p:cNvSpPr/>
          <p:nvPr/>
        </p:nvSpPr>
        <p:spPr>
          <a:xfrm>
            <a:off x="6720840" y="7040880"/>
            <a:ext cx="0" cy="1399032"/>
          </a:xfrm>
          <a:prstGeom prst="line">
            <a:avLst/>
          </a:prstGeom>
          <a:noFill/>
          <a:ln w="25400">
            <a:solidFill>
              <a:schemeClr val="tx1"/>
            </a:solidFill>
            <a:prstDash val="solid"/>
            <a:tailEnd type="triangle"/>
          </a:ln>
        </p:spPr>
      </p:sp>
      <p:sp>
        <p:nvSpPr>
          <p:cNvPr id="51" name="Text 48"/>
          <p:cNvSpPr txBox="1"/>
          <p:nvPr/>
        </p:nvSpPr>
        <p:spPr>
          <a:xfrm>
            <a:off x="6812280" y="7178040"/>
            <a:ext cx="731520" cy="320040"/>
          </a:xfrm>
          <a:prstGeom prst="rect">
            <a:avLst/>
          </a:prstGeom>
          <a:noFill/>
          <a:ln/>
        </p:spPr>
        <p:txBody>
          <a:bodyPr wrap="square" lIns="0" tIns="0" rIns="0" bIns="0" rtlCol="0" anchor="ctr"/>
          <a:lstStyle/>
          <a:p>
            <a:pPr algn="ctr" indent="0" marL="0">
              <a:buNone/>
            </a:pPr>
            <a:r>
              <a:rPr lang="en-US" sz="1500" i="1" dirty="0">
                <a:solidFill>
                  <a:schemeClr val="accent3"/>
                </a:solidFill>
                <a:latin typeface="Calibri" pitchFamily="34" charset="0"/>
                <a:ea typeface="Calibri" pitchFamily="34" charset="-122"/>
                <a:cs typeface="Calibri" pitchFamily="34" charset="-120"/>
              </a:rPr>
              <a:t>yes</a:t>
            </a:r>
            <a:endParaRPr lang="en-US" sz="1500" dirty="0"/>
          </a:p>
        </p:txBody>
      </p:sp>
      <p:sp>
        <p:nvSpPr>
          <p:cNvPr id="52" name="Shape 49"/>
          <p:cNvSpPr/>
          <p:nvPr/>
        </p:nvSpPr>
        <p:spPr>
          <a:xfrm>
            <a:off x="5394960" y="8458200"/>
            <a:ext cx="2651760" cy="914400"/>
          </a:xfrm>
          <a:prstGeom prst="roundRect">
            <a:avLst>
              <a:gd name="adj" fmla="val 35000"/>
            </a:avLst>
          </a:prstGeom>
          <a:solidFill>
            <a:schemeClr val="accent5"/>
          </a:solidFill>
          <a:ln w="15875">
            <a:solidFill>
              <a:schemeClr val="tx2"/>
            </a:solidFill>
            <a:prstDash val="solid"/>
          </a:ln>
        </p:spPr>
      </p:sp>
      <p:sp>
        <p:nvSpPr>
          <p:cNvPr id="53" name="Text 50"/>
          <p:cNvSpPr txBox="1"/>
          <p:nvPr/>
        </p:nvSpPr>
        <p:spPr>
          <a:xfrm>
            <a:off x="5486400" y="8458200"/>
            <a:ext cx="246888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Deploy approved commit</a:t>
            </a:r>
            <a:endParaRPr lang="en-US" sz="1800" dirty="0"/>
          </a:p>
        </p:txBody>
      </p:sp>
      <p:sp>
        <p:nvSpPr>
          <p:cNvPr id="54" name="Shape 51"/>
          <p:cNvSpPr/>
          <p:nvPr/>
        </p:nvSpPr>
        <p:spPr>
          <a:xfrm>
            <a:off x="8046720" y="8915400"/>
            <a:ext cx="868680" cy="0"/>
          </a:xfrm>
          <a:prstGeom prst="line">
            <a:avLst/>
          </a:prstGeom>
          <a:noFill/>
          <a:ln w="25400">
            <a:solidFill>
              <a:schemeClr val="tx1"/>
            </a:solidFill>
            <a:prstDash val="solid"/>
            <a:tailEnd type="triangle"/>
          </a:ln>
        </p:spPr>
      </p:sp>
      <p:sp>
        <p:nvSpPr>
          <p:cNvPr id="55" name="Shape 52"/>
          <p:cNvSpPr/>
          <p:nvPr/>
        </p:nvSpPr>
        <p:spPr>
          <a:xfrm>
            <a:off x="8915400" y="8458200"/>
            <a:ext cx="3017520" cy="914400"/>
          </a:xfrm>
          <a:prstGeom prst="roundRect">
            <a:avLst>
              <a:gd name="adj" fmla="val 35000"/>
            </a:avLst>
          </a:prstGeom>
          <a:solidFill>
            <a:schemeClr val="accent5"/>
          </a:solidFill>
          <a:ln w="15875">
            <a:solidFill>
              <a:schemeClr val="tx2"/>
            </a:solidFill>
            <a:prstDash val="solid"/>
          </a:ln>
        </p:spPr>
      </p:sp>
      <p:sp>
        <p:nvSpPr>
          <p:cNvPr id="56" name="Text 53"/>
          <p:cNvSpPr txBox="1"/>
          <p:nvPr/>
        </p:nvSpPr>
        <p:spPr>
          <a:xfrm>
            <a:off x="9006840" y="8458200"/>
            <a:ext cx="2834640" cy="914400"/>
          </a:xfrm>
          <a:prstGeom prst="rect">
            <a:avLst/>
          </a:prstGeom>
          <a:noFill/>
          <a:ln/>
        </p:spPr>
        <p:txBody>
          <a:bodyPr wrap="square" lIns="0" tIns="0" rIns="0" bIns="0" rtlCol="0" anchor="ctr"/>
          <a:lstStyle/>
          <a:p>
            <a:pPr algn="ctr" indent="0" marL="0">
              <a:buNone/>
            </a:pPr>
            <a:r>
              <a:rPr lang="en-US" sz="1800" dirty="0">
                <a:solidFill>
                  <a:schemeClr val="tx1"/>
                </a:solidFill>
                <a:latin typeface="Calibri" pitchFamily="34" charset="0"/>
                <a:ea typeface="Calibri" pitchFamily="34" charset="-122"/>
                <a:cs typeface="Calibri" pitchFamily="34" charset="-120"/>
              </a:rPr>
              <a:t>Verify production &amp; record audit</a:t>
            </a:r>
            <a:endParaRPr lang="en-US" sz="1800" dirty="0"/>
          </a:p>
        </p:txBody>
      </p:sp>
      <p:sp>
        <p:nvSpPr>
          <p:cNvPr id="57" name="Shape 54"/>
          <p:cNvSpPr/>
          <p:nvPr/>
        </p:nvSpPr>
        <p:spPr>
          <a:xfrm>
            <a:off x="11932920" y="8915400"/>
            <a:ext cx="777240" cy="0"/>
          </a:xfrm>
          <a:prstGeom prst="line">
            <a:avLst/>
          </a:prstGeom>
          <a:noFill/>
          <a:ln w="25400">
            <a:solidFill>
              <a:schemeClr val="tx1"/>
            </a:solidFill>
            <a:prstDash val="solid"/>
            <a:tailEnd type="triangle"/>
          </a:ln>
        </p:spPr>
      </p:sp>
      <p:sp>
        <p:nvSpPr>
          <p:cNvPr id="58" name="Shape 55"/>
          <p:cNvSpPr/>
          <p:nvPr/>
        </p:nvSpPr>
        <p:spPr>
          <a:xfrm>
            <a:off x="12755880" y="8641080"/>
            <a:ext cx="548640" cy="548640"/>
          </a:xfrm>
          <a:prstGeom prst="ellipse">
            <a:avLst/>
          </a:prstGeom>
          <a:solidFill>
            <a:schemeClr val="bg1"/>
          </a:solidFill>
          <a:ln w="25400">
            <a:solidFill>
              <a:schemeClr val="tx2"/>
            </a:solidFill>
            <a:prstDash val="solid"/>
          </a:ln>
        </p:spPr>
      </p:sp>
      <p:sp>
        <p:nvSpPr>
          <p:cNvPr id="59" name="Shape 56"/>
          <p:cNvSpPr/>
          <p:nvPr/>
        </p:nvSpPr>
        <p:spPr>
          <a:xfrm>
            <a:off x="12865608" y="8750808"/>
            <a:ext cx="329184" cy="329184"/>
          </a:xfrm>
          <a:prstGeom prst="ellipse">
            <a:avLst/>
          </a:prstGeom>
          <a:solidFill>
            <a:schemeClr val="tx2"/>
          </a:solidFill>
          <a:ln/>
        </p:spPr>
      </p:sp>
      <p:sp>
        <p:nvSpPr>
          <p:cNvPr id="60" name="Text 57"/>
          <p:cNvSpPr txBox="1"/>
          <p:nvPr/>
        </p:nvSpPr>
        <p:spPr>
          <a:xfrm>
            <a:off x="13487400" y="8641080"/>
            <a:ext cx="274320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Incident resolved</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References (1/3)</a:t>
            </a:r>
            <a:endParaRPr lang="en-US" sz="6600" dirty="0"/>
          </a:p>
        </p:txBody>
      </p:sp>
      <p:graphicFrame>
        <p:nvGraphicFramePr>
          <p:cNvPr id="21" name="reference-table"/>
          <p:cNvGraphicFramePr>
            <a:graphicFrameLocks noGrp="1"/>
          </p:cNvGraphicFramePr>
          <p:nvPr>
            <p:extLst>
              <p:ext uri="{D42A27DB-BD31-4B8C-83A1-F6EECF244321}">
                <p14:modId xmlns:p14="http://schemas.microsoft.com/office/powerpoint/2010/main" val="1579011935"/>
              </p:ext>
            </p:extLst>
          </p:nvPr>
        </p:nvGraphicFramePr>
        <p:xfrm>
          <a:off x="1097280" y="2103120"/>
          <a:ext cx="17922240" cy="914400"/>
        </p:xfrm>
        <a:graphic>
          <a:graphicData uri="http://schemas.openxmlformats.org/drawingml/2006/table">
            <a:tbl>
              <a:tblPr/>
              <a:tblGrid>
                <a:gridCol w="914400"/>
                <a:gridCol w="4572000"/>
                <a:gridCol w="8229600"/>
                <a:gridCol w="4206240"/>
              </a:tblGrid>
              <a:tr h="640080">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Authors</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Title</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Venue / Year</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P. Notaro, J. Cardoso, and M. Gerndt</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 Survey of AIOps Methods for Failure Management</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TIST, vol. 12, no. 6, 2021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P. He, J. Zhu, Z. Zheng, and M. R. Lyu</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Drain: An Online Log Parsing Approach with Fixed Depth Tree</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IEEE ICWS, 2017</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M. Du, F. Li, G. Zheng, and V. Srikumar</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DeepLog: Anomaly Detection and Diagnosis from System Logs through Deep Learning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CCS, 2017</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W. Meng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LogAnomaly: Unsupervised Detection of Sequential and Quantitative Anomalies in Unstructured Logs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IJCAI, 2019</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[5]</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 Wu, J. Tordsson, E. Elmroth, and O. Kao</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MicroRCA: Root Cause Localization of Performance Issues in Microservices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IEEE/IFIP NOMS, 2020</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[6]</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T. Wittkopp, A. Acker, and O. Kao</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Progressing from Anomaly Detection to Automated Log Labeling and Pioneering Root Cause Analysis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AIOps Workshop, IEEE ICDM, 2023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[7]</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Y. Chen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Automatic Root Cause Analysis via Large Language Models for Cloud Incidents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EuroSys,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[8]</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I. Bouzenia, P. Devanbu, and M. Pradel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RepairAgent: An Autonomous, LLM-Based Agent for Program Repair</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IEEE/ACM ICSE, 2025</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[9]</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Q. Zhang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 Systematic Literature Review on Large Language Models for Automated Program Repair</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arXiv:2405.01466,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[10]</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D. Roy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Exploring LLM-based Agents for Root Cause Analysis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FSE,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U. Kulsum, H. Zhu, B. Xu, and M. d’Amorim</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 Case Study of LLM for Automated Vulnerability Repair</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AIware,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References (2/3)</a:t>
            </a:r>
            <a:endParaRPr lang="en-US" sz="6600" dirty="0"/>
          </a:p>
        </p:txBody>
      </p:sp>
      <p:graphicFrame>
        <p:nvGraphicFramePr>
          <p:cNvPr id="22" name="reference-table"/>
          <p:cNvGraphicFramePr>
            <a:graphicFrameLocks noGrp="1"/>
          </p:cNvGraphicFramePr>
          <p:nvPr>
            <p:extLst>
              <p:ext uri="{D42A27DB-BD31-4B8C-83A1-F6EECF244321}">
                <p14:modId xmlns:p14="http://schemas.microsoft.com/office/powerpoint/2010/main" val="1579011935"/>
              </p:ext>
            </p:extLst>
          </p:nvPr>
        </p:nvGraphicFramePr>
        <p:xfrm>
          <a:off x="1097280" y="2103120"/>
          <a:ext cx="17922240" cy="914400"/>
        </p:xfrm>
        <a:graphic>
          <a:graphicData uri="http://schemas.openxmlformats.org/drawingml/2006/table">
            <a:tbl>
              <a:tblPr/>
              <a:tblGrid>
                <a:gridCol w="914400"/>
                <a:gridCol w="4572000"/>
                <a:gridCol w="8229600"/>
                <a:gridCol w="4206240"/>
              </a:tblGrid>
              <a:tr h="640080">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Authors</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Title</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Venue / Year</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[12]</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 Zhang, T. Jia, M. Jia,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 Survey of AIOps in the Era of Large Language Models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Computing Surveys, 2026</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Z. Ma, J. Yang, and T.-H. Chen</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LLM4Log: A Systematic Review of Large Language Model-based Log Analysis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arXiv:2604.16359, 2026</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M. De la Cruz Cabello, T. P. Sales, and M. R. Machado</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Log Anomaly Detection in AIOps: A Real-World Implementation Using LLMs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Systems and Soft Computing, vol. 8, 2026</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[15]</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Integrating Large Language Models with Cloud-Native Observability for Automated Root Cause Analysis and Remediation</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Intl. Conf. on AI, Systems and Network Security, 2025</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[16]</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J. Zhu, S. He, P. He, J. Liu, and M. R. Lyu</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Loghub: A Large Collection of System Log Datasets for AI-driven Log Analytics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IEEE ISSRE, 2023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[17]</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S. He, P. He, Z. Chen, T. Yang, Y. Su, and M. R. Lyu</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 Survey on Automated Log Analysis for Reliability Engineering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Computing Surveys, vol. 54, no. 6, 2021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[18]</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V.-H. Le and H. Zhang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Log-based Anomaly Detection Without Log Parsing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IEEE/ACM ASE, 2021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[19]</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H. Guo, S. Yuan, and X. Wu</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LogBERT: Log Anomaly Detection via BERT</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arXiv:2103.04475, 2021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[20]</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Y. Lee, J. Kim, and P. Kang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LAnoBERT: System Log Anomaly Detection based on BERT Masked Language Model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arXiv:2111.09564, 2023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Z. Jiang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LILAC: Log Parsing using LLMs with Adaptive Parsing Cache</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FSE,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[22]</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Z. Chen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Towards Intelligent Incident Management: Why We Need It and How We Make It</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ESEC/FSE, 2020</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5" type="title" hasCustomPrompt="1"/>
          </p:nvPr>
        </p:nvSpPr>
        <p:spPr>
          <a:xfrm>
            <a:off x="1371600" y="658368"/>
            <a:ext cx="17373600" cy="1280160"/>
          </a:xfrm>
          <a:prstGeom prst="rect">
            <a:avLst/>
          </a:prstGeom>
          <a:noFill/>
          <a:ln/>
        </p:spPr>
        <p:txBody>
          <a:bodyPr wrap="square" lIns="0" tIns="0" rIns="0" bIns="0" rtlCol="0" anchor="ctr"/>
          <a:lstStyle/>
          <a:p>
            <a:pPr algn="ctr" indent="0" marL="0">
              <a:buNone/>
            </a:pPr>
            <a:r>
              <a:rPr lang="en-US" sz="6600" dirty="0">
                <a:solidFill>
                  <a:schemeClr val="tx2"/>
                </a:solidFill>
              </a:rPr>
              <a:t>References (3/3)</a:t>
            </a:r>
            <a:endParaRPr lang="en-US" sz="6600" dirty="0"/>
          </a:p>
        </p:txBody>
      </p:sp>
      <p:graphicFrame>
        <p:nvGraphicFramePr>
          <p:cNvPr id="23" name="reference-table"/>
          <p:cNvGraphicFramePr>
            <a:graphicFrameLocks noGrp="1"/>
          </p:cNvGraphicFramePr>
          <p:nvPr>
            <p:extLst>
              <p:ext uri="{D42A27DB-BD31-4B8C-83A1-F6EECF244321}">
                <p14:modId xmlns:p14="http://schemas.microsoft.com/office/powerpoint/2010/main" val="1579011935"/>
              </p:ext>
            </p:extLst>
          </p:nvPr>
        </p:nvGraphicFramePr>
        <p:xfrm>
          <a:off x="1097280" y="2103120"/>
          <a:ext cx="17922240" cy="914400"/>
        </p:xfrm>
        <a:graphic>
          <a:graphicData uri="http://schemas.openxmlformats.org/drawingml/2006/table">
            <a:tbl>
              <a:tblPr/>
              <a:tblGrid>
                <a:gridCol w="914400"/>
                <a:gridCol w="4572000"/>
                <a:gridCol w="8229600"/>
                <a:gridCol w="4206240"/>
              </a:tblGrid>
              <a:tr h="640080">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Authors</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Title</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c>
                  <a:txBody>
                    <a:bodyPr/>
                    <a:lstStyle/>
                    <a:p>
                      <a:pPr algn="ctr" indent="0" marL="0">
                        <a:buNone/>
                      </a:pPr>
                      <a:r>
                        <a:rPr lang="en-US" sz="1900" b="1" dirty="0">
                          <a:solidFill>
                            <a:schemeClr val="bg1"/>
                          </a:solidFill>
                          <a:latin typeface="Calibri" pitchFamily="34" charset="0"/>
                          <a:ea typeface="Calibri" pitchFamily="34" charset="-122"/>
                          <a:cs typeface="Calibri" pitchFamily="34" charset="-120"/>
                        </a:rPr>
                        <a:t>Venue / Year</a:t>
                      </a:r>
                      <a:endParaRPr lang="en-US" sz="1900" dirty="0">
                        <a:latin typeface="Calibri" charset="0"/>
                        <a:ea typeface="Calibri" charset="0"/>
                        <a:cs typeface="Calibri"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151F49"/>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T. Ahmed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Recommending Root-Cause and Mitigation Steps for Cloud Incidents using Large Language Models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ICSE, 2023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J. Soldani and A. Brogi</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Anomaly Detection and Failure Root Cause Analysis in (Micro)Service-Based Cloud Applications: A Survey</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Computing Surveys, vol. 55, no. 3, 2022</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[25]</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M. Ma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AutoMAP: Diagnose Your Microservice-based Web Applications Automatically</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The Web Conference (WWW), 2020</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[26]</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J. Śliwerski, T. Zimmermann, and A. Zeller</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When Do Changes Induce Fixes?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MSR Workshop, 2005</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[27]</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C. Le Goues, M. Pradel, and A. Roychoudhury</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Automated Program Repair</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Communications of the ACM, vol. 62, no. 12, 2019</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[28]</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C. S. Xia and L. Zhang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Less Training, More Repairing Please: Revisiting Automated Program Repair via Zero-shot Learning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ESEC/FSE, 2022</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[29]</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C. S. Xia, Y. Wei, and L. Zhang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Automated Program Repair in the Era of Large Pre-trained Language Models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ICSE, 2023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[30]</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C. E. Jimenez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SWE-bench: Can Language Models Resolve Real-World GitHub Issues?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ICLR,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[31]</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J. Yang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SWE-agent: Agent-Computer Interfaces Enable Automated Software Engineering</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NeurIPS,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[32]</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Y. Zhang, H. Ruan, Z. Fan, and A. Roychoudhury</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AutoCodeRover: Autonomous Program Improvement</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ACM ISSTA, 2024</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r h="640080">
                <a:tc>
                  <a:txBody>
                    <a:bodyPr/>
                    <a:lstStyle/>
                    <a:p>
                      <a:pPr algn="ctr" indent="0" marL="0">
                        <a:buNone/>
                      </a:pPr>
                      <a:r>
                        <a:rPr lang="en-US" sz="1600" b="1" dirty="0">
                          <a:solidFill>
                            <a:schemeClr val="tx1"/>
                          </a:solidFill>
                          <a:latin typeface="Cambria" pitchFamily="34" charset="0"/>
                          <a:ea typeface="Cambria" pitchFamily="34" charset="-122"/>
                          <a:cs typeface="Cambria" pitchFamily="34" charset="-120"/>
                        </a:rPr>
                        <a:t>[33]</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P. Lewis et al.</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pitchFamily="34" charset="0"/>
                          <a:ea typeface="Cambria" pitchFamily="34" charset="-122"/>
                          <a:cs typeface="Cambria" pitchFamily="34" charset="-120"/>
                        </a:rPr>
                        <a:t>Retrieval-Augmented Generation for Knowledge-Intensive NLP Tasks</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latin typeface="Cambria" pitchFamily="34" charset="0"/>
                          <a:ea typeface="Cambria" pitchFamily="34" charset="-122"/>
                          <a:cs typeface="Cambria" pitchFamily="34" charset="-120"/>
                        </a:rPr>
                        <a:t>NeurIPS, 2020</a:t>
                      </a:r>
                      <a:endParaRPr lang="en-US" sz="1600" dirty="0">
                        <a:latin typeface="Cambria" charset="0"/>
                        <a:ea typeface="Cambria" charset="0"/>
                        <a:cs typeface="Cambria" charset="0"/>
                      </a:endParaRPr>
                    </a:p>
                  </a:txBody>
                  <a:tcPr marL="109728" marR="109728" marT="36576" marB="36576" anchor="ctr">
                    <a:lnL w="9525" cap="flat" cmpd="sng" algn="ctr">
                      <a:solidFill>
                        <a:srgbClr val="BFB5A0"/>
                      </a:solidFill>
                      <a:prstDash val="solid"/>
                      <a:round/>
                      <a:headEnd type="none" w="med" len="med"/>
                      <a:tailEnd type="none" w="med" len="med"/>
                    </a:lnL>
                    <a:lnR w="9525" cap="flat" cmpd="sng" algn="ctr">
                      <a:solidFill>
                        <a:srgbClr val="BFB5A0"/>
                      </a:solidFill>
                      <a:prstDash val="solid"/>
                      <a:round/>
                      <a:headEnd type="none" w="med" len="med"/>
                      <a:tailEnd type="none" w="med" len="med"/>
                    </a:lnR>
                    <a:lnT w="9525" cap="flat" cmpd="sng" algn="ctr">
                      <a:solidFill>
                        <a:srgbClr val="BFB5A0"/>
                      </a:solidFill>
                      <a:prstDash val="solid"/>
                      <a:round/>
                      <a:headEnd type="none" w="med" len="med"/>
                      <a:tailEnd type="none" w="med" len="med"/>
                    </a:lnT>
                    <a:lnB w="9525" cap="flat" cmpd="sng" algn="ctr">
                      <a:solidFill>
                        <a:srgbClr val="BFB5A0"/>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AION College">
  <a:themeElements>
    <a:clrScheme name="AION College">
      <a:dk1>
        <a:srgbClr val="2B2B2B"/>
      </a:dk1>
      <a:lt1>
        <a:srgbClr val="FFFFFF"/>
      </a:lt1>
      <a:dk2>
        <a:srgbClr val="151F49"/>
      </a:dk2>
      <a:lt2>
        <a:srgbClr val="F5F0E5"/>
      </a:lt2>
      <a:accent1>
        <a:srgbClr val="3A5A8C"/>
      </a:accent1>
      <a:accent2>
        <a:srgbClr val="B8862F"/>
      </a:accent2>
      <a:accent3>
        <a:srgbClr val="5C5A55"/>
      </a:accent3>
      <a:accent4>
        <a:srgbClr val="D6CCB6"/>
      </a:accent4>
      <a:accent5>
        <a:srgbClr val="E4E7F2"/>
      </a:accent5>
      <a:accent6>
        <a:srgbClr val="F3EAD7"/>
      </a:accent6>
      <a:hlink>
        <a:srgbClr val="1F4E9A"/>
      </a:hlink>
      <a:folHlink>
        <a:srgbClr val="6B4E9A"/>
      </a:folHlink>
    </a:clrScheme>
    <a:fontScheme name="AION Colle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AION – Project Review 2</dc:title>
  <dc:subject>AION: Autonomous Incident Observation &amp; Navigation</dc:subject>
  <dc:creator>Aditya Bheke, Harshal Bhogawade, Malhar Bhoi</dc:creator>
  <cp:lastModifiedBy>Aditya Bheke, Harshal Bhogawade, Malhar Bhoi</cp:lastModifiedBy>
  <cp:revision>1</cp:revision>
  <dcterms:created xsi:type="dcterms:W3CDTF">2026-10-18T07:49:39Z</dcterms:created>
  <dcterms:modified xsi:type="dcterms:W3CDTF">2026-10-18T07:49:39Z</dcterms:modified>
</cp:coreProperties>
</file>