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20103998" cy="11309299"/>
  <p:notesSz cx="11309299" cy="2010399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235a875-090a-5e47-b0fd-3d55454d31f9}">
          <p14:sldIdLst>
            <p14:sldId id="256"/>
          </p14:sldIdLst>
        </p14:section>
        <p14:section name="Introduction" id="{cbed10ff-3f60-8b97-61cf-da0beb41fde1}">
          <p14:sldIdLst>
            <p14:sldId id="257"/>
            <p14:sldId id="258"/>
          </p14:sldIdLst>
        </p14:section>
        <p14:section name="Background" id="{26556730-6954-1403-1d50-88a3d9b53a1a}">
          <p14:sldIdLst>
            <p14:sldId id="259"/>
            <p14:sldId id="260"/>
            <p14:sldId id="261"/>
          </p14:sldIdLst>
        </p14:section>
        <p14:section name="Proposed System" id="{634e15bc-3492-5d02-461b-4fcb020ac15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nclusion" id="{8f0f56a6-3a50-d96e-2e0a-a07f6ff8d641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project. AION takes a production incident from detection to a validated, human-approved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project exists: incident resolution today is manual and spread across tools. AION connects the steps into one closed loop, with a human approving every production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definition from the synopsis, then walk left to right: what AION takes in, what it does, and what it 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recent papers (numbers match the synopsis references). Each advances one stage – log analysis, root-cause analysis or program repair – but none closes the loop to a validated, approved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pattern across the papers and tools: each stage is solved in isolation. AION’s contribution is the connected, validated, human-gated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pains that motivate AION: slow manual resolution, noisy logs, scattered tools, and the risk of letting AI change production unchecked.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fifteen objectives from the synopsis, grouped into the four stages of the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process diagram from the synopsis: nine stages from log collection to a resolved incident. A failed validation loops back to patch generation; nothing reaches production without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through the components: logs become events and an incident; the correlator and evidence pack feed the LLM; the fix is validated, approved and deployed back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view, matching the architecture diagram in the synopsis: dashboard, REST API, eight backend services, a two-stage AI layer, and the data and external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 modules of the synopsis. Modules 1–5 observe and explain the incident; 6–10 fix, validate, gate and record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formulas are the ones AION implements: spike detection on signatures, a weighted and explainable suspect score, and the deployment rule that requires validation and a matching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expected outcomes from the synopsis and the loop AION completes.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References, numbered as in the synopsis.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References, numbered as in the synopsis.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LEGE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onppt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03998" cy="11309299"/>
          </a:xfrm>
          <a:prstGeom prst="rect">
            <a:avLst/>
          </a:prstGeom>
        </p:spPr>
      </p:pic>
      <p:pic>
        <p:nvPicPr>
          <p:cNvPr id="3" name="Image 1" descr="/root/aionppt/college_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0"/>
            <a:ext cx="9756648" cy="24414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AION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371600" y="4251960"/>
            <a:ext cx="17373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LEGE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onppt/tex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210312"/>
            <a:ext cx="19687032" cy="10890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20624" y="10625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Department of Computer Engineering | Ajeenkya DY Patil School of Engineering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3624560" y="106070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Academic Year 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269712" y="10607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2026-2027</a:t>
            </a:r>
            <a:endParaRPr lang="en-US" sz="19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60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264640" y="274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Academic Year : </a:t>
            </a:r>
            <a:pPr algn="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2026-2027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743200" y="2788920"/>
            <a:ext cx="1463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Department of Computer Engineering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361188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 Project Review 2 Presentation on</a:t>
            </a:r>
            <a:endParaRPr lang="en-US" sz="2600" dirty="0"/>
          </a:p>
        </p:txBody>
      </p:sp>
      <p:sp>
        <p:nvSpPr>
          <p:cNvPr id="6" name="Text 1"/>
          <p:cNvSpPr/>
          <p:nvPr>
            <p:ph idx="103" type="title" hasCustomPrompt="1"/>
          </p:nvPr>
        </p:nvSpPr>
        <p:spPr>
          <a:xfrm>
            <a:off x="1371600" y="4251960"/>
            <a:ext cx="1737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AION : </a:t>
            </a:r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</a:rPr>
              <a:t>Autonomous Incident Observation &amp; Navigation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5349240"/>
            <a:ext cx="1554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An AI-Powered Incident Observation and Remediation Platform using Log Analysis, Git Correlation and Large Language Models for Root-Cause Analysis, Validated Code Fixes and Human-Approved Deployment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20624" y="8549640"/>
            <a:ext cx="7315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Presented by :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Aditya Bheke – 330114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Harshal Bhogawade – 330115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Malhar Bhoi – 330116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10332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Under the guidance of :   </a:t>
            </a:r>
            <a:pPr algn="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Dr. Yogesh Bahendwar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Introduction</a:t>
            </a:r>
            <a:endParaRPr lang="en-US" sz="6600" dirty="0"/>
          </a:p>
        </p:txBody>
      </p:sp>
      <p:sp>
        <p:nvSpPr>
          <p:cNvPr id="4" name="why-card"/>
          <p:cNvSpPr/>
          <p:nvPr/>
        </p:nvSpPr>
        <p:spPr>
          <a:xfrm>
            <a:off x="1097280" y="2148840"/>
            <a:ext cx="17922240" cy="41148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600200" y="2468880"/>
            <a:ext cx="1691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AION?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3154680"/>
            <a:ext cx="1691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In conventional incident management, engineers manually inspect large volumes of logs during an outage.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Tracing a failure to the recent code change that caused it is slow and depends on experienced engineers.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Observability tools detect errors but stop there; writing, testing and deploying the fix remain separate manual steps.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AION connects detection, Git correlation, AI root-cause analysis, patch generation and validation in one auditable workflow, with a human approving every production deployment.</a:t>
            </a:r>
            <a:endParaRPr lang="en-US" sz="2600" dirty="0"/>
          </a:p>
        </p:txBody>
      </p:sp>
      <p:sp>
        <p:nvSpPr>
          <p:cNvPr id="7" name="core-idea-card"/>
          <p:cNvSpPr/>
          <p:nvPr/>
        </p:nvSpPr>
        <p:spPr>
          <a:xfrm>
            <a:off x="1097280" y="6583680"/>
            <a:ext cx="17922240" cy="3611880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600200" y="6903720"/>
            <a:ext cx="1691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600200" y="7863840"/>
            <a:ext cx="274320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91640" y="786384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Logs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8755380"/>
            <a:ext cx="7818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43500" y="7863840"/>
            <a:ext cx="274320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34940" y="786384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886700" y="8755380"/>
            <a:ext cx="7818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686800" y="7863840"/>
            <a:ext cx="274320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0" y="786384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Root-Cause Analysis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1430000" y="8755380"/>
            <a:ext cx="7818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2230100" y="7863840"/>
            <a:ext cx="274320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21540" y="786384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Fix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4973300" y="8755380"/>
            <a:ext cx="7818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5773400" y="7863840"/>
            <a:ext cx="274320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864840" y="786384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Deployment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Problem Statement</a:t>
            </a:r>
            <a:endParaRPr lang="en-US" sz="6600" dirty="0"/>
          </a:p>
        </p:txBody>
      </p:sp>
      <p:sp>
        <p:nvSpPr>
          <p:cNvPr id="4" name="statement-card"/>
          <p:cNvSpPr/>
          <p:nvPr/>
        </p:nvSpPr>
        <p:spPr>
          <a:xfrm>
            <a:off x="1097280" y="2148840"/>
            <a:ext cx="17922240" cy="3108960"/>
          </a:xfrm>
          <a:prstGeom prst="roundRect">
            <a:avLst>
              <a:gd name="adj" fmla="val 8824"/>
            </a:avLst>
          </a:prstGeom>
          <a:solidFill>
            <a:schemeClr val="bg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600200" y="2377440"/>
            <a:ext cx="1691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Design and development of an AI-powered incident observation and remediation platform that collects and analyses production application logs, detects and deduplicates incidents, correlates them with Git commits and deployment history, performs evidence-based root-cause analysis using Large Language Models, generates candidate code patches that are validated through automated testing and staging, and deploys a fix to production only after explicit human approval.</a:t>
            </a:r>
            <a:endParaRPr lang="en-US" sz="2700" dirty="0"/>
          </a:p>
        </p:txBody>
      </p:sp>
      <p:sp>
        <p:nvSpPr>
          <p:cNvPr id="6" name="io-card-1"/>
          <p:cNvSpPr/>
          <p:nvPr/>
        </p:nvSpPr>
        <p:spPr>
          <a:xfrm>
            <a:off x="1097280" y="5623560"/>
            <a:ext cx="4937760" cy="4572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59893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file-in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70" y="6180430"/>
            <a:ext cx="486461" cy="4864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06040" y="6144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717804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Production application logs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Git commit history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Deployment records</a:t>
            </a:r>
            <a:endParaRPr lang="en-US" sz="2500" dirty="0"/>
          </a:p>
        </p:txBody>
      </p:sp>
      <p:sp>
        <p:nvSpPr>
          <p:cNvPr id="11" name="Shape 7"/>
          <p:cNvSpPr/>
          <p:nvPr/>
        </p:nvSpPr>
        <p:spPr>
          <a:xfrm>
            <a:off x="6126480" y="7909560"/>
            <a:ext cx="137160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io-card-2"/>
          <p:cNvSpPr/>
          <p:nvPr/>
        </p:nvSpPr>
        <p:spPr>
          <a:xfrm>
            <a:off x="7589520" y="5623560"/>
            <a:ext cx="4937760" cy="4572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</p:sp>
      <p:sp>
        <p:nvSpPr>
          <p:cNvPr id="13" name="Shape 9"/>
          <p:cNvSpPr/>
          <p:nvPr/>
        </p:nvSpPr>
        <p:spPr>
          <a:xfrm>
            <a:off x="8001000" y="59893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cp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110" y="618043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98280" y="6144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2700" dirty="0"/>
          </a:p>
        </p:txBody>
      </p:sp>
      <p:sp>
        <p:nvSpPr>
          <p:cNvPr id="16" name="Text 11"/>
          <p:cNvSpPr txBox="1"/>
          <p:nvPr/>
        </p:nvSpPr>
        <p:spPr>
          <a:xfrm>
            <a:off x="8001000" y="717804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Log analysis &amp; incident detection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Git &amp; deployment correlation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LLM root-cause analysis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Patch generation &amp; validation</a:t>
            </a:r>
            <a:endParaRPr lang="en-US" sz="2500" dirty="0"/>
          </a:p>
        </p:txBody>
      </p:sp>
      <p:sp>
        <p:nvSpPr>
          <p:cNvPr id="17" name="Shape 12"/>
          <p:cNvSpPr/>
          <p:nvPr/>
        </p:nvSpPr>
        <p:spPr>
          <a:xfrm>
            <a:off x="12618720" y="7909560"/>
            <a:ext cx="137160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io-card-3"/>
          <p:cNvSpPr/>
          <p:nvPr/>
        </p:nvSpPr>
        <p:spPr>
          <a:xfrm>
            <a:off x="14081760" y="5623560"/>
            <a:ext cx="4937760" cy="4572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</p:sp>
      <p:sp>
        <p:nvSpPr>
          <p:cNvPr id="19" name="Shape 14"/>
          <p:cNvSpPr/>
          <p:nvPr/>
        </p:nvSpPr>
        <p:spPr>
          <a:xfrm>
            <a:off x="14493240" y="59893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2" descr="file-outp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350" y="61804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90520" y="6144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700" dirty="0"/>
          </a:p>
        </p:txBody>
      </p:sp>
      <p:sp>
        <p:nvSpPr>
          <p:cNvPr id="22" name="Text 16"/>
          <p:cNvSpPr txBox="1"/>
          <p:nvPr/>
        </p:nvSpPr>
        <p:spPr>
          <a:xfrm>
            <a:off x="14493240" y="717804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Incident report &amp; RCA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Ranked suspect commits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Validated code patch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Human-approved, verified deployment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Literature Review</a:t>
            </a:r>
            <a:endParaRPr lang="en-US" sz="6600" dirty="0"/>
          </a:p>
        </p:txBody>
      </p:sp>
      <p:sp>
        <p:nvSpPr>
          <p:cNvPr id="4" name="lit-card"/>
          <p:cNvSpPr/>
          <p:nvPr/>
        </p:nvSpPr>
        <p:spPr>
          <a:xfrm>
            <a:off x="1097280" y="2103120"/>
            <a:ext cx="17922240" cy="8183880"/>
          </a:xfrm>
          <a:prstGeom prst="roundRect">
            <a:avLst>
              <a:gd name="adj" fmla="val 5028"/>
            </a:avLst>
          </a:prstGeom>
          <a:solidFill>
            <a:schemeClr val="bg1"/>
          </a:solidFill>
          <a:ln w="15875">
            <a:solidFill>
              <a:srgbClr val="333333"/>
            </a:solidFill>
            <a:prstDash val="solid"/>
          </a:ln>
        </p:spPr>
      </p:sp>
      <p:graphicFrame>
        <p:nvGraphicFramePr>
          <p:cNvPr id="5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2240280"/>
          <a:ext cx="1746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846320"/>
                <a:gridCol w="2560320"/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No.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Author’s Name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Survey of AIOps in the Era of Large Language Models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(L. Zhang, T. Jia, M. Jia, et al.) [12]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ACM Computing Surveys (2026)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Reviews 183 papers (2020–2024) on applying LLMs to AIOps: failure data sources, evolving tasks, LLM-based methods and evaluation.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LLM limits in AIOps not yet understood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Legacy failure data hard to process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Immature evaluation of LLM-based AIOps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LLM4Log: A Systematic Review of Large Language Model-based Log Analysis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(Z. Ma, J. Yang, T.-H. Chen) [13]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arXiv (2026)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Reviews 145 papers on LLM-based log analysis across seven tasks, from log parsing and anomaly detection to root-cause analysis.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 drift and long-tail events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Hallucination and unfaithful outputs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Context, cost, latency and privacy limits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 Anomaly Detection in AIOps: A Real-World Implementation Using LLMs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(M. De la Cruz Cabello, et al.) [14]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Systems and Soft Computing (2026)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Deploys a self-supervised LogBERT model, trained only on normal Linux syslogs and run locally, to detect anomalous log sequences in real time.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Shifting log formats and conditions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Window size: accuracy vs. latency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Detection only: no root cause or fix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RepairAgent: An Autonomous, LLM-Based Agent for Program Repair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(I. Bouzenia, P. Devanbu, M. Pradel) [8]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ICSE (2025)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 autonomous LLM agent that gathers bug information, searches for fixes and validates them with tools; repaired 164 Defects4J bugs.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 LLM cost: ~270K tokens per bug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Benchmark bugs, not live incidents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Needs existing tests to validate fixes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Integrating LLMs with Cloud-Native Observability for Automated Root Cause Analysis and Remediation [15]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Intl. Conf. on AI, Systems and Network Security (2025)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Connects LLMs with cloud-native observability for automated root-cause analysis and remediation.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 of hallucinated root causes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Telemetry volume exceeds LLM context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Auto-remediation needs safety checks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Research Gap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201168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chemeClr val="tx1"/>
                </a:solidFill>
              </a:rPr>
              <a:t>Our research studied existing work in AIOps, log analysis, LLM-based root-cause analysis and automated program repair, and tools such as ELK Stack, Sentry and PagerDuty. A consistent pattern emerged:</a:t>
            </a:r>
            <a:endParaRPr lang="en-US" sz="2500" dirty="0"/>
          </a:p>
        </p:txBody>
      </p:sp>
      <p:sp>
        <p:nvSpPr>
          <p:cNvPr id="5" name="gap-card-1"/>
          <p:cNvSpPr/>
          <p:nvPr/>
        </p:nvSpPr>
        <p:spPr>
          <a:xfrm>
            <a:off x="1097280" y="3383280"/>
            <a:ext cx="5669280" cy="681228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3749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badg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590" y="3940150"/>
            <a:ext cx="486461" cy="4864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 Has Achieved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562356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Parses and analyses large log volumes and detects anomalies automatically.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Uses LLMs and LLM agents to diagnose the root causes of cloud incidents.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Shows LLM agents can generate and validate code fixes for known bugs.</a:t>
            </a:r>
            <a:endParaRPr lang="en-US" sz="2400" dirty="0"/>
          </a:p>
        </p:txBody>
      </p:sp>
      <p:sp>
        <p:nvSpPr>
          <p:cNvPr id="10" name="gap-card-2"/>
          <p:cNvSpPr/>
          <p:nvPr/>
        </p:nvSpPr>
        <p:spPr>
          <a:xfrm>
            <a:off x="7223760" y="3383280"/>
            <a:ext cx="5669280" cy="681228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/>
        </p:spPr>
      </p:sp>
      <p:sp>
        <p:nvSpPr>
          <p:cNvPr id="11" name="Shape 7"/>
          <p:cNvSpPr/>
          <p:nvPr/>
        </p:nvSpPr>
        <p:spPr>
          <a:xfrm>
            <a:off x="7680960" y="3749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ircle-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70" y="3940150"/>
            <a:ext cx="486461" cy="4864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8096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Research Stops</a:t>
            </a:r>
            <a:endParaRPr lang="en-US" sz="2700" dirty="0"/>
          </a:p>
        </p:txBody>
      </p:sp>
      <p:sp>
        <p:nvSpPr>
          <p:cNvPr id="14" name="Text 9"/>
          <p:cNvSpPr txBox="1"/>
          <p:nvPr/>
        </p:nvSpPr>
        <p:spPr>
          <a:xfrm>
            <a:off x="7680960" y="562356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Treats detection or root-cause analysis as the final goal.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Repairs code on benchmark bugs, disconnected from live telemetry and CI/CD pipelines.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Tools stop at search, alerting or fix suggestions; validation and safe deployment stay manual.</a:t>
            </a:r>
            <a:endParaRPr lang="en-US" sz="2400" dirty="0"/>
          </a:p>
        </p:txBody>
      </p:sp>
      <p:sp>
        <p:nvSpPr>
          <p:cNvPr id="15" name="gap-card-3"/>
          <p:cNvSpPr/>
          <p:nvPr/>
        </p:nvSpPr>
        <p:spPr>
          <a:xfrm>
            <a:off x="13350240" y="3383280"/>
            <a:ext cx="5669280" cy="681228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/>
        </p:spPr>
      </p:sp>
      <p:sp>
        <p:nvSpPr>
          <p:cNvPr id="16" name="Shape 11"/>
          <p:cNvSpPr/>
          <p:nvPr/>
        </p:nvSpPr>
        <p:spPr>
          <a:xfrm>
            <a:off x="13807440" y="3749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8550" y="3940150"/>
            <a:ext cx="486461" cy="48646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80744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AION Does Differently</a:t>
            </a:r>
            <a:endParaRPr lang="en-US" sz="2700" dirty="0"/>
          </a:p>
        </p:txBody>
      </p:sp>
      <p:sp>
        <p:nvSpPr>
          <p:cNvPr id="19" name="Text 13"/>
          <p:cNvSpPr txBox="1"/>
          <p:nvPr/>
        </p:nvSpPr>
        <p:spPr>
          <a:xfrm>
            <a:off x="13807440" y="562356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Connects detection, root-cause analysis, patch generation and validation in one workflow.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Correlates incidents with Git commits and deployment history to find the probable cause.</a:t>
            </a:r>
            <a:endParaRPr lang="en-US" sz="2400" dirty="0"/>
          </a:p>
          <a:p>
            <a:pPr marL="431800" indent="-431800">
              <a:lnSpc>
                <a:spcPct val="10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chemeClr val="tx1"/>
                </a:solidFill>
              </a:rPr>
              <a:t>Validates every fix through tests and staging, and deploys only after human approval.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Motivation</a:t>
            </a:r>
            <a:endParaRPr lang="en-US" sz="6600" dirty="0"/>
          </a:p>
        </p:txBody>
      </p:sp>
      <p:sp>
        <p:nvSpPr>
          <p:cNvPr id="4" name="motivation-card-1"/>
          <p:cNvSpPr/>
          <p:nvPr/>
        </p:nvSpPr>
        <p:spPr>
          <a:xfrm>
            <a:off x="1097280" y="219456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5" name="Shape 2"/>
          <p:cNvSpPr/>
          <p:nvPr/>
        </p:nvSpPr>
        <p:spPr>
          <a:xfrm>
            <a:off x="1554480" y="2606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ti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590" y="279715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27614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Incident Resolution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74904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Engineers inspect logs and recent changes by hand while users are affected.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Resolution depends on experienced engineers being available.</a:t>
            </a:r>
            <a:endParaRPr lang="en-US" sz="2600" dirty="0"/>
          </a:p>
        </p:txBody>
      </p:sp>
      <p:sp>
        <p:nvSpPr>
          <p:cNvPr id="9" name="motivation-card-2"/>
          <p:cNvSpPr/>
          <p:nvPr/>
        </p:nvSpPr>
        <p:spPr>
          <a:xfrm>
            <a:off x="10287000" y="219456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10" name="Shape 6"/>
          <p:cNvSpPr/>
          <p:nvPr/>
        </p:nvSpPr>
        <p:spPr>
          <a:xfrm>
            <a:off x="10744200" y="2606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bell-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10" y="2797150"/>
            <a:ext cx="486461" cy="4864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41480" y="27614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Alert Overload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10744200" y="374904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Thousands of repeated errors hide the one that matters.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Deduplication and spike detection surface the real incident.</a:t>
            </a:r>
            <a:endParaRPr lang="en-US" sz="2600" dirty="0"/>
          </a:p>
        </p:txBody>
      </p:sp>
      <p:sp>
        <p:nvSpPr>
          <p:cNvPr id="14" name="motivation-card-3"/>
          <p:cNvSpPr/>
          <p:nvPr/>
        </p:nvSpPr>
        <p:spPr>
          <a:xfrm>
            <a:off x="1097280" y="635508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15" name="Shape 10"/>
          <p:cNvSpPr/>
          <p:nvPr/>
        </p:nvSpPr>
        <p:spPr>
          <a:xfrm>
            <a:off x="1554480" y="67665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un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90" y="6957670"/>
            <a:ext cx="486461" cy="48646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651760" y="69220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790956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Logs, Git, CI/CD and tickets live in separate tools.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Context is lost at every hand-off between them.</a:t>
            </a:r>
            <a:endParaRPr lang="en-US" sz="2600" dirty="0"/>
          </a:p>
        </p:txBody>
      </p:sp>
      <p:sp>
        <p:nvSpPr>
          <p:cNvPr id="19" name="motivation-card-4"/>
          <p:cNvSpPr/>
          <p:nvPr/>
        </p:nvSpPr>
        <p:spPr>
          <a:xfrm>
            <a:off x="10287000" y="635508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20" name="Shape 14"/>
          <p:cNvSpPr/>
          <p:nvPr/>
        </p:nvSpPr>
        <p:spPr>
          <a:xfrm>
            <a:off x="10744200" y="67665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3" descr="shield-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310" y="6957670"/>
            <a:ext cx="486461" cy="48646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41480" y="69220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Automation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10744200" y="790956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 fully automatic fix can make production worse.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AI output needs deterministic validation and a human approval gate.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Objective of the Project</a:t>
            </a:r>
            <a:endParaRPr lang="en-US" sz="6600" dirty="0"/>
          </a:p>
        </p:txBody>
      </p:sp>
      <p:sp>
        <p:nvSpPr>
          <p:cNvPr id="4" name="objective-card-1"/>
          <p:cNvSpPr/>
          <p:nvPr/>
        </p:nvSpPr>
        <p:spPr>
          <a:xfrm>
            <a:off x="1097280" y="219456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5" name="Shape 2"/>
          <p:cNvSpPr/>
          <p:nvPr/>
        </p:nvSpPr>
        <p:spPr>
          <a:xfrm>
            <a:off x="1554480" y="2606040"/>
            <a:ext cx="868680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55448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27614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Correlation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703320"/>
            <a:ext cx="7818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Collect and normalize logs from file and HTTP sources.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Group repeated errors into signatures; detect error spikes.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Correlate incidents with Git commits and deployments.</a:t>
            </a:r>
            <a:endParaRPr lang="en-US" sz="2500" dirty="0"/>
          </a:p>
        </p:txBody>
      </p:sp>
      <p:sp>
        <p:nvSpPr>
          <p:cNvPr id="9" name="objective-card-2"/>
          <p:cNvSpPr/>
          <p:nvPr/>
        </p:nvSpPr>
        <p:spPr>
          <a:xfrm>
            <a:off x="10287000" y="219456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10744200" y="2606040"/>
            <a:ext cx="868680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74420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1841480" y="27614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&amp; Documentation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10744200" y="3703320"/>
            <a:ext cx="7818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Evidence-based root-cause analysis with grounding checks.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Structured incident report and ticket for every incident.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Cloud (Claude API) or local LLMs for sensitive logs.</a:t>
            </a:r>
            <a:endParaRPr lang="en-US" sz="2500" dirty="0"/>
          </a:p>
        </p:txBody>
      </p:sp>
      <p:sp>
        <p:nvSpPr>
          <p:cNvPr id="14" name="objective-card-3"/>
          <p:cNvSpPr/>
          <p:nvPr/>
        </p:nvSpPr>
        <p:spPr>
          <a:xfrm>
            <a:off x="1097280" y="635508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15" name="Shape 12"/>
          <p:cNvSpPr/>
          <p:nvPr/>
        </p:nvSpPr>
        <p:spPr>
          <a:xfrm>
            <a:off x="1554480" y="6766560"/>
            <a:ext cx="868680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554480" y="6766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69220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Remediation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7863840"/>
            <a:ext cx="7818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Candidate patches as reviewable diffs on isolated branches.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Regression tests that reproduce the incident.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Validation: unit tests, staging deployment, request replay.</a:t>
            </a:r>
            <a:endParaRPr lang="en-US" sz="2500" dirty="0"/>
          </a:p>
        </p:txBody>
      </p:sp>
      <p:sp>
        <p:nvSpPr>
          <p:cNvPr id="19" name="objective-card-4"/>
          <p:cNvSpPr/>
          <p:nvPr/>
        </p:nvSpPr>
        <p:spPr>
          <a:xfrm>
            <a:off x="10287000" y="6355080"/>
            <a:ext cx="8732520" cy="38404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20" name="Shape 17"/>
          <p:cNvSpPr/>
          <p:nvPr/>
        </p:nvSpPr>
        <p:spPr>
          <a:xfrm>
            <a:off x="10744200" y="6766560"/>
            <a:ext cx="868680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744200" y="6766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11841480" y="69220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Deployment &amp; Monitoring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10744200" y="7863840"/>
            <a:ext cx="7818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Human approval gate bound to the exact validated commit.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Deploy approved fixes, verify recovery, keep an audit trail.</a:t>
            </a:r>
            <a:endParaRPr lang="en-US" sz="2500" dirty="0"/>
          </a:p>
          <a:p>
            <a:pPr marL="381000" indent="-3810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Integrated dashboard; evaluation on real bug scenarios.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Methodology</a:t>
            </a:r>
            <a:endParaRPr lang="en-US" sz="6600" dirty="0"/>
          </a:p>
        </p:txBody>
      </p:sp>
      <p:sp>
        <p:nvSpPr>
          <p:cNvPr id="4" name="methodology-card"/>
          <p:cNvSpPr/>
          <p:nvPr/>
        </p:nvSpPr>
        <p:spPr>
          <a:xfrm>
            <a:off x="1097280" y="2103120"/>
            <a:ext cx="17922240" cy="8138160"/>
          </a:xfrm>
          <a:prstGeom prst="roundRect">
            <a:avLst>
              <a:gd name="adj" fmla="val 5056"/>
            </a:avLst>
          </a:prstGeom>
          <a:solidFill>
            <a:schemeClr val="bg1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71700" y="276606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6" name="Image 0" descr="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3006090"/>
            <a:ext cx="662940" cy="662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40187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Log Collection &amp;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5737860" y="276606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9" name="Image 1" descr="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890" y="3006090"/>
            <a:ext cx="662940" cy="6629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46320" y="40187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Deduplication &amp;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2100" dirty="0"/>
          </a:p>
        </p:txBody>
      </p:sp>
      <p:sp>
        <p:nvSpPr>
          <p:cNvPr id="11" name="Shape 6"/>
          <p:cNvSpPr/>
          <p:nvPr/>
        </p:nvSpPr>
        <p:spPr>
          <a:xfrm>
            <a:off x="9304020" y="276606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12" name="Image 2" descr="git-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3006090"/>
            <a:ext cx="662940" cy="6629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412480" y="40187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Git &amp; Deployment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2100" dirty="0"/>
          </a:p>
        </p:txBody>
      </p:sp>
      <p:sp>
        <p:nvSpPr>
          <p:cNvPr id="14" name="Shape 8"/>
          <p:cNvSpPr/>
          <p:nvPr/>
        </p:nvSpPr>
        <p:spPr>
          <a:xfrm>
            <a:off x="12870180" y="276606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15" name="Image 3" descr="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0210" y="3006090"/>
            <a:ext cx="662940" cy="6629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978640" y="40187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AI Root-Cause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100" dirty="0"/>
          </a:p>
        </p:txBody>
      </p:sp>
      <p:sp>
        <p:nvSpPr>
          <p:cNvPr id="17" name="Shape 10"/>
          <p:cNvSpPr/>
          <p:nvPr/>
        </p:nvSpPr>
        <p:spPr>
          <a:xfrm>
            <a:off x="16436340" y="276606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18" name="Image 4" descr="file-code-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6370" y="3006090"/>
            <a:ext cx="662940" cy="66294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5544800" y="40187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Candidate Patch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2100" dirty="0"/>
          </a:p>
        </p:txBody>
      </p:sp>
      <p:sp>
        <p:nvSpPr>
          <p:cNvPr id="20" name="Shape 12"/>
          <p:cNvSpPr/>
          <p:nvPr/>
        </p:nvSpPr>
        <p:spPr>
          <a:xfrm>
            <a:off x="16436340" y="605790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21" name="Image 5" descr="flask-conic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6370" y="6297930"/>
            <a:ext cx="662940" cy="66294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5544800" y="73106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Automated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(CI)</a:t>
            </a:r>
            <a:endParaRPr lang="en-US" sz="2100" dirty="0"/>
          </a:p>
        </p:txBody>
      </p:sp>
      <p:sp>
        <p:nvSpPr>
          <p:cNvPr id="23" name="Shape 14"/>
          <p:cNvSpPr/>
          <p:nvPr/>
        </p:nvSpPr>
        <p:spPr>
          <a:xfrm>
            <a:off x="12870180" y="605790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pic>
        <p:nvPicPr>
          <p:cNvPr id="24" name="Image 6" descr="user-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0210" y="6297930"/>
            <a:ext cx="662940" cy="66294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978640" y="73106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Human Approval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2100" dirty="0"/>
          </a:p>
        </p:txBody>
      </p:sp>
      <p:sp>
        <p:nvSpPr>
          <p:cNvPr id="26" name="Shape 16"/>
          <p:cNvSpPr/>
          <p:nvPr/>
        </p:nvSpPr>
        <p:spPr>
          <a:xfrm>
            <a:off x="9304020" y="605790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27" name="Image 7" descr="rock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4050" y="6297930"/>
            <a:ext cx="662940" cy="66294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412480" y="73106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Deployment &amp;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2100" dirty="0"/>
          </a:p>
        </p:txBody>
      </p:sp>
      <p:sp>
        <p:nvSpPr>
          <p:cNvPr id="29" name="Shape 18"/>
          <p:cNvSpPr/>
          <p:nvPr/>
        </p:nvSpPr>
        <p:spPr>
          <a:xfrm>
            <a:off x="5737860" y="6057900"/>
            <a:ext cx="1143000" cy="11430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30" name="Image 8" descr="badge-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7890" y="6297930"/>
            <a:ext cx="662940" cy="66294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846320" y="73106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Incident Resolved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Audited</a:t>
            </a:r>
            <a:endParaRPr lang="en-US" sz="2100" dirty="0"/>
          </a:p>
        </p:txBody>
      </p:sp>
      <p:sp>
        <p:nvSpPr>
          <p:cNvPr id="32" name="Shape 20"/>
          <p:cNvSpPr/>
          <p:nvPr/>
        </p:nvSpPr>
        <p:spPr>
          <a:xfrm>
            <a:off x="3406140" y="333756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Shape 21"/>
          <p:cNvSpPr/>
          <p:nvPr/>
        </p:nvSpPr>
        <p:spPr>
          <a:xfrm>
            <a:off x="6972300" y="333756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Shape 22"/>
          <p:cNvSpPr/>
          <p:nvPr/>
        </p:nvSpPr>
        <p:spPr>
          <a:xfrm>
            <a:off x="10538460" y="333756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Shape 23"/>
          <p:cNvSpPr/>
          <p:nvPr/>
        </p:nvSpPr>
        <p:spPr>
          <a:xfrm>
            <a:off x="14104620" y="333756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Shape 24"/>
          <p:cNvSpPr/>
          <p:nvPr/>
        </p:nvSpPr>
        <p:spPr>
          <a:xfrm>
            <a:off x="17007840" y="4933188"/>
            <a:ext cx="0" cy="1014984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Shape 25"/>
          <p:cNvSpPr/>
          <p:nvPr/>
        </p:nvSpPr>
        <p:spPr>
          <a:xfrm flipH="1">
            <a:off x="14122908" y="662940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26"/>
          <p:cNvSpPr/>
          <p:nvPr/>
        </p:nvSpPr>
        <p:spPr>
          <a:xfrm flipH="1">
            <a:off x="10556748" y="662940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9" name="Shape 27"/>
          <p:cNvSpPr/>
          <p:nvPr/>
        </p:nvSpPr>
        <p:spPr>
          <a:xfrm flipH="1">
            <a:off x="6990588" y="6629400"/>
            <a:ext cx="22219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0" name="Text 28"/>
          <p:cNvSpPr txBox="1"/>
          <p:nvPr/>
        </p:nvSpPr>
        <p:spPr>
          <a:xfrm>
            <a:off x="2743200" y="8503920"/>
            <a:ext cx="1591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fails: bounded repair loop, then git revert fallback</a:t>
            </a:r>
            <a:endParaRPr lang="en-US" sz="1900" dirty="0"/>
          </a:p>
        </p:txBody>
      </p:sp>
      <p:sp>
        <p:nvSpPr>
          <p:cNvPr id="41" name="Text 29"/>
          <p:cNvSpPr txBox="1"/>
          <p:nvPr/>
        </p:nvSpPr>
        <p:spPr>
          <a:xfrm>
            <a:off x="1554480" y="918972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→ signatures → error spike → suspect commits → evidence-cited RCA → patch + test → CI &amp; staging → approval → verified fix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System Architecture</a:t>
            </a:r>
            <a:endParaRPr lang="en-US" sz="6600" dirty="0"/>
          </a:p>
        </p:txBody>
      </p:sp>
      <p:sp>
        <p:nvSpPr>
          <p:cNvPr id="4" name="architecture-flow-card"/>
          <p:cNvSpPr/>
          <p:nvPr/>
        </p:nvSpPr>
        <p:spPr>
          <a:xfrm>
            <a:off x="1097280" y="2103120"/>
            <a:ext cx="17922240" cy="8138160"/>
          </a:xfrm>
          <a:prstGeom prst="roundRect">
            <a:avLst>
              <a:gd name="adj" fmla="val 5056"/>
            </a:avLst>
          </a:prstGeom>
          <a:solidFill>
            <a:schemeClr val="bg1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737360" y="333756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6" name="Image 0" descr="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384" y="3529584"/>
            <a:ext cx="530352" cy="5303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948940" y="354330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948940" y="35433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0" y="333756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11" name="Image 1" descr="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529584"/>
            <a:ext cx="530352" cy="5303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9476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Collector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829300" y="354330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829300" y="35433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498080" y="333756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16" name="Image 2" descr="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529584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Detector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8755380" y="354330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755380" y="35433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10424160" y="333756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21" name="Image 3" descr="git-bra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84" y="3529584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4692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Deployment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2651760" y="3794760"/>
            <a:ext cx="5029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4251960" y="3794760"/>
            <a:ext cx="3200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486400" y="3794760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155180" y="3794760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8412480" y="3794760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81260" y="3794760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10561320" y="2286000"/>
            <a:ext cx="640080" cy="64008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30" name="Image 4" descr="hist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5737" y="2420417"/>
            <a:ext cx="371246" cy="3712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2960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&amp;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History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10881360" y="29260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3" name="Text 25"/>
          <p:cNvSpPr txBox="1"/>
          <p:nvPr/>
        </p:nvSpPr>
        <p:spPr>
          <a:xfrm>
            <a:off x="1220724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11338560" y="3794760"/>
            <a:ext cx="5029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1841480" y="276606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4950440" y="276606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1841480" y="276606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12207240" y="259232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2207240" y="25923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· log clusters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14584680" y="276606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1841480" y="317754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12207240" y="300380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2207240" y="30038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· stack trace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14584680" y="317754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1841480" y="358902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6" name="Shape 38"/>
          <p:cNvSpPr/>
          <p:nvPr/>
        </p:nvSpPr>
        <p:spPr>
          <a:xfrm>
            <a:off x="12207240" y="341528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2207240" y="34152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deployments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14584680" y="358902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1841480" y="400050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12207240" y="382676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2207240" y="38267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· suspect diffs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14584680" y="400050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1841480" y="441198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12207240" y="423824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12207240" y="42382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source functions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14584680" y="441198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1841480" y="4823460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8" name="Shape 50"/>
          <p:cNvSpPr/>
          <p:nvPr/>
        </p:nvSpPr>
        <p:spPr>
          <a:xfrm>
            <a:off x="12207240" y="4649724"/>
            <a:ext cx="237744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12207240" y="46497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· past incidents</a:t>
            </a:r>
            <a:endParaRPr lang="en-US" sz="1400" dirty="0"/>
          </a:p>
        </p:txBody>
      </p:sp>
      <p:sp>
        <p:nvSpPr>
          <p:cNvPr id="60" name="Shape 52"/>
          <p:cNvSpPr/>
          <p:nvPr/>
        </p:nvSpPr>
        <p:spPr>
          <a:xfrm>
            <a:off x="14584680" y="4823460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4950440" y="3794760"/>
            <a:ext cx="16459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2" name="Shape 54"/>
          <p:cNvSpPr/>
          <p:nvPr/>
        </p:nvSpPr>
        <p:spPr>
          <a:xfrm>
            <a:off x="16642080" y="333756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63" name="Image 5" descr="bra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4104" y="3529584"/>
            <a:ext cx="530352" cy="530352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1586484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Root-Cause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65" name="Shape 56"/>
          <p:cNvSpPr/>
          <p:nvPr/>
        </p:nvSpPr>
        <p:spPr>
          <a:xfrm>
            <a:off x="16779240" y="2286000"/>
            <a:ext cx="640080" cy="64008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66" name="Image 6" descr="sparkl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3657" y="2420417"/>
            <a:ext cx="371246" cy="371246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1508760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 API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local Ollama)</a:t>
            </a:r>
            <a:endParaRPr lang="en-US" sz="1500" dirty="0"/>
          </a:p>
        </p:txBody>
      </p:sp>
      <p:sp>
        <p:nvSpPr>
          <p:cNvPr id="68" name="Shape 58"/>
          <p:cNvSpPr/>
          <p:nvPr/>
        </p:nvSpPr>
        <p:spPr>
          <a:xfrm>
            <a:off x="17099280" y="29260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9" name="Shape 59"/>
          <p:cNvSpPr/>
          <p:nvPr/>
        </p:nvSpPr>
        <p:spPr>
          <a:xfrm>
            <a:off x="17099280" y="5056632"/>
            <a:ext cx="0" cy="195681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0" name="Shape 60"/>
          <p:cNvSpPr/>
          <p:nvPr/>
        </p:nvSpPr>
        <p:spPr>
          <a:xfrm>
            <a:off x="16642080" y="708660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71" name="Image 7" descr="file-code-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34104" y="7278624"/>
            <a:ext cx="530352" cy="530352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15864840" y="8092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73" name="Shape 62"/>
          <p:cNvSpPr/>
          <p:nvPr/>
        </p:nvSpPr>
        <p:spPr>
          <a:xfrm>
            <a:off x="14516100" y="729234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14516100" y="72923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 test</a:t>
            </a:r>
            <a:endParaRPr lang="en-US" sz="1400" dirty="0"/>
          </a:p>
        </p:txBody>
      </p:sp>
      <p:sp>
        <p:nvSpPr>
          <p:cNvPr id="75" name="Shape 64"/>
          <p:cNvSpPr/>
          <p:nvPr/>
        </p:nvSpPr>
        <p:spPr>
          <a:xfrm>
            <a:off x="12801600" y="708660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76" name="Image 8" descr="flask-conica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3624" y="7278624"/>
            <a:ext cx="530352" cy="530352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12024360" y="8092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800" dirty="0"/>
          </a:p>
        </p:txBody>
      </p:sp>
      <p:sp>
        <p:nvSpPr>
          <p:cNvPr id="78" name="Shape 66"/>
          <p:cNvSpPr/>
          <p:nvPr/>
        </p:nvSpPr>
        <p:spPr>
          <a:xfrm>
            <a:off x="10767060" y="7223760"/>
            <a:ext cx="13258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10767060" y="7223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80" name="Shape 68"/>
          <p:cNvSpPr/>
          <p:nvPr/>
        </p:nvSpPr>
        <p:spPr>
          <a:xfrm>
            <a:off x="9144000" y="708660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pic>
        <p:nvPicPr>
          <p:cNvPr id="81" name="Image 9" descr="user-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6024" y="7278624"/>
            <a:ext cx="530352" cy="530352"/>
          </a:xfrm>
          <a:prstGeom prst="rect">
            <a:avLst/>
          </a:prstGeom>
        </p:spPr>
      </p:pic>
      <p:sp>
        <p:nvSpPr>
          <p:cNvPr id="82" name="Text 69"/>
          <p:cNvSpPr txBox="1"/>
          <p:nvPr/>
        </p:nvSpPr>
        <p:spPr>
          <a:xfrm>
            <a:off x="8366760" y="8092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800" dirty="0"/>
          </a:p>
        </p:txBody>
      </p:sp>
      <p:sp>
        <p:nvSpPr>
          <p:cNvPr id="83" name="Shape 70"/>
          <p:cNvSpPr/>
          <p:nvPr/>
        </p:nvSpPr>
        <p:spPr>
          <a:xfrm>
            <a:off x="7109460" y="729234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4" name="Text 71"/>
          <p:cNvSpPr txBox="1"/>
          <p:nvPr/>
        </p:nvSpPr>
        <p:spPr>
          <a:xfrm>
            <a:off x="7109460" y="72923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SHA</a:t>
            </a:r>
            <a:endParaRPr lang="en-US" sz="1400" dirty="0"/>
          </a:p>
        </p:txBody>
      </p:sp>
      <p:sp>
        <p:nvSpPr>
          <p:cNvPr id="85" name="Shape 72"/>
          <p:cNvSpPr/>
          <p:nvPr/>
        </p:nvSpPr>
        <p:spPr>
          <a:xfrm>
            <a:off x="5486400" y="7086600"/>
            <a:ext cx="914400" cy="91440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86" name="Image 10" descr="rocke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8424" y="7278624"/>
            <a:ext cx="530352" cy="530352"/>
          </a:xfrm>
          <a:prstGeom prst="rect">
            <a:avLst/>
          </a:prstGeom>
        </p:spPr>
      </p:pic>
      <p:sp>
        <p:nvSpPr>
          <p:cNvPr id="87" name="Text 73"/>
          <p:cNvSpPr txBox="1"/>
          <p:nvPr/>
        </p:nvSpPr>
        <p:spPr>
          <a:xfrm>
            <a:off x="4709160" y="8092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800" dirty="0"/>
          </a:p>
        </p:txBody>
      </p:sp>
      <p:sp>
        <p:nvSpPr>
          <p:cNvPr id="88" name="Shape 74"/>
          <p:cNvSpPr/>
          <p:nvPr/>
        </p:nvSpPr>
        <p:spPr>
          <a:xfrm flipH="1">
            <a:off x="15846552" y="7543800"/>
            <a:ext cx="79552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9" name="Shape 75"/>
          <p:cNvSpPr/>
          <p:nvPr/>
        </p:nvSpPr>
        <p:spPr>
          <a:xfrm flipH="1">
            <a:off x="13716000" y="7543800"/>
            <a:ext cx="79552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0" name="Shape 76"/>
          <p:cNvSpPr/>
          <p:nvPr/>
        </p:nvSpPr>
        <p:spPr>
          <a:xfrm flipH="1">
            <a:off x="12097512" y="7543800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1" name="Shape 77"/>
          <p:cNvSpPr/>
          <p:nvPr/>
        </p:nvSpPr>
        <p:spPr>
          <a:xfrm flipH="1">
            <a:off x="10058400" y="7543800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2" name="Shape 78"/>
          <p:cNvSpPr/>
          <p:nvPr/>
        </p:nvSpPr>
        <p:spPr>
          <a:xfrm flipH="1">
            <a:off x="8439912" y="7543800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3" name="Shape 79"/>
          <p:cNvSpPr/>
          <p:nvPr/>
        </p:nvSpPr>
        <p:spPr>
          <a:xfrm flipH="1">
            <a:off x="6400800" y="7543800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4" name="Shape 80"/>
          <p:cNvSpPr/>
          <p:nvPr/>
        </p:nvSpPr>
        <p:spPr>
          <a:xfrm>
            <a:off x="12938760" y="9144000"/>
            <a:ext cx="640080" cy="64008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95" name="Image 11" descr="serv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73177" y="9278417"/>
            <a:ext cx="371246" cy="371246"/>
          </a:xfrm>
          <a:prstGeom prst="rect">
            <a:avLst/>
          </a:prstGeom>
        </p:spPr>
      </p:pic>
      <p:sp>
        <p:nvSpPr>
          <p:cNvPr id="96" name="Text 81"/>
          <p:cNvSpPr txBox="1"/>
          <p:nvPr/>
        </p:nvSpPr>
        <p:spPr>
          <a:xfrm>
            <a:off x="13716000" y="9144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service</a:t>
            </a:r>
            <a:endParaRPr lang="en-US" sz="1500" dirty="0"/>
          </a:p>
        </p:txBody>
      </p:sp>
      <p:sp>
        <p:nvSpPr>
          <p:cNvPr id="97" name="Shape 82"/>
          <p:cNvSpPr/>
          <p:nvPr/>
        </p:nvSpPr>
        <p:spPr>
          <a:xfrm flipV="1">
            <a:off x="13258800" y="877824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98" name="Shape 83"/>
          <p:cNvSpPr/>
          <p:nvPr/>
        </p:nvSpPr>
        <p:spPr>
          <a:xfrm>
            <a:off x="9281160" y="9144000"/>
            <a:ext cx="640080" cy="64008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pic>
        <p:nvPicPr>
          <p:cNvPr id="99" name="Image 12" descr="user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5577" y="9278417"/>
            <a:ext cx="371246" cy="371246"/>
          </a:xfrm>
          <a:prstGeom prst="rect">
            <a:avLst/>
          </a:prstGeom>
        </p:spPr>
      </p:pic>
      <p:sp>
        <p:nvSpPr>
          <p:cNvPr id="100" name="Text 84"/>
          <p:cNvSpPr txBox="1"/>
          <p:nvPr/>
        </p:nvSpPr>
        <p:spPr>
          <a:xfrm>
            <a:off x="10058400" y="9144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diff &amp; tests</a:t>
            </a:r>
            <a:endParaRPr lang="en-US" sz="1500" dirty="0"/>
          </a:p>
        </p:txBody>
      </p:sp>
      <p:sp>
        <p:nvSpPr>
          <p:cNvPr id="101" name="Shape 85"/>
          <p:cNvSpPr/>
          <p:nvPr/>
        </p:nvSpPr>
        <p:spPr>
          <a:xfrm flipV="1">
            <a:off x="9601200" y="877824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2" name="Shape 86"/>
          <p:cNvSpPr/>
          <p:nvPr/>
        </p:nvSpPr>
        <p:spPr>
          <a:xfrm flipH="1">
            <a:off x="2194560" y="7543800"/>
            <a:ext cx="32918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03" name="Shape 87"/>
          <p:cNvSpPr/>
          <p:nvPr/>
        </p:nvSpPr>
        <p:spPr>
          <a:xfrm flipV="1">
            <a:off x="2194560" y="5056632"/>
            <a:ext cx="0" cy="248716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" name="Text 88"/>
          <p:cNvSpPr txBox="1"/>
          <p:nvPr/>
        </p:nvSpPr>
        <p:spPr>
          <a:xfrm>
            <a:off x="2331720" y="5577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fix</a:t>
            </a:r>
            <a:endParaRPr lang="en-US" sz="1500" dirty="0"/>
          </a:p>
        </p:txBody>
      </p:sp>
      <p:sp>
        <p:nvSpPr>
          <p:cNvPr id="105" name="Shape 89"/>
          <p:cNvSpPr/>
          <p:nvPr/>
        </p:nvSpPr>
        <p:spPr>
          <a:xfrm>
            <a:off x="1874520" y="9144000"/>
            <a:ext cx="640080" cy="640080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/>
        </p:spPr>
      </p:sp>
      <p:pic>
        <p:nvPicPr>
          <p:cNvPr id="106" name="Image 13" descr="scroll-tex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08937" y="9278417"/>
            <a:ext cx="371246" cy="371246"/>
          </a:xfrm>
          <a:prstGeom prst="rect">
            <a:avLst/>
          </a:prstGeom>
        </p:spPr>
      </p:pic>
      <p:sp>
        <p:nvSpPr>
          <p:cNvPr id="107" name="Text 90"/>
          <p:cNvSpPr txBox="1"/>
          <p:nvPr/>
        </p:nvSpPr>
        <p:spPr>
          <a:xfrm>
            <a:off x="2651760" y="9144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of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Proposed System Architecture</a:t>
            </a:r>
            <a:endParaRPr lang="en-US" sz="6600" dirty="0"/>
          </a:p>
        </p:txBody>
      </p:sp>
      <p:sp>
        <p:nvSpPr>
          <p:cNvPr id="4" name="layered-architecture-card"/>
          <p:cNvSpPr/>
          <p:nvPr/>
        </p:nvSpPr>
        <p:spPr>
          <a:xfrm>
            <a:off x="1097280" y="2103120"/>
            <a:ext cx="17922240" cy="8138160"/>
          </a:xfrm>
          <a:prstGeom prst="roundRect">
            <a:avLst>
              <a:gd name="adj" fmla="val 5056"/>
            </a:avLst>
          </a:prstGeom>
          <a:solidFill>
            <a:schemeClr val="bg1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25880" y="2286000"/>
            <a:ext cx="17465040" cy="1426464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1554480" y="2286000"/>
            <a:ext cx="2377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25880" y="3858768"/>
            <a:ext cx="17465040" cy="1426464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1554480" y="3858768"/>
            <a:ext cx="2377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25880" y="5431536"/>
            <a:ext cx="17465040" cy="1426464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1554480" y="5431536"/>
            <a:ext cx="2377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25880" y="7004304"/>
            <a:ext cx="17465040" cy="1426464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1554480" y="7004304"/>
            <a:ext cx="2377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25880" y="8577072"/>
            <a:ext cx="17465040" cy="1426464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1554480" y="8577072"/>
            <a:ext cx="2377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EXTERNAL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06240" y="2564892"/>
            <a:ext cx="2651760" cy="86868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79392" y="2564892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/ SRE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589520" y="2564892"/>
            <a:ext cx="5669280" cy="8686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2564892"/>
            <a:ext cx="5522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React.js + Vite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14081760" y="2564892"/>
            <a:ext cx="4434840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14154912" y="2564892"/>
            <a:ext cx="4288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Service · JSON logs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858000" y="2999232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120640" y="4137660"/>
            <a:ext cx="12801600" cy="86868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3792" y="4137660"/>
            <a:ext cx="1265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FastAPI + Uvicorn  (Log ingest · Incidents · Approve / Reject · Deploy · System)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10424160" y="3433572"/>
            <a:ext cx="0" cy="67665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6299180" y="3433572"/>
            <a:ext cx="0" cy="67665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1521440" y="5006340"/>
            <a:ext cx="0" cy="534924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2916" y="5541264"/>
            <a:ext cx="124815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5733288"/>
            <a:ext cx="1673352" cy="8229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7939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04291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989320" y="5733288"/>
            <a:ext cx="1673352" cy="8229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6247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682599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772400" y="5733288"/>
            <a:ext cx="1673352" cy="8229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4555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60907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555480" y="5733288"/>
            <a:ext cx="1673352" cy="8229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2863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1039215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11338560" y="5733288"/>
            <a:ext cx="1673352" cy="8229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41171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1217523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13121640" y="5733288"/>
            <a:ext cx="1673352" cy="8229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319479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1395831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4904720" y="5733288"/>
            <a:ext cx="1673352" cy="8229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497787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1574139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16687800" y="5733288"/>
            <a:ext cx="1673352" cy="8229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6760952" y="573328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17524476" y="5541264"/>
            <a:ext cx="0" cy="17373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4206240" y="7191756"/>
            <a:ext cx="6675120" cy="10515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279392" y="7191756"/>
            <a:ext cx="6528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Root-Cause Analysis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(Evidence pack · LLM diagnosis · Grounding checks)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1612880" y="7191756"/>
            <a:ext cx="6766560" cy="10515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1686032" y="7191756"/>
            <a:ext cx="6620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Patch Generation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 edits · Regression test · Patch policy)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0881360" y="7717536"/>
            <a:ext cx="7040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10392156" y="6556248"/>
            <a:ext cx="0" cy="60807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12175236" y="6556248"/>
            <a:ext cx="0" cy="60807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4206240" y="8764524"/>
            <a:ext cx="6675120" cy="105156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279392" y="8764524"/>
            <a:ext cx="6528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SQLite + SQLAlchemy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Incidents · RCA reports · Patches · Approvals · Audit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1612880" y="8764524"/>
            <a:ext cx="6766560" cy="10515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1686032" y="8764524"/>
            <a:ext cx="6620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· Staging &amp; production · Claude API / Ollama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7543800" y="8243316"/>
            <a:ext cx="0" cy="49377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14996160" y="8243316"/>
            <a:ext cx="0" cy="49377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System Modules</a:t>
            </a:r>
            <a:endParaRPr lang="en-US" sz="6600" dirty="0"/>
          </a:p>
        </p:txBody>
      </p:sp>
      <p:sp>
        <p:nvSpPr>
          <p:cNvPr id="4" name="modules-card-1"/>
          <p:cNvSpPr/>
          <p:nvPr/>
        </p:nvSpPr>
        <p:spPr>
          <a:xfrm>
            <a:off x="1097280" y="2148840"/>
            <a:ext cx="8732520" cy="8046720"/>
          </a:xfrm>
          <a:prstGeom prst="roundRect">
            <a:avLst>
              <a:gd name="adj" fmla="val 3409"/>
            </a:avLst>
          </a:prstGeom>
          <a:solidFill>
            <a:schemeClr val="bg1"/>
          </a:solidFill>
          <a:ln/>
        </p:spPr>
      </p:sp>
      <p:sp>
        <p:nvSpPr>
          <p:cNvPr id="5" name="Shape 2"/>
          <p:cNvSpPr/>
          <p:nvPr/>
        </p:nvSpPr>
        <p:spPr>
          <a:xfrm>
            <a:off x="1554480" y="2514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590" y="270571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26700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Analysis Modules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703320"/>
            <a:ext cx="781812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M1 Log Collection &amp; Normalization: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file tail, HTTP ingest, stack-frame parsing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M2 Deduplication &amp; Incident Detection: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signatures, spike vs. baseline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M3 Git &amp; Deployment Correlation: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git blame, deployment window, suspect ranking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M4 AI Root-Cause Analysis: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evidence pack, LLM diagnosis, grounding checks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M5 Incident Report &amp; Ticket: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RCA document, cited evidence, issue ticket</a:t>
            </a:r>
            <a:endParaRPr lang="en-US" sz="2600" dirty="0"/>
          </a:p>
        </p:txBody>
      </p:sp>
      <p:sp>
        <p:nvSpPr>
          <p:cNvPr id="9" name="modules-card-2"/>
          <p:cNvSpPr/>
          <p:nvPr/>
        </p:nvSpPr>
        <p:spPr>
          <a:xfrm>
            <a:off x="10287000" y="2148840"/>
            <a:ext cx="8732520" cy="8046720"/>
          </a:xfrm>
          <a:prstGeom prst="roundRect">
            <a:avLst>
              <a:gd name="adj" fmla="val 3409"/>
            </a:avLst>
          </a:prstGeom>
          <a:solidFill>
            <a:schemeClr val="bg1"/>
          </a:solidFill>
          <a:ln/>
        </p:spPr>
      </p:sp>
      <p:sp>
        <p:nvSpPr>
          <p:cNvPr id="10" name="Shape 6"/>
          <p:cNvSpPr/>
          <p:nvPr/>
        </p:nvSpPr>
        <p:spPr>
          <a:xfrm>
            <a:off x="10744200" y="2514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shield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10" y="2705710"/>
            <a:ext cx="486461" cy="4864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41480" y="26700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&amp; Control Modules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10744200" y="3703320"/>
            <a:ext cx="781812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M6 Candidate Patch Generation: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isolated branch, code edits + regression test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M7 Automated Validation: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unit tests, fail-to-pass check, staging, replay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M8 Human Approval Gate: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approval bound to the validated commit SHA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M9 Deployment &amp; Verification: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fast-forward merge, recovery check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M10 Dashboard &amp; Audit Trail: </a:t>
            </a:r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pipeline view, diff viewer, audit log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Mathematical Model</a:t>
            </a:r>
            <a:endParaRPr lang="en-US" sz="6600" dirty="0"/>
          </a:p>
        </p:txBody>
      </p:sp>
      <p:sp>
        <p:nvSpPr>
          <p:cNvPr id="4" name="notation-card"/>
          <p:cNvSpPr/>
          <p:nvPr/>
        </p:nvSpPr>
        <p:spPr>
          <a:xfrm>
            <a:off x="1097280" y="2148840"/>
            <a:ext cx="7040880" cy="804672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554480" y="24688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3246120"/>
            <a:ext cx="6309360" cy="676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L = stream of application log events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 = error signature (masked template + stack)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c</a:t>
            </a:r>
            <a:pPr indent="0" marL="0">
              <a:spcAft>
                <a:spcPts val="18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(s) = occurrences of s in current window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b(s) = average occurrences per baseline window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C = recent commits,  D = deployments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S(c) = suspicion score of commit c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E = evidence pack,  R = root-cause report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P = candidate patch,  A = human approval</a:t>
            </a:r>
            <a:endParaRPr lang="en-US" sz="2400" dirty="0"/>
          </a:p>
        </p:txBody>
      </p:sp>
      <p:sp>
        <p:nvSpPr>
          <p:cNvPr id="7" name="formulation-card"/>
          <p:cNvSpPr/>
          <p:nvPr/>
        </p:nvSpPr>
        <p:spPr>
          <a:xfrm>
            <a:off x="8503920" y="2148840"/>
            <a:ext cx="10515600" cy="8046720"/>
          </a:xfrm>
          <a:prstGeom prst="roundRect">
            <a:avLst>
              <a:gd name="adj" fmla="val 3409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0" y="2468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3246120"/>
            <a:ext cx="969264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Signature: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= h(type, frames, mask(message))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Incident: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indent="0" marL="0">
              <a:spcAft>
                <a:spcPts val="22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(s) ≥ m  and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indent="0" marL="0">
              <a:spcAft>
                <a:spcPts val="22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(s) ≥ ρ · b(s)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Suspect score: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S(c) = min(1, Σ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indent="0" marL="0">
              <a:spcAft>
                <a:spcPts val="22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indent="0" marL="0">
              <a:spcAft>
                <a:spcPts val="22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(c)) · λ(c)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Probable cause: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c* = arg max S(c)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Validation: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V(P) = syntax ∧ fail-to-pass ∧ tests ∧ staging ∧ replay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Deploy rule: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deploy(P) ⇔ V(P) = 1 ∧ A = approve ∧ sha(A) = sha(P)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System output:   </a:t>
            </a:r>
            <a:pPr indent="0" marL="0">
              <a:spcAft>
                <a:spcPts val="22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AION(L, C, D) → { I, c*, R, P, V, A }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868680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Defaults: m = 5 errors, ρ = 3, window 60 s, baseline 30 min. Weights w: blame line 0.40, blame function 0.20, deployment 0.20, file 0.15, dependency 0.15, keyword 0.05; λ = 0.5 for code already stable before the incident. S(c) ranks suspects; it is not a probability.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Conclusion</a:t>
            </a:r>
            <a:endParaRPr lang="en-US" sz="6600" dirty="0"/>
          </a:p>
        </p:txBody>
      </p:sp>
      <p:sp>
        <p:nvSpPr>
          <p:cNvPr id="4" name="conclusion-card"/>
          <p:cNvSpPr/>
          <p:nvPr/>
        </p:nvSpPr>
        <p:spPr>
          <a:xfrm>
            <a:off x="1097280" y="2148840"/>
            <a:ext cx="17922240" cy="41148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600200" y="2560320"/>
            <a:ext cx="1691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0000"/>
              </a:lnSpc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AION combines log analysis, Git correlation and LLM-based root-cause analysis in one incident workflow.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It turns an error spike into an evidence-cited diagnosis with a ranked list of suspect commits.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It generates candidate fixes with regression tests and validates them through tests, staging and request replay.</a:t>
            </a:r>
            <a:endParaRPr lang="en-US" sz="2600" dirty="0"/>
          </a:p>
          <a:p>
            <a:pPr marL="381000" indent="-381000">
              <a:lnSpc>
                <a:spcPct val="100000"/>
              </a:lnSpc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Only a human can approve production deployment, and every step is recorded in an audit trail, reducing resolution time without unsafe automation.</a:t>
            </a:r>
            <a:endParaRPr lang="en-US" sz="2600" dirty="0"/>
          </a:p>
        </p:txBody>
      </p:sp>
      <p:sp>
        <p:nvSpPr>
          <p:cNvPr id="6" name="conclusion-flow-card"/>
          <p:cNvSpPr/>
          <p:nvPr/>
        </p:nvSpPr>
        <p:spPr>
          <a:xfrm>
            <a:off x="1097280" y="6583680"/>
            <a:ext cx="17922240" cy="3611880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</p:spPr>
      </p:sp>
      <p:sp>
        <p:nvSpPr>
          <p:cNvPr id="7" name="Shape 4"/>
          <p:cNvSpPr/>
          <p:nvPr/>
        </p:nvSpPr>
        <p:spPr>
          <a:xfrm>
            <a:off x="1691640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83080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886200" y="8389620"/>
            <a:ext cx="6949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99432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90872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793992" y="8389620"/>
            <a:ext cx="6949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507224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98664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701784" y="8389620"/>
            <a:ext cx="6949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415016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06456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2609576" y="8389620"/>
            <a:ext cx="6949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3322808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414248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5517368" y="8389620"/>
            <a:ext cx="6949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6230600" y="7498080"/>
            <a:ext cx="2194560" cy="1783080"/>
          </a:xfrm>
          <a:prstGeom prst="rect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322040" y="749808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References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2240280"/>
            <a:ext cx="16642080" cy="804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P. Notaro, J. Cardoso, and M. Gerndt,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“A Survey of AIOps Methods for Failure Management,”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ACM Transactions on Intelligent Systems and Technology, vol. 12, no. 6, 2021.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[2]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P. He, J. Zhu, Z. Zheng, and M. R. Lyu,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“Drain: An Online Log Parsing Approach with Fixed Depth Tree,”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IEEE ICWS, 2017, pp. 33–40.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[3]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M. Du, F. Li, G. Zheng, and V. Srikumar,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“DeepLog: Anomaly Detection and Diagnosis from System Logs through Deep Learning,”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ACM CCS, 2017, pp. 1285–1298.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[4]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W. Meng et al.,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“LogAnomaly: Unsupervised Detection of Sequential and Quantitative Anomalies in Unstructured Logs,”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IJCAI, 2019, pp. 4739–4745.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[5]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L. Wu, J. Tordsson, E. Elmroth, and O. Kao,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“MicroRCA: Root Cause Localization of Performance Issues in Microservices,”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IEEE/IFIP NOMS, 2020.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[6]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T. Wittkopp, A. Acker, and O. Kao,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“Progressing from Anomaly Detection to Automated Log Labeling and Pioneering Root Cause Analysis,”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AIOps Workshop, IEEE ICDM, 2023.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[7]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Y. Chen et al.,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“Automatic Root Cause Analysis via Large Language Models for Cloud Incidents,”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EuroSys, 2024.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[8]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I. Bouzenia, P. Devanbu, and M. Pradel,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“RepairAgent: An Autonomous, LLM-Based Agent for Program Repair,”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IEEE/ACM ICSE, 2025.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1371600" y="658368"/>
            <a:ext cx="1737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tx2"/>
                </a:solidFill>
              </a:rPr>
              <a:t>References (contd.)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2240280"/>
            <a:ext cx="16642080" cy="804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[9]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Q. Zhang et al.,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“A Systematic Literature Review on Large Language Models for Automated Program Repair,”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arXiv:2405.01466, 2024.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[10]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D. Roy et al.,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“Exploring LLM-based Agents for Root Cause Analysis,”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ACM FSE, 2024.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[11]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U. Kulsum, H. Zhu, B. Xu, and M. d’Amorim,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“A Case Study of LLM for Automated Vulnerability Repair: Assessing Impact of Reasoning and Patch Validation Feedback,”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Proc. ACM AIware, 2024.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[12]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L. Zhang, T. Jia, M. Jia, et al.,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“A Survey of AIOps in the Era of Large Language Models,”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ACM Computing Surveys, 2026.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[13]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Z. Ma, J. Yang, and T.-H. Chen,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“LLM4Log: A Systematic Review of Large Language Model-based Log Analysis,”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arXiv:2604.16359, 2026.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[14] 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M. De la Cruz Cabello, T. P. Sales, and M. R. Machado,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“Log Anomaly Detection in AIOps: A Real-World Implementation Using Large Language Models,”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Systems and Soft Computing, vol. 8, 2026.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[15] 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“Integrating Large Language Models with Cloud-Native Observability for Automated Root Cause Analysis and Remediation,”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Intl. Conf. on AI, Systems and Network Security, 2025.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N College">
  <a:themeElements>
    <a:clrScheme name="AION College">
      <a:dk1>
        <a:srgbClr val="2B2B2B"/>
      </a:dk1>
      <a:lt1>
        <a:srgbClr val="FFFFFF"/>
      </a:lt1>
      <a:dk2>
        <a:srgbClr val="151F49"/>
      </a:dk2>
      <a:lt2>
        <a:srgbClr val="F5F0E5"/>
      </a:lt2>
      <a:accent1>
        <a:srgbClr val="3A5A8C"/>
      </a:accent1>
      <a:accent2>
        <a:srgbClr val="B8862F"/>
      </a:accent2>
      <a:accent3>
        <a:srgbClr val="5C5A55"/>
      </a:accent3>
      <a:accent4>
        <a:srgbClr val="D6CCB6"/>
      </a:accent4>
      <a:accent5>
        <a:srgbClr val="E4E7F2"/>
      </a:accent5>
      <a:accent6>
        <a:srgbClr val="F3EAD7"/>
      </a:accent6>
      <a:hlink>
        <a:srgbClr val="1F4E9A"/>
      </a:hlink>
      <a:folHlink>
        <a:srgbClr val="6B4E9A"/>
      </a:folHlink>
    </a:clrScheme>
    <a:fontScheme name="AION Colle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 – Project Review 2</dc:title>
  <dc:subject>AION: Autonomous Incident Observation &amp; Navigation</dc:subject>
  <dc:creator>Aditya Bheke, Harshal Bhogawade, Malhar Bhoi</dc:creator>
  <cp:lastModifiedBy>Aditya Bheke, Harshal Bhogawade, Malhar Bhoi</cp:lastModifiedBy>
  <cp:revision>1</cp:revision>
  <dcterms:created xsi:type="dcterms:W3CDTF">2026-10-04T18:21:26Z</dcterms:created>
  <dcterms:modified xsi:type="dcterms:W3CDTF">2026-10-04T18:21:26Z</dcterms:modified>
</cp:coreProperties>
</file>